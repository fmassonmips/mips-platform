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edc8450b-bfb9-f322-92df-a45a55511e19}">
          <p14:sldIdLst>
            <p14:sldId id="256"/>
            <p14:sldId id="257"/>
          </p14:sldIdLst>
        </p14:section>
        <p14:section name="Platform" id="{c4404682-e9f3-6a92-8923-98332d470c60}">
          <p14:sldIdLst>
            <p14:sldId id="258"/>
            <p14:sldId id="259"/>
            <p14:sldId id="260"/>
            <p14:sldId id="261"/>
          </p14:sldIdLst>
        </p14:section>
        <p14:section name="Funds and evidence" id="{7b7be38a-2764-7d51-774d-c05d294179e9}">
          <p14:sldIdLst>
            <p14:sldId id="262"/>
            <p14:sldId id="263"/>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Internal draft. Before submission: confirm the entity names (SPIN DIGITAL / MIPS / MIPS INTERNATIONAL) against B01 and G01, and settle the fund-flow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screenshot carries a red DEMONSTRATION ENVIRONMENT banner with the build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Approval requires: every required document accepted, at least one director and one beneficial owner, shareholders above the threshold recorded as beneficial owners, every person screened clear, a risk rating (high if a PEP is involved), legal name and BRN. The decision is taken by an approver who never handled the case: not its creator, analyst or anyone who reassigned it. Thresholds are default values pending compliance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INTERNAL — do not present as is. Model A matches current evidence (no intermediate account, fees invoiced, per-merchant acquirer agreements) but must be confirmed by Finance. Model B is not built. Keep one model on this slide, and check it against the safeguarding requirements of the Bank of Mauritius before submission.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INTERNAL. The tests led to three fixes in the prototype: sign-in lockout per account instead of per IP; password-change time stored to the microsecond; four-eyes on case decisions extended to everyone who handled the case (an analyst with approver rights could reassign a case and decide it). They are deliberately not described here: development history, not a control. Mention them only if asked how the tests were used. Thirteen deliberate faults introduced in the code were all detected. The mandatory staff 2FA is tested with the rule switched on, as in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Commit to dates only once the fund-flow model and the resources are decided.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1371600"/>
          </a:xfrm>
          <a:prstGeom prst="rect">
            <a:avLst/>
          </a:prstGeom>
          <a:noFill/>
          <a:ln/>
        </p:spPr>
        <p:txBody>
          <a:bodyPr wrap="square" rtlCol="0"/>
          <a:lstStyle>
            <a:lvl1pPr indent="0" marL="0">
              <a:buNone/>
              <a:defRPr lang="en-US" sz="4200" b="1" dirty="0">
                <a:solidFill>
                  <a:schemeClr val="bg1"/>
                </a:solidFill>
              </a:defRPr>
            </a:lvl1pPr>
          </a:lstStyle>
          <a:p>
            <a:pPr indent="0" marL="0">
              <a:buNone/>
            </a:pPr>
            <a:endParaRPr lang="en-US" sz="4200" dirty="0"/>
          </a:p>
        </p:txBody>
      </p:sp>
      <p:sp>
        <p:nvSpPr>
          <p:cNvPr id="3" name="Text 0"/>
          <p:cNvSpPr/>
          <p:nvPr>
            <p:ph idx="101" type="body" hasCustomPrompt="1"/>
          </p:nvPr>
        </p:nvSpPr>
        <p:spPr>
          <a:xfrm>
            <a:off x="731520" y="3337560"/>
            <a:ext cx="10698480" cy="109728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47120" cy="731520"/>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endParaRPr lang="en-US" sz="3000" dirty="0"/>
          </a:p>
        </p:txBody>
      </p:sp>
      <p:sp>
        <p:nvSpPr>
          <p:cNvPr id="3" name="Text 0"/>
          <p:cNvSpPr/>
          <p:nvPr/>
        </p:nvSpPr>
        <p:spPr>
          <a:xfrm>
            <a:off x="457200" y="6400800"/>
            <a:ext cx="9144000" cy="274320"/>
          </a:xfrm>
          <a:prstGeom prst="rect">
            <a:avLst/>
          </a:prstGeom>
          <a:noFill/>
          <a:ln/>
        </p:spPr>
        <p:txBody>
          <a:bodyPr wrap="square" lIns="0" tIns="0" rIns="0" bIns="0" rtlCol="0" anchor="ctr"/>
          <a:lstStyle/>
          <a:p>
            <a:pPr indent="0" marL="0">
              <a:buNone/>
            </a:pPr>
            <a:r>
              <a:rPr lang="en-US" sz="1000" dirty="0">
                <a:solidFill>
                  <a:schemeClr val="tx2"/>
                </a:solidFill>
              </a:rPr>
              <a:t>Development prototype · demonstration data only · DRAFT for internal review before submission</a:t>
            </a:r>
            <a:endParaRPr lang="en-US" sz="10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1371600"/>
          </a:xfrm>
          <a:prstGeom prst="rect">
            <a:avLst/>
          </a:prstGeom>
          <a:noFill/>
          <a:ln/>
        </p:spPr>
        <p:txBody>
          <a:bodyPr wrap="square" rtlCol="0" anchor="b"/>
          <a:lstStyle/>
          <a:p>
            <a:pPr indent="0" marL="0">
              <a:buNone/>
            </a:pPr>
            <a:r>
              <a:rPr lang="en-US" sz="4200" b="1" dirty="0">
                <a:solidFill>
                  <a:schemeClr val="bg1"/>
                </a:solidFill>
              </a:rPr>
              <a:t>Merchant onboarding and back-office platform</a:t>
            </a:r>
            <a:endParaRPr lang="en-US" sz="4200" dirty="0"/>
          </a:p>
        </p:txBody>
      </p:sp>
      <p:sp>
        <p:nvSpPr>
          <p:cNvPr id="3" name="Text 0"/>
          <p:cNvSpPr/>
          <p:nvPr>
            <p:ph idx="101" type="body" hasCustomPrompt="1"/>
          </p:nvPr>
        </p:nvSpPr>
        <p:spPr>
          <a:xfrm>
            <a:off x="731520" y="3337560"/>
            <a:ext cx="10698480" cy="1097280"/>
          </a:xfrm>
          <a:prstGeom prst="rect">
            <a:avLst/>
          </a:prstGeom>
          <a:noFill/>
          <a:ln/>
        </p:spPr>
        <p:txBody>
          <a:bodyPr wrap="square" rtlCol="0" anchor="t"/>
          <a:lstStyle/>
          <a:p>
            <a:pPr indent="0" marL="0">
              <a:buNone/>
            </a:pPr>
            <a:r>
              <a:rPr lang="en-US" sz="2000" dirty="0">
                <a:solidFill>
                  <a:schemeClr val="bg2"/>
                </a:solidFill>
              </a:rPr>
              <a:t>Development prototype — supporting material for the SPIN DIGITAL application</a:t>
            </a:r>
            <a:endParaRPr lang="en-US" sz="2000" dirty="0"/>
          </a:p>
        </p:txBody>
      </p:sp>
      <p:sp>
        <p:nvSpPr>
          <p:cNvPr id="4" name="Text 2"/>
          <p:cNvSpPr txBox="1"/>
          <p:nvPr/>
        </p:nvSpPr>
        <p:spPr>
          <a:xfrm>
            <a:off x="731520" y="5760720"/>
            <a:ext cx="10698480" cy="365760"/>
          </a:xfrm>
          <a:prstGeom prst="rect">
            <a:avLst/>
          </a:prstGeom>
          <a:noFill/>
          <a:ln/>
        </p:spPr>
        <p:txBody>
          <a:bodyPr wrap="square" lIns="1016" tIns="1016" rIns="1016" bIns="1016" rtlCol="0" anchor="t"/>
          <a:lstStyle/>
          <a:p>
            <a:pPr algn="l" indent="0" marL="0">
              <a:buNone/>
            </a:pPr>
            <a:r>
              <a:rPr lang="en-US" sz="1400" dirty="0">
                <a:solidFill>
                  <a:schemeClr val="accent1"/>
                </a:solidFill>
              </a:rPr>
              <a:t>DRAFT for internal review · October 2026 · not deployed · demonstration data only</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47120" cy="731520"/>
          </a:xfrm>
          <a:prstGeom prst="rect">
            <a:avLst/>
          </a:prstGeom>
          <a:noFill/>
          <a:ln/>
        </p:spPr>
        <p:txBody>
          <a:bodyPr wrap="square" lIns="0" tIns="0" rIns="0" bIns="0" rtlCol="0" anchor="ctr"/>
          <a:lstStyle/>
          <a:p>
            <a:pPr algn="l" indent="0" marL="0">
              <a:buNone/>
            </a:pPr>
            <a:r>
              <a:rPr lang="en-US" sz="3000" b="1" dirty="0">
                <a:solidFill>
                  <a:schemeClr val="tx1"/>
                </a:solidFill>
              </a:rPr>
              <a:t>What this material shows, and what it does not</a:t>
            </a:r>
            <a:endParaRPr lang="en-US" sz="3000" dirty="0"/>
          </a:p>
        </p:txBody>
      </p:sp>
      <p:sp>
        <p:nvSpPr>
          <p:cNvPr id="3" name="stat-0"/>
          <p:cNvSpPr/>
          <p:nvPr/>
        </p:nvSpPr>
        <p:spPr>
          <a:xfrm>
            <a:off x="457200" y="1325880"/>
            <a:ext cx="2606040" cy="1463040"/>
          </a:xfrm>
          <a:prstGeom prst="roundRect">
            <a:avLst>
              <a:gd name="adj" fmla="val 5000"/>
            </a:avLst>
          </a:prstGeom>
          <a:solidFill>
            <a:schemeClr val="bg2"/>
          </a:solidFill>
          <a:ln w="9525">
            <a:solidFill>
              <a:schemeClr val="bg2"/>
            </a:solidFill>
            <a:prstDash val="solid"/>
          </a:ln>
        </p:spPr>
      </p:sp>
      <p:sp>
        <p:nvSpPr>
          <p:cNvPr id="4" name="Text 2"/>
          <p:cNvSpPr txBox="1"/>
          <p:nvPr/>
        </p:nvSpPr>
        <p:spPr>
          <a:xfrm>
            <a:off x="640080" y="1371600"/>
            <a:ext cx="2286000" cy="822960"/>
          </a:xfrm>
          <a:prstGeom prst="rect">
            <a:avLst/>
          </a:prstGeom>
          <a:noFill/>
          <a:ln/>
        </p:spPr>
        <p:txBody>
          <a:bodyPr wrap="square" lIns="1016" tIns="1016" rIns="1016" bIns="1016" rtlCol="0" anchor="t"/>
          <a:lstStyle/>
          <a:p>
            <a:pPr algn="l" indent="0" marL="0">
              <a:buNone/>
            </a:pPr>
            <a:r>
              <a:rPr lang="en-US" sz="5000" b="1" dirty="0">
                <a:solidFill>
                  <a:schemeClr val="accent1"/>
                </a:solidFill>
                <a:latin typeface="Cambria" pitchFamily="34" charset="0"/>
                <a:ea typeface="Cambria" pitchFamily="34" charset="-122"/>
                <a:cs typeface="Cambria" pitchFamily="34" charset="-120"/>
              </a:rPr>
              <a:t>9</a:t>
            </a:r>
            <a:endParaRPr lang="en-US" sz="5000" dirty="0"/>
          </a:p>
        </p:txBody>
      </p:sp>
      <p:sp>
        <p:nvSpPr>
          <p:cNvPr id="5" name="Text 3"/>
          <p:cNvSpPr txBox="1"/>
          <p:nvPr/>
        </p:nvSpPr>
        <p:spPr>
          <a:xfrm>
            <a:off x="640080" y="2194560"/>
            <a:ext cx="2286000" cy="548640"/>
          </a:xfrm>
          <a:prstGeom prst="rect">
            <a:avLst/>
          </a:prstGeom>
          <a:noFill/>
          <a:ln/>
        </p:spPr>
        <p:txBody>
          <a:bodyPr wrap="square" lIns="1016" tIns="1016" rIns="1016" bIns="1016" rtlCol="0" anchor="t"/>
          <a:lstStyle/>
          <a:p>
            <a:pPr algn="l" indent="0" marL="0">
              <a:buNone/>
            </a:pPr>
            <a:r>
              <a:rPr lang="en-US" sz="1400" dirty="0">
                <a:solidFill>
                  <a:schemeClr val="tx2"/>
                </a:solidFill>
              </a:rPr>
              <a:t>functional modules built</a:t>
            </a:r>
            <a:endParaRPr lang="en-US" sz="1400" dirty="0"/>
          </a:p>
        </p:txBody>
      </p:sp>
      <p:sp>
        <p:nvSpPr>
          <p:cNvPr id="6" name="stat-1"/>
          <p:cNvSpPr/>
          <p:nvPr/>
        </p:nvSpPr>
        <p:spPr>
          <a:xfrm>
            <a:off x="3291840" y="1325880"/>
            <a:ext cx="2606040" cy="1463040"/>
          </a:xfrm>
          <a:prstGeom prst="roundRect">
            <a:avLst>
              <a:gd name="adj" fmla="val 5000"/>
            </a:avLst>
          </a:prstGeom>
          <a:solidFill>
            <a:schemeClr val="bg2"/>
          </a:solidFill>
          <a:ln w="9525">
            <a:solidFill>
              <a:schemeClr val="bg2"/>
            </a:solidFill>
            <a:prstDash val="solid"/>
          </a:ln>
        </p:spPr>
      </p:sp>
      <p:sp>
        <p:nvSpPr>
          <p:cNvPr id="7" name="Text 5"/>
          <p:cNvSpPr txBox="1"/>
          <p:nvPr/>
        </p:nvSpPr>
        <p:spPr>
          <a:xfrm>
            <a:off x="3474720" y="1371600"/>
            <a:ext cx="2286000" cy="822960"/>
          </a:xfrm>
          <a:prstGeom prst="rect">
            <a:avLst/>
          </a:prstGeom>
          <a:noFill/>
          <a:ln/>
        </p:spPr>
        <p:txBody>
          <a:bodyPr wrap="square" lIns="1016" tIns="1016" rIns="1016" bIns="1016" rtlCol="0" anchor="t"/>
          <a:lstStyle/>
          <a:p>
            <a:pPr algn="l" indent="0" marL="0">
              <a:buNone/>
            </a:pPr>
            <a:r>
              <a:rPr lang="en-US" sz="5000" b="1" dirty="0">
                <a:solidFill>
                  <a:schemeClr val="accent1"/>
                </a:solidFill>
                <a:latin typeface="Cambria" pitchFamily="34" charset="0"/>
                <a:ea typeface="Cambria" pitchFamily="34" charset="-122"/>
                <a:cs typeface="Cambria" pitchFamily="34" charset="-120"/>
              </a:rPr>
              <a:t>36</a:t>
            </a:r>
            <a:endParaRPr lang="en-US" sz="5000" dirty="0"/>
          </a:p>
        </p:txBody>
      </p:sp>
      <p:sp>
        <p:nvSpPr>
          <p:cNvPr id="8" name="Text 6"/>
          <p:cNvSpPr txBox="1"/>
          <p:nvPr/>
        </p:nvSpPr>
        <p:spPr>
          <a:xfrm>
            <a:off x="3474720" y="2194560"/>
            <a:ext cx="2286000" cy="548640"/>
          </a:xfrm>
          <a:prstGeom prst="rect">
            <a:avLst/>
          </a:prstGeom>
          <a:noFill/>
          <a:ln/>
        </p:spPr>
        <p:txBody>
          <a:bodyPr wrap="square" lIns="1016" tIns="1016" rIns="1016" bIns="1016" rtlCol="0" anchor="t"/>
          <a:lstStyle/>
          <a:p>
            <a:pPr algn="l" indent="0" marL="0">
              <a:buNone/>
            </a:pPr>
            <a:r>
              <a:rPr lang="en-US" sz="1400" dirty="0">
                <a:solidFill>
                  <a:schemeClr val="tx2"/>
                </a:solidFill>
              </a:rPr>
              <a:t>screens captured</a:t>
            </a:r>
            <a:endParaRPr lang="en-US" sz="1400" dirty="0"/>
          </a:p>
        </p:txBody>
      </p:sp>
      <p:sp>
        <p:nvSpPr>
          <p:cNvPr id="9" name="stat-2"/>
          <p:cNvSpPr/>
          <p:nvPr/>
        </p:nvSpPr>
        <p:spPr>
          <a:xfrm>
            <a:off x="6126480" y="1325880"/>
            <a:ext cx="2606040" cy="1463040"/>
          </a:xfrm>
          <a:prstGeom prst="roundRect">
            <a:avLst>
              <a:gd name="adj" fmla="val 5000"/>
            </a:avLst>
          </a:prstGeom>
          <a:solidFill>
            <a:schemeClr val="bg2"/>
          </a:solidFill>
          <a:ln w="9525">
            <a:solidFill>
              <a:schemeClr val="bg2"/>
            </a:solidFill>
            <a:prstDash val="solid"/>
          </a:ln>
        </p:spPr>
      </p:sp>
      <p:sp>
        <p:nvSpPr>
          <p:cNvPr id="10" name="Text 8"/>
          <p:cNvSpPr txBox="1"/>
          <p:nvPr/>
        </p:nvSpPr>
        <p:spPr>
          <a:xfrm>
            <a:off x="6309360" y="1371600"/>
            <a:ext cx="2286000" cy="822960"/>
          </a:xfrm>
          <a:prstGeom prst="rect">
            <a:avLst/>
          </a:prstGeom>
          <a:noFill/>
          <a:ln/>
        </p:spPr>
        <p:txBody>
          <a:bodyPr wrap="square" lIns="1016" tIns="1016" rIns="1016" bIns="1016" rtlCol="0" anchor="t"/>
          <a:lstStyle/>
          <a:p>
            <a:pPr algn="l" indent="0" marL="0">
              <a:buNone/>
            </a:pPr>
            <a:r>
              <a:rPr lang="en-US" sz="5000" b="1" dirty="0">
                <a:solidFill>
                  <a:schemeClr val="accent1"/>
                </a:solidFill>
                <a:latin typeface="Cambria" pitchFamily="34" charset="0"/>
                <a:ea typeface="Cambria" pitchFamily="34" charset="-122"/>
                <a:cs typeface="Cambria" pitchFamily="34" charset="-120"/>
              </a:rPr>
              <a:t>2</a:t>
            </a:r>
            <a:endParaRPr lang="en-US" sz="5000" dirty="0"/>
          </a:p>
        </p:txBody>
      </p:sp>
      <p:sp>
        <p:nvSpPr>
          <p:cNvPr id="11" name="Text 9"/>
          <p:cNvSpPr txBox="1"/>
          <p:nvPr/>
        </p:nvSpPr>
        <p:spPr>
          <a:xfrm>
            <a:off x="6309360" y="2194560"/>
            <a:ext cx="2286000" cy="548640"/>
          </a:xfrm>
          <a:prstGeom prst="rect">
            <a:avLst/>
          </a:prstGeom>
          <a:noFill/>
          <a:ln/>
        </p:spPr>
        <p:txBody>
          <a:bodyPr wrap="square" lIns="1016" tIns="1016" rIns="1016" bIns="1016" rtlCol="0" anchor="t"/>
          <a:lstStyle/>
          <a:p>
            <a:pPr algn="l" indent="0" marL="0">
              <a:buNone/>
            </a:pPr>
            <a:r>
              <a:rPr lang="en-US" sz="1400" dirty="0">
                <a:solidFill>
                  <a:schemeClr val="tx2"/>
                </a:solidFill>
              </a:rPr>
              <a:t>user populations kept apart: staff and merchants</a:t>
            </a:r>
            <a:endParaRPr lang="en-US" sz="1400" dirty="0"/>
          </a:p>
        </p:txBody>
      </p:sp>
      <p:sp>
        <p:nvSpPr>
          <p:cNvPr id="12" name="stat-3"/>
          <p:cNvSpPr/>
          <p:nvPr/>
        </p:nvSpPr>
        <p:spPr>
          <a:xfrm>
            <a:off x="8961120" y="1325880"/>
            <a:ext cx="2606040" cy="1463040"/>
          </a:xfrm>
          <a:prstGeom prst="roundRect">
            <a:avLst>
              <a:gd name="adj" fmla="val 5000"/>
            </a:avLst>
          </a:prstGeom>
          <a:solidFill>
            <a:schemeClr val="bg2"/>
          </a:solidFill>
          <a:ln w="9525">
            <a:solidFill>
              <a:schemeClr val="bg2"/>
            </a:solidFill>
            <a:prstDash val="solid"/>
          </a:ln>
        </p:spPr>
      </p:sp>
      <p:sp>
        <p:nvSpPr>
          <p:cNvPr id="13" name="Text 11"/>
          <p:cNvSpPr txBox="1"/>
          <p:nvPr/>
        </p:nvSpPr>
        <p:spPr>
          <a:xfrm>
            <a:off x="9144000" y="1371600"/>
            <a:ext cx="2286000" cy="822960"/>
          </a:xfrm>
          <a:prstGeom prst="rect">
            <a:avLst/>
          </a:prstGeom>
          <a:noFill/>
          <a:ln/>
        </p:spPr>
        <p:txBody>
          <a:bodyPr wrap="square" lIns="1016" tIns="1016" rIns="1016" bIns="1016" rtlCol="0" anchor="t"/>
          <a:lstStyle/>
          <a:p>
            <a:pPr algn="l" indent="0" marL="0">
              <a:buNone/>
            </a:pPr>
            <a:r>
              <a:rPr lang="en-US" sz="5000" b="1" dirty="0">
                <a:solidFill>
                  <a:schemeClr val="accent1"/>
                </a:solidFill>
                <a:latin typeface="Cambria" pitchFamily="34" charset="0"/>
                <a:ea typeface="Cambria" pitchFamily="34" charset="-122"/>
                <a:cs typeface="Cambria" pitchFamily="34" charset="-120"/>
              </a:rPr>
              <a:t>579</a:t>
            </a:r>
            <a:endParaRPr lang="en-US" sz="5000" dirty="0"/>
          </a:p>
        </p:txBody>
      </p:sp>
      <p:sp>
        <p:nvSpPr>
          <p:cNvPr id="14" name="Text 12"/>
          <p:cNvSpPr txBox="1"/>
          <p:nvPr/>
        </p:nvSpPr>
        <p:spPr>
          <a:xfrm>
            <a:off x="9144000" y="2194560"/>
            <a:ext cx="2286000" cy="548640"/>
          </a:xfrm>
          <a:prstGeom prst="rect">
            <a:avLst/>
          </a:prstGeom>
          <a:noFill/>
          <a:ln/>
        </p:spPr>
        <p:txBody>
          <a:bodyPr wrap="square" lIns="1016" tIns="1016" rIns="1016" bIns="1016" rtlCol="0" anchor="t"/>
          <a:lstStyle/>
          <a:p>
            <a:pPr algn="l" indent="0" marL="0">
              <a:buNone/>
            </a:pPr>
            <a:r>
              <a:rPr lang="en-US" sz="1400" dirty="0">
                <a:solidFill>
                  <a:schemeClr val="tx2"/>
                </a:solidFill>
              </a:rPr>
              <a:t>automated checks, fictitious data</a:t>
            </a:r>
            <a:endParaRPr lang="en-US" sz="1400" dirty="0"/>
          </a:p>
        </p:txBody>
      </p:sp>
      <p:sp>
        <p:nvSpPr>
          <p:cNvPr id="15" name="Text 13"/>
          <p:cNvSpPr txBox="1"/>
          <p:nvPr/>
        </p:nvSpPr>
        <p:spPr>
          <a:xfrm>
            <a:off x="457200" y="3108960"/>
            <a:ext cx="5486400" cy="411480"/>
          </a:xfrm>
          <a:prstGeom prst="rect">
            <a:avLst/>
          </a:prstGeom>
          <a:noFill/>
          <a:ln/>
        </p:spPr>
        <p:txBody>
          <a:bodyPr wrap="square" lIns="0" tIns="0" rIns="0" bIns="0" rtlCol="0" anchor="t"/>
          <a:lstStyle/>
          <a:p>
            <a:pPr algn="l" indent="0" marL="0">
              <a:buNone/>
            </a:pPr>
            <a:r>
              <a:rPr lang="en-US" sz="2000" b="1" dirty="0">
                <a:solidFill>
                  <a:schemeClr val="accent4"/>
                </a:solidFill>
                <a:latin typeface="Cambria" pitchFamily="34" charset="0"/>
                <a:ea typeface="Cambria" pitchFamily="34" charset="-122"/>
                <a:cs typeface="Cambria" pitchFamily="34" charset="-120"/>
              </a:rPr>
              <a:t>It shows</a:t>
            </a:r>
            <a:endParaRPr lang="en-US" sz="2000" dirty="0"/>
          </a:p>
        </p:txBody>
      </p:sp>
      <p:sp>
        <p:nvSpPr>
          <p:cNvPr id="16" name="Text 14"/>
          <p:cNvSpPr txBox="1"/>
          <p:nvPr/>
        </p:nvSpPr>
        <p:spPr>
          <a:xfrm>
            <a:off x="457200" y="3611880"/>
            <a:ext cx="5486400" cy="2377440"/>
          </a:xfrm>
          <a:prstGeom prst="rect">
            <a:avLst/>
          </a:prstGeom>
          <a:noFill/>
          <a:ln/>
        </p:spPr>
        <p:txBody>
          <a:bodyPr wrap="square" lIns="635" tIns="635" rIns="635" bIns="635" rtlCol="0" anchor="t"/>
          <a:lstStyle/>
          <a:p>
            <a:pPr marL="342900" indent="-342900">
              <a:spcAft>
                <a:spcPts val="600"/>
              </a:spcAft>
              <a:buSzPct val="100000"/>
              <a:buChar char="•"/>
            </a:pPr>
            <a:r>
              <a:rPr lang="en-US" sz="1400" dirty="0">
                <a:solidFill>
                  <a:schemeClr val="tx1"/>
                </a:solidFill>
              </a:rPr>
              <a:t>How merchants are onboarded and verified (KYC/KYB)</a:t>
            </a:r>
            <a:endParaRPr lang="en-US" sz="1400" dirty="0"/>
          </a:p>
          <a:p>
            <a:pPr marL="342900" indent="-342900">
              <a:spcAft>
                <a:spcPts val="600"/>
              </a:spcAft>
              <a:buSzPct val="100000"/>
              <a:buChar char="•"/>
            </a:pPr>
            <a:r>
              <a:rPr lang="en-US" sz="1400" dirty="0">
                <a:solidFill>
                  <a:schemeClr val="tx1"/>
                </a:solidFill>
              </a:rPr>
              <a:t>The internal controls built into each step</a:t>
            </a:r>
            <a:endParaRPr lang="en-US" sz="1400" dirty="0"/>
          </a:p>
          <a:p>
            <a:pPr marL="342900" indent="-342900">
              <a:spcAft>
                <a:spcPts val="600"/>
              </a:spcAft>
              <a:buSzPct val="100000"/>
              <a:buChar char="•"/>
            </a:pPr>
            <a:r>
              <a:rPr lang="en-US" sz="1400" dirty="0">
                <a:solidFill>
                  <a:schemeClr val="tx1"/>
                </a:solidFill>
              </a:rPr>
              <a:t>How transaction data is reported, billed and reconciled with the acquirer</a:t>
            </a:r>
            <a:endParaRPr lang="en-US" sz="1400" dirty="0"/>
          </a:p>
          <a:p>
            <a:pPr marL="342900" indent="-342900">
              <a:spcAft>
                <a:spcPts val="600"/>
              </a:spcAft>
              <a:buSzPct val="100000"/>
              <a:buChar char="•"/>
            </a:pPr>
            <a:r>
              <a:rPr lang="en-US" sz="1400" dirty="0">
                <a:solidFill>
                  <a:schemeClr val="tx1"/>
                </a:solidFill>
              </a:rPr>
              <a:t>Which requested views are covered, and which are not yet</a:t>
            </a:r>
            <a:endParaRPr lang="en-US" sz="1400" dirty="0"/>
          </a:p>
        </p:txBody>
      </p:sp>
      <p:sp>
        <p:nvSpPr>
          <p:cNvPr id="17" name="Text 15"/>
          <p:cNvSpPr txBox="1"/>
          <p:nvPr/>
        </p:nvSpPr>
        <p:spPr>
          <a:xfrm>
            <a:off x="6309360" y="3108960"/>
            <a:ext cx="5486400" cy="411480"/>
          </a:xfrm>
          <a:prstGeom prst="rect">
            <a:avLst/>
          </a:prstGeom>
          <a:noFill/>
          <a:ln/>
        </p:spPr>
        <p:txBody>
          <a:bodyPr wrap="square" lIns="0" tIns="0" rIns="0" bIns="0" rtlCol="0" anchor="t"/>
          <a:lstStyle/>
          <a:p>
            <a:pPr algn="l" indent="0" marL="0">
              <a:buNone/>
            </a:pPr>
            <a:r>
              <a:rPr lang="en-US" sz="2000" b="1" dirty="0">
                <a:solidFill>
                  <a:schemeClr val="accent6"/>
                </a:solidFill>
                <a:latin typeface="Cambria" pitchFamily="34" charset="0"/>
                <a:ea typeface="Cambria" pitchFamily="34" charset="-122"/>
                <a:cs typeface="Cambria" pitchFamily="34" charset="-120"/>
              </a:rPr>
              <a:t>It does not show</a:t>
            </a:r>
            <a:endParaRPr lang="en-US" sz="2000" dirty="0"/>
          </a:p>
        </p:txBody>
      </p:sp>
      <p:sp>
        <p:nvSpPr>
          <p:cNvPr id="18" name="Text 16"/>
          <p:cNvSpPr txBox="1"/>
          <p:nvPr/>
        </p:nvSpPr>
        <p:spPr>
          <a:xfrm>
            <a:off x="6309360" y="3611880"/>
            <a:ext cx="5486400" cy="2377440"/>
          </a:xfrm>
          <a:prstGeom prst="rect">
            <a:avLst/>
          </a:prstGeom>
          <a:noFill/>
          <a:ln/>
        </p:spPr>
        <p:txBody>
          <a:bodyPr wrap="square" lIns="635" tIns="635" rIns="635" bIns="635" rtlCol="0" anchor="t"/>
          <a:lstStyle/>
          <a:p>
            <a:pPr marL="342900" indent="-342900">
              <a:spcAft>
                <a:spcPts val="600"/>
              </a:spcAft>
              <a:buSzPct val="100000"/>
              <a:buChar char="•"/>
            </a:pPr>
            <a:r>
              <a:rPr lang="en-US" sz="1400" dirty="0">
                <a:solidFill>
                  <a:schemeClr val="tx1"/>
                </a:solidFill>
              </a:rPr>
              <a:t>A system in production or an operational, authorised service</a:t>
            </a:r>
            <a:endParaRPr lang="en-US" sz="1400" dirty="0"/>
          </a:p>
          <a:p>
            <a:pPr marL="342900" indent="-342900">
              <a:spcAft>
                <a:spcPts val="600"/>
              </a:spcAft>
              <a:buSzPct val="100000"/>
              <a:buChar char="•"/>
            </a:pPr>
            <a:r>
              <a:rPr lang="en-US" sz="1400" dirty="0">
                <a:solidFill>
                  <a:schemeClr val="tx1"/>
                </a:solidFill>
              </a:rPr>
              <a:t>Real merchants, people, transactions or bank data</a:t>
            </a:r>
            <a:endParaRPr lang="en-US" sz="1400" dirty="0"/>
          </a:p>
          <a:p>
            <a:pPr marL="342900" indent="-342900">
              <a:spcAft>
                <a:spcPts val="600"/>
              </a:spcAft>
              <a:buSzPct val="100000"/>
              <a:buChar char="•"/>
            </a:pPr>
            <a:r>
              <a:rPr lang="en-US" sz="1400" dirty="0">
                <a:solidFill>
                  <a:schemeClr val="tx1"/>
                </a:solidFill>
              </a:rPr>
              <a:t>Safeguarding (trust) reconciliation, transaction monitoring, disputes or complaints handling</a:t>
            </a:r>
            <a:endParaRPr lang="en-US" sz="1400" dirty="0"/>
          </a:p>
          <a:p>
            <a:pPr marL="342900" indent="-342900">
              <a:spcAft>
                <a:spcPts val="600"/>
              </a:spcAft>
              <a:buSzPct val="100000"/>
              <a:buChar char="•"/>
            </a:pPr>
            <a:r>
              <a:rPr lang="en-US" sz="1400" dirty="0">
                <a:solidFill>
                  <a:schemeClr val="tx1"/>
                </a:solidFill>
              </a:rPr>
              <a:t>Final legal texts: the terms of use shown are a placeholder</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47120" cy="731520"/>
          </a:xfrm>
          <a:prstGeom prst="rect">
            <a:avLst/>
          </a:prstGeom>
          <a:noFill/>
          <a:ln/>
        </p:spPr>
        <p:txBody>
          <a:bodyPr wrap="square" lIns="0" tIns="0" rIns="0" bIns="0" rtlCol="0" anchor="ctr"/>
          <a:lstStyle/>
          <a:p>
            <a:pPr algn="l" indent="0" marL="0">
              <a:buNone/>
            </a:pPr>
            <a:r>
              <a:rPr lang="en-US" sz="3000" b="1" dirty="0">
                <a:solidFill>
                  <a:schemeClr val="tx1"/>
                </a:solidFill>
              </a:rPr>
              <a:t>Nine modules between data sources and outputs</a:t>
            </a:r>
            <a:endParaRPr lang="en-US" sz="3000" dirty="0"/>
          </a:p>
        </p:txBody>
      </p:sp>
      <p:sp>
        <p:nvSpPr>
          <p:cNvPr id="3" name="Text 1"/>
          <p:cNvSpPr txBox="1"/>
          <p:nvPr/>
        </p:nvSpPr>
        <p:spPr>
          <a:xfrm>
            <a:off x="457200" y="1188720"/>
            <a:ext cx="2011680" cy="274320"/>
          </a:xfrm>
          <a:prstGeom prst="rect">
            <a:avLst/>
          </a:prstGeom>
          <a:noFill/>
          <a:ln/>
        </p:spPr>
        <p:txBody>
          <a:bodyPr wrap="square" lIns="0" tIns="0" rIns="0" bIns="0" rtlCol="0" anchor="t"/>
          <a:lstStyle/>
          <a:p>
            <a:pPr algn="l" indent="0" marL="0">
              <a:buNone/>
            </a:pPr>
            <a:r>
              <a:rPr lang="en-US" sz="1100" b="1" dirty="0">
                <a:solidFill>
                  <a:schemeClr val="tx2"/>
                </a:solidFill>
              </a:rPr>
              <a:t>SOURCES</a:t>
            </a:r>
            <a:endParaRPr lang="en-US" sz="1100" dirty="0"/>
          </a:p>
        </p:txBody>
      </p:sp>
      <p:sp>
        <p:nvSpPr>
          <p:cNvPr id="4" name="Text 2"/>
          <p:cNvSpPr txBox="1"/>
          <p:nvPr/>
        </p:nvSpPr>
        <p:spPr>
          <a:xfrm>
            <a:off x="2971800" y="1188720"/>
            <a:ext cx="6217920" cy="274320"/>
          </a:xfrm>
          <a:prstGeom prst="rect">
            <a:avLst/>
          </a:prstGeom>
          <a:noFill/>
          <a:ln/>
        </p:spPr>
        <p:txBody>
          <a:bodyPr wrap="square" lIns="0" tIns="0" rIns="0" bIns="0" rtlCol="0" anchor="t"/>
          <a:lstStyle/>
          <a:p>
            <a:pPr algn="l" indent="0" marL="0">
              <a:buNone/>
            </a:pPr>
            <a:r>
              <a:rPr lang="en-US" sz="1100" b="1" dirty="0">
                <a:solidFill>
                  <a:schemeClr val="tx2"/>
                </a:solidFill>
              </a:rPr>
              <a:t>MODULES</a:t>
            </a:r>
            <a:endParaRPr lang="en-US" sz="1100" dirty="0"/>
          </a:p>
        </p:txBody>
      </p:sp>
      <p:sp>
        <p:nvSpPr>
          <p:cNvPr id="5" name="Text 3"/>
          <p:cNvSpPr txBox="1"/>
          <p:nvPr/>
        </p:nvSpPr>
        <p:spPr>
          <a:xfrm>
            <a:off x="9692640" y="1188720"/>
            <a:ext cx="2011680" cy="274320"/>
          </a:xfrm>
          <a:prstGeom prst="rect">
            <a:avLst/>
          </a:prstGeom>
          <a:noFill/>
          <a:ln/>
        </p:spPr>
        <p:txBody>
          <a:bodyPr wrap="square" lIns="0" tIns="0" rIns="0" bIns="0" rtlCol="0" anchor="t"/>
          <a:lstStyle/>
          <a:p>
            <a:pPr algn="l" indent="0" marL="0">
              <a:buNone/>
            </a:pPr>
            <a:r>
              <a:rPr lang="en-US" sz="1100" b="1" dirty="0">
                <a:solidFill>
                  <a:schemeClr val="tx2"/>
                </a:solidFill>
              </a:rPr>
              <a:t>OUTPUTS</a:t>
            </a:r>
            <a:endParaRPr lang="en-US" sz="1100" dirty="0"/>
          </a:p>
        </p:txBody>
      </p:sp>
      <p:sp>
        <p:nvSpPr>
          <p:cNvPr id="6" name="src-0"/>
          <p:cNvSpPr/>
          <p:nvPr/>
        </p:nvSpPr>
        <p:spPr>
          <a:xfrm>
            <a:off x="457200" y="1554480"/>
            <a:ext cx="2011680" cy="868680"/>
          </a:xfrm>
          <a:prstGeom prst="roundRect">
            <a:avLst>
              <a:gd name="adj" fmla="val 8421"/>
            </a:avLst>
          </a:prstGeom>
          <a:solidFill>
            <a:schemeClr val="bg2"/>
          </a:solidFill>
          <a:ln w="9525">
            <a:solidFill>
              <a:schemeClr val="bg2"/>
            </a:solidFill>
            <a:prstDash val="solid"/>
          </a:ln>
        </p:spPr>
      </p:sp>
      <p:sp>
        <p:nvSpPr>
          <p:cNvPr id="7" name="Text 5"/>
          <p:cNvSpPr txBox="1"/>
          <p:nvPr/>
        </p:nvSpPr>
        <p:spPr>
          <a:xfrm>
            <a:off x="502920" y="1554480"/>
            <a:ext cx="1920240" cy="868680"/>
          </a:xfrm>
          <a:prstGeom prst="rect">
            <a:avLst/>
          </a:prstGeom>
          <a:noFill/>
          <a:ln/>
        </p:spPr>
        <p:txBody>
          <a:bodyPr wrap="square" lIns="1016" tIns="1016" rIns="1016" bIns="1016" rtlCol="0" anchor="ctr"/>
          <a:lstStyle/>
          <a:p>
            <a:pPr algn="l" indent="0" marL="0">
              <a:buNone/>
            </a:pPr>
            <a:r>
              <a:rPr lang="en-US" sz="1400" dirty="0">
                <a:solidFill>
                  <a:schemeClr val="tx1"/>
                </a:solidFill>
              </a:rPr>
              <a:t>Monthly transaction export</a:t>
            </a:r>
            <a:endParaRPr lang="en-US" sz="1400" dirty="0"/>
          </a:p>
        </p:txBody>
      </p:sp>
      <p:sp>
        <p:nvSpPr>
          <p:cNvPr id="8" name="src-1"/>
          <p:cNvSpPr/>
          <p:nvPr/>
        </p:nvSpPr>
        <p:spPr>
          <a:xfrm>
            <a:off x="457200" y="2651760"/>
            <a:ext cx="2011680" cy="868680"/>
          </a:xfrm>
          <a:prstGeom prst="roundRect">
            <a:avLst>
              <a:gd name="adj" fmla="val 8421"/>
            </a:avLst>
          </a:prstGeom>
          <a:solidFill>
            <a:schemeClr val="bg2"/>
          </a:solidFill>
          <a:ln w="9525">
            <a:solidFill>
              <a:schemeClr val="bg2"/>
            </a:solidFill>
            <a:prstDash val="solid"/>
          </a:ln>
        </p:spPr>
      </p:sp>
      <p:sp>
        <p:nvSpPr>
          <p:cNvPr id="9" name="Text 7"/>
          <p:cNvSpPr txBox="1"/>
          <p:nvPr/>
        </p:nvSpPr>
        <p:spPr>
          <a:xfrm>
            <a:off x="502920" y="2651760"/>
            <a:ext cx="1920240" cy="868680"/>
          </a:xfrm>
          <a:prstGeom prst="rect">
            <a:avLst/>
          </a:prstGeom>
          <a:noFill/>
          <a:ln/>
        </p:spPr>
        <p:txBody>
          <a:bodyPr wrap="square" lIns="1016" tIns="1016" rIns="1016" bIns="1016" rtlCol="0" anchor="ctr"/>
          <a:lstStyle/>
          <a:p>
            <a:pPr algn="l" indent="0" marL="0">
              <a:buNone/>
            </a:pPr>
            <a:r>
              <a:rPr lang="en-US" sz="1400" dirty="0">
                <a:solidFill>
                  <a:schemeClr val="tx1"/>
                </a:solidFill>
              </a:rPr>
              <a:t>Data warehouse (BigQuery)</a:t>
            </a:r>
            <a:endParaRPr lang="en-US" sz="1400" dirty="0"/>
          </a:p>
        </p:txBody>
      </p:sp>
      <p:sp>
        <p:nvSpPr>
          <p:cNvPr id="10" name="src-2"/>
          <p:cNvSpPr/>
          <p:nvPr/>
        </p:nvSpPr>
        <p:spPr>
          <a:xfrm>
            <a:off x="457200" y="3749040"/>
            <a:ext cx="2011680" cy="868680"/>
          </a:xfrm>
          <a:prstGeom prst="roundRect">
            <a:avLst>
              <a:gd name="adj" fmla="val 8421"/>
            </a:avLst>
          </a:prstGeom>
          <a:solidFill>
            <a:schemeClr val="bg2"/>
          </a:solidFill>
          <a:ln w="9525">
            <a:solidFill>
              <a:schemeClr val="bg2"/>
            </a:solidFill>
            <a:prstDash val="solid"/>
          </a:ln>
        </p:spPr>
      </p:sp>
      <p:sp>
        <p:nvSpPr>
          <p:cNvPr id="11" name="Text 9"/>
          <p:cNvSpPr txBox="1"/>
          <p:nvPr/>
        </p:nvSpPr>
        <p:spPr>
          <a:xfrm>
            <a:off x="502920" y="3749040"/>
            <a:ext cx="1920240" cy="868680"/>
          </a:xfrm>
          <a:prstGeom prst="rect">
            <a:avLst/>
          </a:prstGeom>
          <a:noFill/>
          <a:ln/>
        </p:spPr>
        <p:txBody>
          <a:bodyPr wrap="square" lIns="1016" tIns="1016" rIns="1016" bIns="1016" rtlCol="0" anchor="ctr"/>
          <a:lstStyle/>
          <a:p>
            <a:pPr algn="l" indent="0" marL="0">
              <a:buNone/>
            </a:pPr>
            <a:r>
              <a:rPr lang="en-US" sz="1400" dirty="0">
                <a:solidFill>
                  <a:schemeClr val="tx1"/>
                </a:solidFill>
              </a:rPr>
              <a:t>Acquirer file (MCB)</a:t>
            </a:r>
            <a:endParaRPr lang="en-US" sz="1400" dirty="0"/>
          </a:p>
        </p:txBody>
      </p:sp>
      <p:sp>
        <p:nvSpPr>
          <p:cNvPr id="12" name="src-3"/>
          <p:cNvSpPr/>
          <p:nvPr/>
        </p:nvSpPr>
        <p:spPr>
          <a:xfrm>
            <a:off x="457200" y="4846320"/>
            <a:ext cx="2011680" cy="868680"/>
          </a:xfrm>
          <a:prstGeom prst="roundRect">
            <a:avLst>
              <a:gd name="adj" fmla="val 8421"/>
            </a:avLst>
          </a:prstGeom>
          <a:solidFill>
            <a:schemeClr val="bg2"/>
          </a:solidFill>
          <a:ln w="9525">
            <a:solidFill>
              <a:schemeClr val="bg2"/>
            </a:solidFill>
            <a:prstDash val="solid"/>
          </a:ln>
        </p:spPr>
      </p:sp>
      <p:sp>
        <p:nvSpPr>
          <p:cNvPr id="13" name="Text 11"/>
          <p:cNvSpPr txBox="1"/>
          <p:nvPr/>
        </p:nvSpPr>
        <p:spPr>
          <a:xfrm>
            <a:off x="502920" y="4846320"/>
            <a:ext cx="1920240" cy="868680"/>
          </a:xfrm>
          <a:prstGeom prst="rect">
            <a:avLst/>
          </a:prstGeom>
          <a:noFill/>
          <a:ln/>
        </p:spPr>
        <p:txBody>
          <a:bodyPr wrap="square" lIns="1016" tIns="1016" rIns="1016" bIns="1016" rtlCol="0" anchor="ctr"/>
          <a:lstStyle/>
          <a:p>
            <a:pPr algn="l" indent="0" marL="0">
              <a:buNone/>
            </a:pPr>
            <a:r>
              <a:rPr lang="en-US" sz="1400" dirty="0">
                <a:solidFill>
                  <a:schemeClr val="tx1"/>
                </a:solidFill>
              </a:rPr>
              <a:t>Applicants (portal)</a:t>
            </a:r>
            <a:endParaRPr lang="en-US" sz="1400" dirty="0"/>
          </a:p>
        </p:txBody>
      </p:sp>
      <p:sp>
        <p:nvSpPr>
          <p:cNvPr id="14" name="mod-0"/>
          <p:cNvSpPr/>
          <p:nvPr/>
        </p:nvSpPr>
        <p:spPr>
          <a:xfrm>
            <a:off x="2971800" y="1554480"/>
            <a:ext cx="1965960" cy="1280160"/>
          </a:xfrm>
          <a:prstGeom prst="roundRect">
            <a:avLst>
              <a:gd name="adj" fmla="val 5714"/>
            </a:avLst>
          </a:prstGeom>
          <a:solidFill>
            <a:schemeClr val="accent2">
              <a:alpha val="12000"/>
            </a:schemeClr>
          </a:solidFill>
          <a:ln w="9525">
            <a:solidFill>
              <a:schemeClr val="accent2"/>
            </a:solidFill>
            <a:prstDash val="solid"/>
          </a:ln>
        </p:spPr>
      </p:sp>
      <p:sp>
        <p:nvSpPr>
          <p:cNvPr id="15" name="Text 13"/>
          <p:cNvSpPr txBox="1"/>
          <p:nvPr/>
        </p:nvSpPr>
        <p:spPr>
          <a:xfrm>
            <a:off x="3044952" y="1645920"/>
            <a:ext cx="1828800" cy="502920"/>
          </a:xfrm>
          <a:prstGeom prst="rect">
            <a:avLst/>
          </a:prstGeom>
          <a:noFill/>
          <a:ln/>
        </p:spPr>
        <p:txBody>
          <a:bodyPr wrap="square" lIns="1016" tIns="1016" rIns="1016" bIns="1016" rtlCol="0" anchor="t"/>
          <a:lstStyle/>
          <a:p>
            <a:pPr algn="l" indent="0" marL="0">
              <a:buNone/>
            </a:pPr>
            <a:r>
              <a:rPr lang="en-US" sz="1400" b="1" dirty="0">
                <a:solidFill>
                  <a:schemeClr val="tx1"/>
                </a:solidFill>
              </a:rPr>
              <a:t>Monthly reporting</a:t>
            </a:r>
            <a:endParaRPr lang="en-US" sz="1400" dirty="0"/>
          </a:p>
        </p:txBody>
      </p:sp>
      <p:sp>
        <p:nvSpPr>
          <p:cNvPr id="16" name="Text 14"/>
          <p:cNvSpPr txBox="1"/>
          <p:nvPr/>
        </p:nvSpPr>
        <p:spPr>
          <a:xfrm>
            <a:off x="3044952" y="2194560"/>
            <a:ext cx="1828800" cy="548640"/>
          </a:xfrm>
          <a:prstGeom prst="rect">
            <a:avLst/>
          </a:prstGeom>
          <a:noFill/>
          <a:ln/>
        </p:spPr>
        <p:txBody>
          <a:bodyPr wrap="square" lIns="1016" tIns="1016" rIns="1016" bIns="1016" rtlCol="0" anchor="t"/>
          <a:lstStyle/>
          <a:p>
            <a:pPr algn="l" indent="0" marL="0">
              <a:buNone/>
            </a:pPr>
            <a:r>
              <a:rPr lang="en-US" sz="1200" dirty="0">
                <a:solidFill>
                  <a:schemeClr val="tx2"/>
                </a:solidFill>
              </a:rPr>
              <a:t>Fixed data rules, trends</a:t>
            </a:r>
            <a:endParaRPr lang="en-US" sz="1200" dirty="0"/>
          </a:p>
        </p:txBody>
      </p:sp>
      <p:sp>
        <p:nvSpPr>
          <p:cNvPr id="17" name="mod-1"/>
          <p:cNvSpPr/>
          <p:nvPr/>
        </p:nvSpPr>
        <p:spPr>
          <a:xfrm>
            <a:off x="5074920" y="1554480"/>
            <a:ext cx="1965960" cy="1280160"/>
          </a:xfrm>
          <a:prstGeom prst="roundRect">
            <a:avLst>
              <a:gd name="adj" fmla="val 5714"/>
            </a:avLst>
          </a:prstGeom>
          <a:solidFill>
            <a:schemeClr val="accent2">
              <a:alpha val="12000"/>
            </a:schemeClr>
          </a:solidFill>
          <a:ln w="9525">
            <a:solidFill>
              <a:schemeClr val="accent2"/>
            </a:solidFill>
            <a:prstDash val="solid"/>
          </a:ln>
        </p:spPr>
      </p:sp>
      <p:sp>
        <p:nvSpPr>
          <p:cNvPr id="18" name="Text 16"/>
          <p:cNvSpPr txBox="1"/>
          <p:nvPr/>
        </p:nvSpPr>
        <p:spPr>
          <a:xfrm>
            <a:off x="5148072" y="1645920"/>
            <a:ext cx="1828800" cy="502920"/>
          </a:xfrm>
          <a:prstGeom prst="rect">
            <a:avLst/>
          </a:prstGeom>
          <a:noFill/>
          <a:ln/>
        </p:spPr>
        <p:txBody>
          <a:bodyPr wrap="square" lIns="1016" tIns="1016" rIns="1016" bIns="1016" rtlCol="0" anchor="t"/>
          <a:lstStyle/>
          <a:p>
            <a:pPr algn="l" indent="0" marL="0">
              <a:buNone/>
            </a:pPr>
            <a:r>
              <a:rPr lang="en-US" sz="1400" b="1" dirty="0">
                <a:solidFill>
                  <a:schemeClr val="tx1"/>
                </a:solidFill>
              </a:rPr>
              <a:t>Billing</a:t>
            </a:r>
            <a:endParaRPr lang="en-US" sz="1400" dirty="0"/>
          </a:p>
        </p:txBody>
      </p:sp>
      <p:sp>
        <p:nvSpPr>
          <p:cNvPr id="19" name="Text 17"/>
          <p:cNvSpPr txBox="1"/>
          <p:nvPr/>
        </p:nvSpPr>
        <p:spPr>
          <a:xfrm>
            <a:off x="5148072" y="2194560"/>
            <a:ext cx="1828800" cy="548640"/>
          </a:xfrm>
          <a:prstGeom prst="rect">
            <a:avLst/>
          </a:prstGeom>
          <a:noFill/>
          <a:ln/>
        </p:spPr>
        <p:txBody>
          <a:bodyPr wrap="square" lIns="1016" tIns="1016" rIns="1016" bIns="1016" rtlCol="0" anchor="t"/>
          <a:lstStyle/>
          <a:p>
            <a:pPr algn="l" indent="0" marL="0">
              <a:buNone/>
            </a:pPr>
            <a:r>
              <a:rPr lang="en-US" sz="1200" dirty="0">
                <a:solidFill>
                  <a:schemeClr val="tx2"/>
                </a:solidFill>
              </a:rPr>
              <a:t>Fee rules, invoices</a:t>
            </a:r>
            <a:endParaRPr lang="en-US" sz="1200" dirty="0"/>
          </a:p>
        </p:txBody>
      </p:sp>
      <p:sp>
        <p:nvSpPr>
          <p:cNvPr id="20" name="mod-2"/>
          <p:cNvSpPr/>
          <p:nvPr/>
        </p:nvSpPr>
        <p:spPr>
          <a:xfrm>
            <a:off x="7178040" y="1554480"/>
            <a:ext cx="1965960" cy="1280160"/>
          </a:xfrm>
          <a:prstGeom prst="roundRect">
            <a:avLst>
              <a:gd name="adj" fmla="val 5714"/>
            </a:avLst>
          </a:prstGeom>
          <a:solidFill>
            <a:schemeClr val="accent2">
              <a:alpha val="12000"/>
            </a:schemeClr>
          </a:solidFill>
          <a:ln w="9525">
            <a:solidFill>
              <a:schemeClr val="accent2"/>
            </a:solidFill>
            <a:prstDash val="solid"/>
          </a:ln>
        </p:spPr>
      </p:sp>
      <p:sp>
        <p:nvSpPr>
          <p:cNvPr id="21" name="Text 19"/>
          <p:cNvSpPr txBox="1"/>
          <p:nvPr/>
        </p:nvSpPr>
        <p:spPr>
          <a:xfrm>
            <a:off x="7251192" y="1645920"/>
            <a:ext cx="1828800" cy="502920"/>
          </a:xfrm>
          <a:prstGeom prst="rect">
            <a:avLst/>
          </a:prstGeom>
          <a:noFill/>
          <a:ln/>
        </p:spPr>
        <p:txBody>
          <a:bodyPr wrap="square" lIns="1016" tIns="1016" rIns="1016" bIns="1016" rtlCol="0" anchor="t"/>
          <a:lstStyle/>
          <a:p>
            <a:pPr algn="l" indent="0" marL="0">
              <a:buNone/>
            </a:pPr>
            <a:r>
              <a:rPr lang="en-US" sz="1400" b="1" dirty="0">
                <a:solidFill>
                  <a:schemeClr val="tx1"/>
                </a:solidFill>
              </a:rPr>
              <a:t>Acquirer reconciliation</a:t>
            </a:r>
            <a:endParaRPr lang="en-US" sz="1400" dirty="0"/>
          </a:p>
        </p:txBody>
      </p:sp>
      <p:sp>
        <p:nvSpPr>
          <p:cNvPr id="22" name="Text 20"/>
          <p:cNvSpPr txBox="1"/>
          <p:nvPr/>
        </p:nvSpPr>
        <p:spPr>
          <a:xfrm>
            <a:off x="7251192" y="2194560"/>
            <a:ext cx="1828800" cy="548640"/>
          </a:xfrm>
          <a:prstGeom prst="rect">
            <a:avLst/>
          </a:prstGeom>
          <a:noFill/>
          <a:ln/>
        </p:spPr>
        <p:txBody>
          <a:bodyPr wrap="square" lIns="1016" tIns="1016" rIns="1016" bIns="1016" rtlCol="0" anchor="t"/>
          <a:lstStyle/>
          <a:p>
            <a:pPr algn="l" indent="0" marL="0">
              <a:buNone/>
            </a:pPr>
            <a:r>
              <a:rPr lang="en-US" sz="1200" dirty="0">
                <a:solidFill>
                  <a:schemeClr val="tx2"/>
                </a:solidFill>
              </a:rPr>
              <a:t>Gaps explained to zero</a:t>
            </a:r>
            <a:endParaRPr lang="en-US" sz="1200" dirty="0"/>
          </a:p>
        </p:txBody>
      </p:sp>
      <p:sp>
        <p:nvSpPr>
          <p:cNvPr id="23" name="mod-3"/>
          <p:cNvSpPr/>
          <p:nvPr/>
        </p:nvSpPr>
        <p:spPr>
          <a:xfrm>
            <a:off x="2971800" y="3017520"/>
            <a:ext cx="1965960" cy="1280160"/>
          </a:xfrm>
          <a:prstGeom prst="roundRect">
            <a:avLst>
              <a:gd name="adj" fmla="val 5714"/>
            </a:avLst>
          </a:prstGeom>
          <a:solidFill>
            <a:schemeClr val="accent2">
              <a:alpha val="12000"/>
            </a:schemeClr>
          </a:solidFill>
          <a:ln w="9525">
            <a:solidFill>
              <a:schemeClr val="accent2"/>
            </a:solidFill>
            <a:prstDash val="solid"/>
          </a:ln>
        </p:spPr>
      </p:sp>
      <p:sp>
        <p:nvSpPr>
          <p:cNvPr id="24" name="Text 22"/>
          <p:cNvSpPr txBox="1"/>
          <p:nvPr/>
        </p:nvSpPr>
        <p:spPr>
          <a:xfrm>
            <a:off x="3044952" y="3108960"/>
            <a:ext cx="1828800" cy="502920"/>
          </a:xfrm>
          <a:prstGeom prst="rect">
            <a:avLst/>
          </a:prstGeom>
          <a:noFill/>
          <a:ln/>
        </p:spPr>
        <p:txBody>
          <a:bodyPr wrap="square" lIns="1016" tIns="1016" rIns="1016" bIns="1016" rtlCol="0" anchor="t"/>
          <a:lstStyle/>
          <a:p>
            <a:pPr algn="l" indent="0" marL="0">
              <a:buNone/>
            </a:pPr>
            <a:r>
              <a:rPr lang="en-US" sz="1400" b="1" dirty="0">
                <a:solidFill>
                  <a:schemeClr val="tx1"/>
                </a:solidFill>
              </a:rPr>
              <a:t>Merchant records</a:t>
            </a:r>
            <a:endParaRPr lang="en-US" sz="1400" dirty="0"/>
          </a:p>
        </p:txBody>
      </p:sp>
      <p:sp>
        <p:nvSpPr>
          <p:cNvPr id="25" name="Text 23"/>
          <p:cNvSpPr txBox="1"/>
          <p:nvPr/>
        </p:nvSpPr>
        <p:spPr>
          <a:xfrm>
            <a:off x="3044952" y="3657600"/>
            <a:ext cx="1828800" cy="548640"/>
          </a:xfrm>
          <a:prstGeom prst="rect">
            <a:avLst/>
          </a:prstGeom>
          <a:noFill/>
          <a:ln/>
        </p:spPr>
        <p:txBody>
          <a:bodyPr wrap="square" lIns="1016" tIns="1016" rIns="1016" bIns="1016" rtlCol="0" anchor="t"/>
          <a:lstStyle/>
          <a:p>
            <a:pPr algn="l" indent="0" marL="0">
              <a:buNone/>
            </a:pPr>
            <a:r>
              <a:rPr lang="en-US" sz="1200" dirty="0">
                <a:solidFill>
                  <a:schemeClr val="tx2"/>
                </a:solidFill>
              </a:rPr>
              <a:t>Identity, MIDs, contracts</a:t>
            </a:r>
            <a:endParaRPr lang="en-US" sz="1200" dirty="0"/>
          </a:p>
        </p:txBody>
      </p:sp>
      <p:sp>
        <p:nvSpPr>
          <p:cNvPr id="26" name="mod-4"/>
          <p:cNvSpPr/>
          <p:nvPr/>
        </p:nvSpPr>
        <p:spPr>
          <a:xfrm>
            <a:off x="5074920" y="3017520"/>
            <a:ext cx="1965960" cy="1280160"/>
          </a:xfrm>
          <a:prstGeom prst="roundRect">
            <a:avLst>
              <a:gd name="adj" fmla="val 5714"/>
            </a:avLst>
          </a:prstGeom>
          <a:solidFill>
            <a:schemeClr val="accent2">
              <a:alpha val="12000"/>
            </a:schemeClr>
          </a:solidFill>
          <a:ln w="9525">
            <a:solidFill>
              <a:schemeClr val="accent2"/>
            </a:solidFill>
            <a:prstDash val="solid"/>
          </a:ln>
        </p:spPr>
      </p:sp>
      <p:sp>
        <p:nvSpPr>
          <p:cNvPr id="27" name="Text 25"/>
          <p:cNvSpPr txBox="1"/>
          <p:nvPr/>
        </p:nvSpPr>
        <p:spPr>
          <a:xfrm>
            <a:off x="5148072" y="3108960"/>
            <a:ext cx="1828800" cy="502920"/>
          </a:xfrm>
          <a:prstGeom prst="rect">
            <a:avLst/>
          </a:prstGeom>
          <a:noFill/>
          <a:ln/>
        </p:spPr>
        <p:txBody>
          <a:bodyPr wrap="square" lIns="1016" tIns="1016" rIns="1016" bIns="1016" rtlCol="0" anchor="t"/>
          <a:lstStyle/>
          <a:p>
            <a:pPr algn="l" indent="0" marL="0">
              <a:buNone/>
            </a:pPr>
            <a:r>
              <a:rPr lang="en-US" sz="1400" b="1" dirty="0">
                <a:solidFill>
                  <a:schemeClr val="tx1"/>
                </a:solidFill>
              </a:rPr>
              <a:t>Onboarding &amp; KYC</a:t>
            </a:r>
            <a:endParaRPr lang="en-US" sz="1400" dirty="0"/>
          </a:p>
        </p:txBody>
      </p:sp>
      <p:sp>
        <p:nvSpPr>
          <p:cNvPr id="28" name="Text 26"/>
          <p:cNvSpPr txBox="1"/>
          <p:nvPr/>
        </p:nvSpPr>
        <p:spPr>
          <a:xfrm>
            <a:off x="5148072" y="3657600"/>
            <a:ext cx="1828800" cy="548640"/>
          </a:xfrm>
          <a:prstGeom prst="rect">
            <a:avLst/>
          </a:prstGeom>
          <a:noFill/>
          <a:ln/>
        </p:spPr>
        <p:txBody>
          <a:bodyPr wrap="square" lIns="1016" tIns="1016" rIns="1016" bIns="1016" rtlCol="0" anchor="t"/>
          <a:lstStyle/>
          <a:p>
            <a:pPr algn="l" indent="0" marL="0">
              <a:buNone/>
            </a:pPr>
            <a:r>
              <a:rPr lang="en-US" sz="1200" dirty="0">
                <a:solidFill>
                  <a:schemeClr val="tx2"/>
                </a:solidFill>
              </a:rPr>
              <a:t>Documents, four-eyes</a:t>
            </a:r>
            <a:endParaRPr lang="en-US" sz="1200" dirty="0"/>
          </a:p>
        </p:txBody>
      </p:sp>
      <p:sp>
        <p:nvSpPr>
          <p:cNvPr id="29" name="mod-5"/>
          <p:cNvSpPr/>
          <p:nvPr/>
        </p:nvSpPr>
        <p:spPr>
          <a:xfrm>
            <a:off x="7178040" y="3017520"/>
            <a:ext cx="1965960" cy="1280160"/>
          </a:xfrm>
          <a:prstGeom prst="roundRect">
            <a:avLst>
              <a:gd name="adj" fmla="val 5714"/>
            </a:avLst>
          </a:prstGeom>
          <a:solidFill>
            <a:schemeClr val="accent3">
              <a:alpha val="12000"/>
            </a:schemeClr>
          </a:solidFill>
          <a:ln w="9525">
            <a:solidFill>
              <a:schemeClr val="accent3"/>
            </a:solidFill>
            <a:prstDash val="solid"/>
          </a:ln>
        </p:spPr>
      </p:sp>
      <p:sp>
        <p:nvSpPr>
          <p:cNvPr id="30" name="Text 28"/>
          <p:cNvSpPr txBox="1"/>
          <p:nvPr/>
        </p:nvSpPr>
        <p:spPr>
          <a:xfrm>
            <a:off x="7251192" y="3108960"/>
            <a:ext cx="1828800" cy="502920"/>
          </a:xfrm>
          <a:prstGeom prst="rect">
            <a:avLst/>
          </a:prstGeom>
          <a:noFill/>
          <a:ln/>
        </p:spPr>
        <p:txBody>
          <a:bodyPr wrap="square" lIns="1016" tIns="1016" rIns="1016" bIns="1016" rtlCol="0" anchor="t"/>
          <a:lstStyle/>
          <a:p>
            <a:pPr algn="l" indent="0" marL="0">
              <a:buNone/>
            </a:pPr>
            <a:r>
              <a:rPr lang="en-US" sz="1400" b="1" dirty="0">
                <a:solidFill>
                  <a:schemeClr val="tx1"/>
                </a:solidFill>
              </a:rPr>
              <a:t>Merchant portal</a:t>
            </a:r>
            <a:endParaRPr lang="en-US" sz="1400" dirty="0"/>
          </a:p>
        </p:txBody>
      </p:sp>
      <p:sp>
        <p:nvSpPr>
          <p:cNvPr id="31" name="Text 29"/>
          <p:cNvSpPr txBox="1"/>
          <p:nvPr/>
        </p:nvSpPr>
        <p:spPr>
          <a:xfrm>
            <a:off x="7251192" y="3657600"/>
            <a:ext cx="1828800" cy="548640"/>
          </a:xfrm>
          <a:prstGeom prst="rect">
            <a:avLst/>
          </a:prstGeom>
          <a:noFill/>
          <a:ln/>
        </p:spPr>
        <p:txBody>
          <a:bodyPr wrap="square" lIns="1016" tIns="1016" rIns="1016" bIns="1016" rtlCol="0" anchor="t"/>
          <a:lstStyle/>
          <a:p>
            <a:pPr algn="l" indent="0" marL="0">
              <a:buNone/>
            </a:pPr>
            <a:r>
              <a:rPr lang="en-US" sz="1200" dirty="0">
                <a:solidFill>
                  <a:schemeClr val="tx2"/>
                </a:solidFill>
              </a:rPr>
              <a:t>Account, terms, documents</a:t>
            </a:r>
            <a:endParaRPr lang="en-US" sz="1200" dirty="0"/>
          </a:p>
        </p:txBody>
      </p:sp>
      <p:sp>
        <p:nvSpPr>
          <p:cNvPr id="32" name="mod-6"/>
          <p:cNvSpPr/>
          <p:nvPr/>
        </p:nvSpPr>
        <p:spPr>
          <a:xfrm>
            <a:off x="2971800" y="4480560"/>
            <a:ext cx="1965960" cy="1280160"/>
          </a:xfrm>
          <a:prstGeom prst="roundRect">
            <a:avLst>
              <a:gd name="adj" fmla="val 5714"/>
            </a:avLst>
          </a:prstGeom>
          <a:solidFill>
            <a:schemeClr val="accent2">
              <a:alpha val="12000"/>
            </a:schemeClr>
          </a:solidFill>
          <a:ln w="9525">
            <a:solidFill>
              <a:schemeClr val="accent2"/>
            </a:solidFill>
            <a:prstDash val="solid"/>
          </a:ln>
        </p:spPr>
      </p:sp>
      <p:sp>
        <p:nvSpPr>
          <p:cNvPr id="33" name="Text 31"/>
          <p:cNvSpPr txBox="1"/>
          <p:nvPr/>
        </p:nvSpPr>
        <p:spPr>
          <a:xfrm>
            <a:off x="3044952" y="4572000"/>
            <a:ext cx="1828800" cy="502920"/>
          </a:xfrm>
          <a:prstGeom prst="rect">
            <a:avLst/>
          </a:prstGeom>
          <a:noFill/>
          <a:ln/>
        </p:spPr>
        <p:txBody>
          <a:bodyPr wrap="square" lIns="1016" tIns="1016" rIns="1016" bIns="1016" rtlCol="0" anchor="t"/>
          <a:lstStyle/>
          <a:p>
            <a:pPr algn="l" indent="0" marL="0">
              <a:buNone/>
            </a:pPr>
            <a:r>
              <a:rPr lang="en-US" sz="1400" b="1" dirty="0">
                <a:solidFill>
                  <a:schemeClr val="tx1"/>
                </a:solidFill>
              </a:rPr>
              <a:t>User administration</a:t>
            </a:r>
            <a:endParaRPr lang="en-US" sz="1400" dirty="0"/>
          </a:p>
        </p:txBody>
      </p:sp>
      <p:sp>
        <p:nvSpPr>
          <p:cNvPr id="34" name="Text 32"/>
          <p:cNvSpPr txBox="1"/>
          <p:nvPr/>
        </p:nvSpPr>
        <p:spPr>
          <a:xfrm>
            <a:off x="3044952" y="5120640"/>
            <a:ext cx="1828800" cy="548640"/>
          </a:xfrm>
          <a:prstGeom prst="rect">
            <a:avLst/>
          </a:prstGeom>
          <a:noFill/>
          <a:ln/>
        </p:spPr>
        <p:txBody>
          <a:bodyPr wrap="square" lIns="1016" tIns="1016" rIns="1016" bIns="1016" rtlCol="0" anchor="t"/>
          <a:lstStyle/>
          <a:p>
            <a:pPr algn="l" indent="0" marL="0">
              <a:buNone/>
            </a:pPr>
            <a:r>
              <a:rPr lang="en-US" sz="1200" dirty="0">
                <a:solidFill>
                  <a:schemeClr val="tx2"/>
                </a:solidFill>
              </a:rPr>
              <a:t>Roles, two-factor</a:t>
            </a:r>
            <a:endParaRPr lang="en-US" sz="1200" dirty="0"/>
          </a:p>
        </p:txBody>
      </p:sp>
      <p:sp>
        <p:nvSpPr>
          <p:cNvPr id="35" name="mod-7"/>
          <p:cNvSpPr/>
          <p:nvPr/>
        </p:nvSpPr>
        <p:spPr>
          <a:xfrm>
            <a:off x="5074920" y="4480560"/>
            <a:ext cx="1965960" cy="1280160"/>
          </a:xfrm>
          <a:prstGeom prst="roundRect">
            <a:avLst>
              <a:gd name="adj" fmla="val 5714"/>
            </a:avLst>
          </a:prstGeom>
          <a:solidFill>
            <a:schemeClr val="accent2">
              <a:alpha val="12000"/>
            </a:schemeClr>
          </a:solidFill>
          <a:ln w="9525">
            <a:solidFill>
              <a:schemeClr val="accent2"/>
            </a:solidFill>
            <a:prstDash val="solid"/>
          </a:ln>
        </p:spPr>
      </p:sp>
      <p:sp>
        <p:nvSpPr>
          <p:cNvPr id="36" name="Text 34"/>
          <p:cNvSpPr txBox="1"/>
          <p:nvPr/>
        </p:nvSpPr>
        <p:spPr>
          <a:xfrm>
            <a:off x="5148072" y="4572000"/>
            <a:ext cx="1828800" cy="502920"/>
          </a:xfrm>
          <a:prstGeom prst="rect">
            <a:avLst/>
          </a:prstGeom>
          <a:noFill/>
          <a:ln/>
        </p:spPr>
        <p:txBody>
          <a:bodyPr wrap="square" lIns="1016" tIns="1016" rIns="1016" bIns="1016" rtlCol="0" anchor="t"/>
          <a:lstStyle/>
          <a:p>
            <a:pPr algn="l" indent="0" marL="0">
              <a:buNone/>
            </a:pPr>
            <a:r>
              <a:rPr lang="en-US" sz="1400" b="1" dirty="0">
                <a:solidFill>
                  <a:schemeClr val="tx1"/>
                </a:solidFill>
              </a:rPr>
              <a:t>Audit trail</a:t>
            </a:r>
            <a:endParaRPr lang="en-US" sz="1400" dirty="0"/>
          </a:p>
        </p:txBody>
      </p:sp>
      <p:sp>
        <p:nvSpPr>
          <p:cNvPr id="37" name="Text 35"/>
          <p:cNvSpPr txBox="1"/>
          <p:nvPr/>
        </p:nvSpPr>
        <p:spPr>
          <a:xfrm>
            <a:off x="5148072" y="5120640"/>
            <a:ext cx="1828800" cy="548640"/>
          </a:xfrm>
          <a:prstGeom prst="rect">
            <a:avLst/>
          </a:prstGeom>
          <a:noFill/>
          <a:ln/>
        </p:spPr>
        <p:txBody>
          <a:bodyPr wrap="square" lIns="1016" tIns="1016" rIns="1016" bIns="1016" rtlCol="0" anchor="t"/>
          <a:lstStyle/>
          <a:p>
            <a:pPr algn="l" indent="0" marL="0">
              <a:buNone/>
            </a:pPr>
            <a:r>
              <a:rPr lang="en-US" sz="1200" dirty="0">
                <a:solidFill>
                  <a:schemeClr val="tx2"/>
                </a:solidFill>
              </a:rPr>
              <a:t>Append-only</a:t>
            </a:r>
            <a:endParaRPr lang="en-US" sz="1200" dirty="0"/>
          </a:p>
        </p:txBody>
      </p:sp>
      <p:sp>
        <p:nvSpPr>
          <p:cNvPr id="38" name="mod-8"/>
          <p:cNvSpPr/>
          <p:nvPr/>
        </p:nvSpPr>
        <p:spPr>
          <a:xfrm>
            <a:off x="7178040" y="4480560"/>
            <a:ext cx="1965960" cy="1280160"/>
          </a:xfrm>
          <a:prstGeom prst="roundRect">
            <a:avLst>
              <a:gd name="adj" fmla="val 5714"/>
            </a:avLst>
          </a:prstGeom>
          <a:solidFill>
            <a:schemeClr val="accent2">
              <a:alpha val="12000"/>
            </a:schemeClr>
          </a:solidFill>
          <a:ln w="9525">
            <a:solidFill>
              <a:schemeClr val="accent2"/>
            </a:solidFill>
            <a:prstDash val="solid"/>
          </a:ln>
        </p:spPr>
      </p:sp>
      <p:sp>
        <p:nvSpPr>
          <p:cNvPr id="39" name="Text 37"/>
          <p:cNvSpPr txBox="1"/>
          <p:nvPr/>
        </p:nvSpPr>
        <p:spPr>
          <a:xfrm>
            <a:off x="7251192" y="4572000"/>
            <a:ext cx="1828800" cy="502920"/>
          </a:xfrm>
          <a:prstGeom prst="rect">
            <a:avLst/>
          </a:prstGeom>
          <a:noFill/>
          <a:ln/>
        </p:spPr>
        <p:txBody>
          <a:bodyPr wrap="square" lIns="1016" tIns="1016" rIns="1016" bIns="1016" rtlCol="0" anchor="t"/>
          <a:lstStyle/>
          <a:p>
            <a:pPr algn="l" indent="0" marL="0">
              <a:buNone/>
            </a:pPr>
            <a:r>
              <a:rPr lang="en-US" sz="1400" b="1" dirty="0">
                <a:solidFill>
                  <a:schemeClr val="tx1"/>
                </a:solidFill>
              </a:rPr>
              <a:t>Portal terms</a:t>
            </a:r>
            <a:endParaRPr lang="en-US" sz="1400" dirty="0"/>
          </a:p>
        </p:txBody>
      </p:sp>
      <p:sp>
        <p:nvSpPr>
          <p:cNvPr id="40" name="Text 38"/>
          <p:cNvSpPr txBox="1"/>
          <p:nvPr/>
        </p:nvSpPr>
        <p:spPr>
          <a:xfrm>
            <a:off x="7251192" y="5120640"/>
            <a:ext cx="1828800" cy="548640"/>
          </a:xfrm>
          <a:prstGeom prst="rect">
            <a:avLst/>
          </a:prstGeom>
          <a:noFill/>
          <a:ln/>
        </p:spPr>
        <p:txBody>
          <a:bodyPr wrap="square" lIns="1016" tIns="1016" rIns="1016" bIns="1016" rtlCol="0" anchor="t"/>
          <a:lstStyle/>
          <a:p>
            <a:pPr algn="l" indent="0" marL="0">
              <a:buNone/>
            </a:pPr>
            <a:r>
              <a:rPr lang="en-US" sz="1200" dirty="0">
                <a:solidFill>
                  <a:schemeClr val="tx2"/>
                </a:solidFill>
              </a:rPr>
              <a:t>Versions, acceptances</a:t>
            </a:r>
            <a:endParaRPr lang="en-US" sz="1200" dirty="0"/>
          </a:p>
        </p:txBody>
      </p:sp>
      <p:sp>
        <p:nvSpPr>
          <p:cNvPr id="41" name="Text 39"/>
          <p:cNvSpPr txBox="1"/>
          <p:nvPr/>
        </p:nvSpPr>
        <p:spPr>
          <a:xfrm>
            <a:off x="2971800" y="5897880"/>
            <a:ext cx="6217920" cy="365760"/>
          </a:xfrm>
          <a:prstGeom prst="rect">
            <a:avLst/>
          </a:prstGeom>
          <a:noFill/>
          <a:ln/>
        </p:spPr>
        <p:txBody>
          <a:bodyPr wrap="square" lIns="0" tIns="0" rIns="0" bIns="0" rtlCol="0" anchor="t"/>
          <a:lstStyle/>
          <a:p>
            <a:pPr algn="l" indent="0" marL="0">
              <a:buNone/>
            </a:pPr>
            <a:r>
              <a:rPr lang="en-US" sz="1200" i="1" dirty="0">
                <a:solidFill>
                  <a:schemeClr val="tx2"/>
                </a:solidFill>
              </a:rPr>
              <a:t>Blue: MIPS staff (admin, finance) · ochre: merchants and applicants</a:t>
            </a:r>
            <a:endParaRPr lang="en-US" sz="1200" dirty="0"/>
          </a:p>
        </p:txBody>
      </p:sp>
      <p:sp>
        <p:nvSpPr>
          <p:cNvPr id="42" name="out-0"/>
          <p:cNvSpPr/>
          <p:nvPr/>
        </p:nvSpPr>
        <p:spPr>
          <a:xfrm>
            <a:off x="9692640" y="1554480"/>
            <a:ext cx="2011680" cy="713232"/>
          </a:xfrm>
          <a:prstGeom prst="roundRect">
            <a:avLst>
              <a:gd name="adj" fmla="val 10256"/>
            </a:avLst>
          </a:prstGeom>
          <a:solidFill>
            <a:schemeClr val="bg2"/>
          </a:solidFill>
          <a:ln w="9525">
            <a:solidFill>
              <a:schemeClr val="bg2"/>
            </a:solidFill>
            <a:prstDash val="solid"/>
          </a:ln>
        </p:spPr>
      </p:sp>
      <p:sp>
        <p:nvSpPr>
          <p:cNvPr id="43" name="Text 41"/>
          <p:cNvSpPr txBox="1"/>
          <p:nvPr/>
        </p:nvSpPr>
        <p:spPr>
          <a:xfrm>
            <a:off x="9738360" y="1554480"/>
            <a:ext cx="1920240" cy="713232"/>
          </a:xfrm>
          <a:prstGeom prst="rect">
            <a:avLst/>
          </a:prstGeom>
          <a:noFill/>
          <a:ln/>
        </p:spPr>
        <p:txBody>
          <a:bodyPr wrap="square" lIns="1016" tIns="1016" rIns="1016" bIns="1016" rtlCol="0" anchor="ctr"/>
          <a:lstStyle/>
          <a:p>
            <a:pPr algn="l" indent="0" marL="0">
              <a:buNone/>
            </a:pPr>
            <a:r>
              <a:rPr lang="en-US" sz="1300" dirty="0">
                <a:solidFill>
                  <a:schemeClr val="tx1"/>
                </a:solidFill>
              </a:rPr>
              <a:t>Monthly report, Excel</a:t>
            </a:r>
            <a:endParaRPr lang="en-US" sz="1300" dirty="0"/>
          </a:p>
        </p:txBody>
      </p:sp>
      <p:sp>
        <p:nvSpPr>
          <p:cNvPr id="44" name="out-1"/>
          <p:cNvSpPr/>
          <p:nvPr/>
        </p:nvSpPr>
        <p:spPr>
          <a:xfrm>
            <a:off x="9692640" y="2432304"/>
            <a:ext cx="2011680" cy="713232"/>
          </a:xfrm>
          <a:prstGeom prst="roundRect">
            <a:avLst>
              <a:gd name="adj" fmla="val 10256"/>
            </a:avLst>
          </a:prstGeom>
          <a:solidFill>
            <a:schemeClr val="bg2"/>
          </a:solidFill>
          <a:ln w="9525">
            <a:solidFill>
              <a:schemeClr val="bg2"/>
            </a:solidFill>
            <a:prstDash val="solid"/>
          </a:ln>
        </p:spPr>
      </p:sp>
      <p:sp>
        <p:nvSpPr>
          <p:cNvPr id="45" name="Text 43"/>
          <p:cNvSpPr txBox="1"/>
          <p:nvPr/>
        </p:nvSpPr>
        <p:spPr>
          <a:xfrm>
            <a:off x="9738360" y="2432304"/>
            <a:ext cx="1920240" cy="713232"/>
          </a:xfrm>
          <a:prstGeom prst="rect">
            <a:avLst/>
          </a:prstGeom>
          <a:noFill/>
          <a:ln/>
        </p:spPr>
        <p:txBody>
          <a:bodyPr wrap="square" lIns="1016" tIns="1016" rIns="1016" bIns="1016" rtlCol="0" anchor="ctr"/>
          <a:lstStyle/>
          <a:p>
            <a:pPr algn="l" indent="0" marL="0">
              <a:buNone/>
            </a:pPr>
            <a:r>
              <a:rPr lang="en-US" sz="1300" dirty="0">
                <a:solidFill>
                  <a:schemeClr val="tx1"/>
                </a:solidFill>
              </a:rPr>
              <a:t>Invoices (VAT 15%)</a:t>
            </a:r>
            <a:endParaRPr lang="en-US" sz="1300" dirty="0"/>
          </a:p>
        </p:txBody>
      </p:sp>
      <p:sp>
        <p:nvSpPr>
          <p:cNvPr id="46" name="out-2"/>
          <p:cNvSpPr/>
          <p:nvPr/>
        </p:nvSpPr>
        <p:spPr>
          <a:xfrm>
            <a:off x="9692640" y="3310128"/>
            <a:ext cx="2011680" cy="713232"/>
          </a:xfrm>
          <a:prstGeom prst="roundRect">
            <a:avLst>
              <a:gd name="adj" fmla="val 10256"/>
            </a:avLst>
          </a:prstGeom>
          <a:solidFill>
            <a:schemeClr val="bg2"/>
          </a:solidFill>
          <a:ln w="9525">
            <a:solidFill>
              <a:schemeClr val="bg2"/>
            </a:solidFill>
            <a:prstDash val="solid"/>
          </a:ln>
        </p:spPr>
      </p:sp>
      <p:sp>
        <p:nvSpPr>
          <p:cNvPr id="47" name="Text 45"/>
          <p:cNvSpPr txBox="1"/>
          <p:nvPr/>
        </p:nvSpPr>
        <p:spPr>
          <a:xfrm>
            <a:off x="9738360" y="3310128"/>
            <a:ext cx="1920240" cy="713232"/>
          </a:xfrm>
          <a:prstGeom prst="rect">
            <a:avLst/>
          </a:prstGeom>
          <a:noFill/>
          <a:ln/>
        </p:spPr>
        <p:txBody>
          <a:bodyPr wrap="square" lIns="1016" tIns="1016" rIns="1016" bIns="1016" rtlCol="0" anchor="ctr"/>
          <a:lstStyle/>
          <a:p>
            <a:pPr algn="l" indent="0" marL="0">
              <a:buNone/>
            </a:pPr>
            <a:r>
              <a:rPr lang="en-US" sz="1300" dirty="0">
                <a:solidFill>
                  <a:schemeClr val="tx1"/>
                </a:solidFill>
              </a:rPr>
              <a:t>Acquirer claims</a:t>
            </a:r>
            <a:endParaRPr lang="en-US" sz="1300" dirty="0"/>
          </a:p>
        </p:txBody>
      </p:sp>
      <p:sp>
        <p:nvSpPr>
          <p:cNvPr id="48" name="out-3"/>
          <p:cNvSpPr/>
          <p:nvPr/>
        </p:nvSpPr>
        <p:spPr>
          <a:xfrm>
            <a:off x="9692640" y="4187952"/>
            <a:ext cx="2011680" cy="713232"/>
          </a:xfrm>
          <a:prstGeom prst="roundRect">
            <a:avLst>
              <a:gd name="adj" fmla="val 10256"/>
            </a:avLst>
          </a:prstGeom>
          <a:solidFill>
            <a:schemeClr val="bg2"/>
          </a:solidFill>
          <a:ln w="9525">
            <a:solidFill>
              <a:schemeClr val="bg2"/>
            </a:solidFill>
            <a:prstDash val="solid"/>
          </a:ln>
        </p:spPr>
      </p:sp>
      <p:sp>
        <p:nvSpPr>
          <p:cNvPr id="49" name="Text 47"/>
          <p:cNvSpPr txBox="1"/>
          <p:nvPr/>
        </p:nvSpPr>
        <p:spPr>
          <a:xfrm>
            <a:off x="9738360" y="4187952"/>
            <a:ext cx="1920240" cy="713232"/>
          </a:xfrm>
          <a:prstGeom prst="rect">
            <a:avLst/>
          </a:prstGeom>
          <a:noFill/>
          <a:ln/>
        </p:spPr>
        <p:txBody>
          <a:bodyPr wrap="square" lIns="1016" tIns="1016" rIns="1016" bIns="1016" rtlCol="0" anchor="ctr"/>
          <a:lstStyle/>
          <a:p>
            <a:pPr algn="l" indent="0" marL="0">
              <a:buNone/>
            </a:pPr>
            <a:r>
              <a:rPr lang="en-US" sz="1300" dirty="0">
                <a:solidFill>
                  <a:schemeClr val="tx1"/>
                </a:solidFill>
              </a:rPr>
              <a:t>Approved merchant</a:t>
            </a:r>
            <a:endParaRPr lang="en-US" sz="1300" dirty="0"/>
          </a:p>
        </p:txBody>
      </p:sp>
      <p:sp>
        <p:nvSpPr>
          <p:cNvPr id="50" name="out-4"/>
          <p:cNvSpPr/>
          <p:nvPr/>
        </p:nvSpPr>
        <p:spPr>
          <a:xfrm>
            <a:off x="9692640" y="5065776"/>
            <a:ext cx="2011680" cy="713232"/>
          </a:xfrm>
          <a:prstGeom prst="roundRect">
            <a:avLst>
              <a:gd name="adj" fmla="val 10256"/>
            </a:avLst>
          </a:prstGeom>
          <a:solidFill>
            <a:schemeClr val="bg2"/>
          </a:solidFill>
          <a:ln w="9525">
            <a:solidFill>
              <a:schemeClr val="bg2"/>
            </a:solidFill>
            <a:prstDash val="solid"/>
          </a:ln>
        </p:spPr>
      </p:sp>
      <p:sp>
        <p:nvSpPr>
          <p:cNvPr id="51" name="Text 49"/>
          <p:cNvSpPr txBox="1"/>
          <p:nvPr/>
        </p:nvSpPr>
        <p:spPr>
          <a:xfrm>
            <a:off x="9738360" y="5065776"/>
            <a:ext cx="1920240" cy="713232"/>
          </a:xfrm>
          <a:prstGeom prst="rect">
            <a:avLst/>
          </a:prstGeom>
          <a:noFill/>
          <a:ln/>
        </p:spPr>
        <p:txBody>
          <a:bodyPr wrap="square" lIns="1016" tIns="1016" rIns="1016" bIns="1016" rtlCol="0" anchor="ctr"/>
          <a:lstStyle/>
          <a:p>
            <a:pPr algn="l" indent="0" marL="0">
              <a:buNone/>
            </a:pPr>
            <a:r>
              <a:rPr lang="en-US" sz="1300" dirty="0">
                <a:solidFill>
                  <a:schemeClr val="tx1"/>
                </a:solidFill>
              </a:rPr>
              <a:t>Audit evidence</a:t>
            </a:r>
            <a:endParaRPr lang="en-US" sz="1300" dirty="0"/>
          </a:p>
        </p:txBody>
      </p:sp>
      <p:sp>
        <p:nvSpPr>
          <p:cNvPr id="52" name="Shape 50"/>
          <p:cNvSpPr/>
          <p:nvPr/>
        </p:nvSpPr>
        <p:spPr>
          <a:xfrm>
            <a:off x="2560320" y="3566160"/>
            <a:ext cx="320040" cy="0"/>
          </a:xfrm>
          <a:prstGeom prst="line">
            <a:avLst/>
          </a:prstGeom>
          <a:noFill/>
          <a:ln w="19050">
            <a:solidFill>
              <a:schemeClr val="tx2"/>
            </a:solidFill>
            <a:prstDash val="solid"/>
            <a:tailEnd type="triangle"/>
          </a:ln>
        </p:spPr>
      </p:sp>
      <p:sp>
        <p:nvSpPr>
          <p:cNvPr id="53" name="Shape 51"/>
          <p:cNvSpPr/>
          <p:nvPr/>
        </p:nvSpPr>
        <p:spPr>
          <a:xfrm>
            <a:off x="9281160" y="3566160"/>
            <a:ext cx="320040" cy="0"/>
          </a:xfrm>
          <a:prstGeom prst="line">
            <a:avLst/>
          </a:prstGeom>
          <a:noFill/>
          <a:ln w="19050">
            <a:solidFill>
              <a:schemeClr val="tx2"/>
            </a:solidFill>
            <a:prstDash val="solid"/>
            <a:tailEnd type="triangle"/>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47120" cy="731520"/>
          </a:xfrm>
          <a:prstGeom prst="rect">
            <a:avLst/>
          </a:prstGeom>
          <a:noFill/>
          <a:ln/>
        </p:spPr>
        <p:txBody>
          <a:bodyPr wrap="square" lIns="0" tIns="0" rIns="0" bIns="0" rtlCol="0" anchor="ctr"/>
          <a:lstStyle/>
          <a:p>
            <a:pPr algn="l" indent="0" marL="0">
              <a:buNone/>
            </a:pPr>
            <a:r>
              <a:rPr lang="en-US" sz="3000" b="1" dirty="0">
                <a:solidFill>
                  <a:schemeClr val="tx1"/>
                </a:solidFill>
              </a:rPr>
              <a:t>Merchant onboarding: nine steps, three hard gates</a:t>
            </a:r>
            <a:endParaRPr lang="en-US" sz="3000" dirty="0"/>
          </a:p>
        </p:txBody>
      </p:sp>
      <p:sp>
        <p:nvSpPr>
          <p:cNvPr id="3" name="step-0"/>
          <p:cNvSpPr/>
          <p:nvPr/>
        </p:nvSpPr>
        <p:spPr>
          <a:xfrm>
            <a:off x="457200" y="1463040"/>
            <a:ext cx="2011680" cy="1554480"/>
          </a:xfrm>
          <a:prstGeom prst="roundRect">
            <a:avLst>
              <a:gd name="adj" fmla="val 4706"/>
            </a:avLst>
          </a:prstGeom>
          <a:solidFill>
            <a:schemeClr val="accent3">
              <a:alpha val="10000"/>
            </a:schemeClr>
          </a:solidFill>
          <a:ln w="9525">
            <a:solidFill>
              <a:schemeClr val="accent3"/>
            </a:solidFill>
            <a:prstDash val="solid"/>
          </a:ln>
        </p:spPr>
      </p:sp>
      <p:sp>
        <p:nvSpPr>
          <p:cNvPr id="4" name="Text 2"/>
          <p:cNvSpPr txBox="1"/>
          <p:nvPr/>
        </p:nvSpPr>
        <p:spPr>
          <a:xfrm>
            <a:off x="548640" y="1536192"/>
            <a:ext cx="548640" cy="411480"/>
          </a:xfrm>
          <a:prstGeom prst="rect">
            <a:avLst/>
          </a:prstGeom>
          <a:noFill/>
          <a:ln/>
        </p:spPr>
        <p:txBody>
          <a:bodyPr wrap="square" lIns="1016" tIns="1016" rIns="1016" bIns="1016" rtlCol="0" anchor="t"/>
          <a:lstStyle/>
          <a:p>
            <a:pPr algn="l" indent="0" marL="0">
              <a:buNone/>
            </a:pPr>
            <a:r>
              <a:rPr lang="en-US" sz="2000" b="1" dirty="0">
                <a:solidFill>
                  <a:schemeClr val="accent3"/>
                </a:solidFill>
                <a:latin typeface="Cambria" pitchFamily="34" charset="0"/>
                <a:ea typeface="Cambria" pitchFamily="34" charset="-122"/>
                <a:cs typeface="Cambria" pitchFamily="34" charset="-120"/>
              </a:rPr>
              <a:t>1</a:t>
            </a:r>
            <a:endParaRPr lang="en-US" sz="2000" dirty="0"/>
          </a:p>
        </p:txBody>
      </p:sp>
      <p:sp>
        <p:nvSpPr>
          <p:cNvPr id="5" name="Text 3"/>
          <p:cNvSpPr txBox="1"/>
          <p:nvPr/>
        </p:nvSpPr>
        <p:spPr>
          <a:xfrm>
            <a:off x="548640" y="1965960"/>
            <a:ext cx="1828800" cy="548640"/>
          </a:xfrm>
          <a:prstGeom prst="rect">
            <a:avLst/>
          </a:prstGeom>
          <a:noFill/>
          <a:ln/>
        </p:spPr>
        <p:txBody>
          <a:bodyPr wrap="square" lIns="1016" tIns="1016" rIns="1016" bIns="1016" rtlCol="0" anchor="t"/>
          <a:lstStyle/>
          <a:p>
            <a:pPr algn="l" indent="0" marL="0">
              <a:buNone/>
            </a:pPr>
            <a:r>
              <a:rPr lang="en-US" sz="1500" b="1" dirty="0">
                <a:solidFill>
                  <a:schemeClr val="tx1"/>
                </a:solidFill>
              </a:rPr>
              <a:t>Account</a:t>
            </a:r>
            <a:endParaRPr lang="en-US" sz="1500" dirty="0"/>
          </a:p>
        </p:txBody>
      </p:sp>
      <p:sp>
        <p:nvSpPr>
          <p:cNvPr id="6" name="Text 4"/>
          <p:cNvSpPr txBox="1"/>
          <p:nvPr/>
        </p:nvSpPr>
        <p:spPr>
          <a:xfrm>
            <a:off x="548640" y="2468880"/>
            <a:ext cx="1828800" cy="457200"/>
          </a:xfrm>
          <a:prstGeom prst="rect">
            <a:avLst/>
          </a:prstGeom>
          <a:noFill/>
          <a:ln/>
        </p:spPr>
        <p:txBody>
          <a:bodyPr wrap="square" lIns="1016" tIns="1016" rIns="1016" bIns="1016" rtlCol="0" anchor="t"/>
          <a:lstStyle/>
          <a:p>
            <a:pPr algn="l" indent="0" marL="0">
              <a:buNone/>
            </a:pPr>
            <a:r>
              <a:rPr lang="en-US" sz="1200" dirty="0">
                <a:solidFill>
                  <a:schemeClr val="tx2"/>
                </a:solidFill>
              </a:rPr>
              <a:t>email verified</a:t>
            </a:r>
            <a:endParaRPr lang="en-US" sz="1200" dirty="0"/>
          </a:p>
        </p:txBody>
      </p:sp>
      <p:sp>
        <p:nvSpPr>
          <p:cNvPr id="7" name="Shape 5"/>
          <p:cNvSpPr/>
          <p:nvPr/>
        </p:nvSpPr>
        <p:spPr>
          <a:xfrm>
            <a:off x="2487168" y="2240280"/>
            <a:ext cx="237744" cy="0"/>
          </a:xfrm>
          <a:prstGeom prst="line">
            <a:avLst/>
          </a:prstGeom>
          <a:noFill/>
          <a:ln w="19050">
            <a:solidFill>
              <a:schemeClr val="tx2"/>
            </a:solidFill>
            <a:prstDash val="solid"/>
            <a:tailEnd type="triangle"/>
          </a:ln>
        </p:spPr>
      </p:sp>
      <p:sp>
        <p:nvSpPr>
          <p:cNvPr id="8" name="step-1"/>
          <p:cNvSpPr/>
          <p:nvPr/>
        </p:nvSpPr>
        <p:spPr>
          <a:xfrm>
            <a:off x="2743200" y="1463040"/>
            <a:ext cx="2011680" cy="1554480"/>
          </a:xfrm>
          <a:prstGeom prst="roundRect">
            <a:avLst>
              <a:gd name="adj" fmla="val 4706"/>
            </a:avLst>
          </a:prstGeom>
          <a:solidFill>
            <a:schemeClr val="accent1">
              <a:alpha val="18000"/>
            </a:schemeClr>
          </a:solidFill>
          <a:ln w="25400">
            <a:solidFill>
              <a:schemeClr val="accent1"/>
            </a:solidFill>
            <a:prstDash val="solid"/>
          </a:ln>
        </p:spPr>
      </p:sp>
      <p:sp>
        <p:nvSpPr>
          <p:cNvPr id="9" name="Text 7"/>
          <p:cNvSpPr txBox="1"/>
          <p:nvPr/>
        </p:nvSpPr>
        <p:spPr>
          <a:xfrm>
            <a:off x="2834640" y="1536192"/>
            <a:ext cx="548640" cy="411480"/>
          </a:xfrm>
          <a:prstGeom prst="rect">
            <a:avLst/>
          </a:prstGeom>
          <a:noFill/>
          <a:ln/>
        </p:spPr>
        <p:txBody>
          <a:bodyPr wrap="square" lIns="1016" tIns="1016" rIns="1016" bIns="1016" rtlCol="0" anchor="t"/>
          <a:lstStyle/>
          <a:p>
            <a:pPr algn="l" indent="0" marL="0">
              <a:buNone/>
            </a:pPr>
            <a:r>
              <a:rPr lang="en-US" sz="2000" b="1" dirty="0">
                <a:solidFill>
                  <a:schemeClr val="accent3"/>
                </a:solidFill>
                <a:latin typeface="Cambria" pitchFamily="34" charset="0"/>
                <a:ea typeface="Cambria" pitchFamily="34" charset="-122"/>
                <a:cs typeface="Cambria" pitchFamily="34" charset="-120"/>
              </a:rPr>
              <a:t>2</a:t>
            </a:r>
            <a:endParaRPr lang="en-US" sz="2000" dirty="0"/>
          </a:p>
        </p:txBody>
      </p:sp>
      <p:sp>
        <p:nvSpPr>
          <p:cNvPr id="10" name="Text 8"/>
          <p:cNvSpPr txBox="1"/>
          <p:nvPr/>
        </p:nvSpPr>
        <p:spPr>
          <a:xfrm>
            <a:off x="2834640" y="1965960"/>
            <a:ext cx="1828800" cy="548640"/>
          </a:xfrm>
          <a:prstGeom prst="rect">
            <a:avLst/>
          </a:prstGeom>
          <a:noFill/>
          <a:ln/>
        </p:spPr>
        <p:txBody>
          <a:bodyPr wrap="square" lIns="1016" tIns="1016" rIns="1016" bIns="1016" rtlCol="0" anchor="t"/>
          <a:lstStyle/>
          <a:p>
            <a:pPr algn="l" indent="0" marL="0">
              <a:buNone/>
            </a:pPr>
            <a:r>
              <a:rPr lang="en-US" sz="1500" b="1" dirty="0">
                <a:solidFill>
                  <a:schemeClr val="tx1"/>
                </a:solidFill>
              </a:rPr>
              <a:t>Two-factor</a:t>
            </a:r>
            <a:endParaRPr lang="en-US" sz="1500" dirty="0"/>
          </a:p>
        </p:txBody>
      </p:sp>
      <p:sp>
        <p:nvSpPr>
          <p:cNvPr id="11" name="Text 9"/>
          <p:cNvSpPr txBox="1"/>
          <p:nvPr/>
        </p:nvSpPr>
        <p:spPr>
          <a:xfrm>
            <a:off x="2834640" y="2468880"/>
            <a:ext cx="1828800" cy="457200"/>
          </a:xfrm>
          <a:prstGeom prst="rect">
            <a:avLst/>
          </a:prstGeom>
          <a:noFill/>
          <a:ln/>
        </p:spPr>
        <p:txBody>
          <a:bodyPr wrap="square" lIns="1016" tIns="1016" rIns="1016" bIns="1016" rtlCol="0" anchor="t"/>
          <a:lstStyle/>
          <a:p>
            <a:pPr algn="l" indent="0" marL="0">
              <a:buNone/>
            </a:pPr>
            <a:r>
              <a:rPr lang="en-US" sz="1200" dirty="0">
                <a:solidFill>
                  <a:schemeClr val="tx2"/>
                </a:solidFill>
              </a:rPr>
              <a:t>mandatory</a:t>
            </a:r>
            <a:endParaRPr lang="en-US" sz="1200" dirty="0"/>
          </a:p>
        </p:txBody>
      </p:sp>
      <p:sp>
        <p:nvSpPr>
          <p:cNvPr id="12" name="Shape 10"/>
          <p:cNvSpPr/>
          <p:nvPr/>
        </p:nvSpPr>
        <p:spPr>
          <a:xfrm>
            <a:off x="4773168" y="2240280"/>
            <a:ext cx="237744" cy="0"/>
          </a:xfrm>
          <a:prstGeom prst="line">
            <a:avLst/>
          </a:prstGeom>
          <a:noFill/>
          <a:ln w="19050">
            <a:solidFill>
              <a:schemeClr val="tx2"/>
            </a:solidFill>
            <a:prstDash val="solid"/>
            <a:tailEnd type="triangle"/>
          </a:ln>
        </p:spPr>
      </p:sp>
      <p:sp>
        <p:nvSpPr>
          <p:cNvPr id="13" name="step-2"/>
          <p:cNvSpPr/>
          <p:nvPr/>
        </p:nvSpPr>
        <p:spPr>
          <a:xfrm>
            <a:off x="5029200" y="1463040"/>
            <a:ext cx="2011680" cy="1554480"/>
          </a:xfrm>
          <a:prstGeom prst="roundRect">
            <a:avLst>
              <a:gd name="adj" fmla="val 4706"/>
            </a:avLst>
          </a:prstGeom>
          <a:solidFill>
            <a:schemeClr val="accent1">
              <a:alpha val="18000"/>
            </a:schemeClr>
          </a:solidFill>
          <a:ln w="25400">
            <a:solidFill>
              <a:schemeClr val="accent1"/>
            </a:solidFill>
            <a:prstDash val="solid"/>
          </a:ln>
        </p:spPr>
      </p:sp>
      <p:sp>
        <p:nvSpPr>
          <p:cNvPr id="14" name="Text 12"/>
          <p:cNvSpPr txBox="1"/>
          <p:nvPr/>
        </p:nvSpPr>
        <p:spPr>
          <a:xfrm>
            <a:off x="5120640" y="1536192"/>
            <a:ext cx="548640" cy="411480"/>
          </a:xfrm>
          <a:prstGeom prst="rect">
            <a:avLst/>
          </a:prstGeom>
          <a:noFill/>
          <a:ln/>
        </p:spPr>
        <p:txBody>
          <a:bodyPr wrap="square" lIns="1016" tIns="1016" rIns="1016" bIns="1016" rtlCol="0" anchor="t"/>
          <a:lstStyle/>
          <a:p>
            <a:pPr algn="l" indent="0" marL="0">
              <a:buNone/>
            </a:pPr>
            <a:r>
              <a:rPr lang="en-US" sz="2000" b="1" dirty="0">
                <a:solidFill>
                  <a:schemeClr val="accent3"/>
                </a:solidFill>
                <a:latin typeface="Cambria" pitchFamily="34" charset="0"/>
                <a:ea typeface="Cambria" pitchFamily="34" charset="-122"/>
                <a:cs typeface="Cambria" pitchFamily="34" charset="-120"/>
              </a:rPr>
              <a:t>3</a:t>
            </a:r>
            <a:endParaRPr lang="en-US" sz="2000" dirty="0"/>
          </a:p>
        </p:txBody>
      </p:sp>
      <p:sp>
        <p:nvSpPr>
          <p:cNvPr id="15" name="Text 13"/>
          <p:cNvSpPr txBox="1"/>
          <p:nvPr/>
        </p:nvSpPr>
        <p:spPr>
          <a:xfrm>
            <a:off x="5120640" y="1965960"/>
            <a:ext cx="1828800" cy="548640"/>
          </a:xfrm>
          <a:prstGeom prst="rect">
            <a:avLst/>
          </a:prstGeom>
          <a:noFill/>
          <a:ln/>
        </p:spPr>
        <p:txBody>
          <a:bodyPr wrap="square" lIns="1016" tIns="1016" rIns="1016" bIns="1016" rtlCol="0" anchor="t"/>
          <a:lstStyle/>
          <a:p>
            <a:pPr algn="l" indent="0" marL="0">
              <a:buNone/>
            </a:pPr>
            <a:r>
              <a:rPr lang="en-US" sz="1500" b="1" dirty="0">
                <a:solidFill>
                  <a:schemeClr val="tx1"/>
                </a:solidFill>
              </a:rPr>
              <a:t>Terms of use</a:t>
            </a:r>
            <a:endParaRPr lang="en-US" sz="1500" dirty="0"/>
          </a:p>
        </p:txBody>
      </p:sp>
      <p:sp>
        <p:nvSpPr>
          <p:cNvPr id="16" name="Text 14"/>
          <p:cNvSpPr txBox="1"/>
          <p:nvPr/>
        </p:nvSpPr>
        <p:spPr>
          <a:xfrm>
            <a:off x="5120640" y="2468880"/>
            <a:ext cx="1828800" cy="457200"/>
          </a:xfrm>
          <a:prstGeom prst="rect">
            <a:avLst/>
          </a:prstGeom>
          <a:noFill/>
          <a:ln/>
        </p:spPr>
        <p:txBody>
          <a:bodyPr wrap="square" lIns="1016" tIns="1016" rIns="1016" bIns="1016" rtlCol="0" anchor="t"/>
          <a:lstStyle/>
          <a:p>
            <a:pPr algn="l" indent="0" marL="0">
              <a:buNone/>
            </a:pPr>
            <a:r>
              <a:rPr lang="en-US" sz="1200" dirty="0">
                <a:solidFill>
                  <a:schemeClr val="tx2"/>
                </a:solidFill>
              </a:rPr>
              <a:t>current version</a:t>
            </a:r>
            <a:endParaRPr lang="en-US" sz="1200" dirty="0"/>
          </a:p>
        </p:txBody>
      </p:sp>
      <p:sp>
        <p:nvSpPr>
          <p:cNvPr id="17" name="Shape 15"/>
          <p:cNvSpPr/>
          <p:nvPr/>
        </p:nvSpPr>
        <p:spPr>
          <a:xfrm>
            <a:off x="7059168" y="2240280"/>
            <a:ext cx="237744" cy="0"/>
          </a:xfrm>
          <a:prstGeom prst="line">
            <a:avLst/>
          </a:prstGeom>
          <a:noFill/>
          <a:ln w="19050">
            <a:solidFill>
              <a:schemeClr val="tx2"/>
            </a:solidFill>
            <a:prstDash val="solid"/>
            <a:tailEnd type="triangle"/>
          </a:ln>
        </p:spPr>
      </p:sp>
      <p:sp>
        <p:nvSpPr>
          <p:cNvPr id="18" name="step-3"/>
          <p:cNvSpPr/>
          <p:nvPr/>
        </p:nvSpPr>
        <p:spPr>
          <a:xfrm>
            <a:off x="7315200" y="1463040"/>
            <a:ext cx="2011680" cy="1554480"/>
          </a:xfrm>
          <a:prstGeom prst="roundRect">
            <a:avLst>
              <a:gd name="adj" fmla="val 4706"/>
            </a:avLst>
          </a:prstGeom>
          <a:solidFill>
            <a:schemeClr val="accent3">
              <a:alpha val="10000"/>
            </a:schemeClr>
          </a:solidFill>
          <a:ln w="9525">
            <a:solidFill>
              <a:schemeClr val="accent3"/>
            </a:solidFill>
            <a:prstDash val="solid"/>
          </a:ln>
        </p:spPr>
      </p:sp>
      <p:sp>
        <p:nvSpPr>
          <p:cNvPr id="19" name="Text 17"/>
          <p:cNvSpPr txBox="1"/>
          <p:nvPr/>
        </p:nvSpPr>
        <p:spPr>
          <a:xfrm>
            <a:off x="7406640" y="1536192"/>
            <a:ext cx="548640" cy="411480"/>
          </a:xfrm>
          <a:prstGeom prst="rect">
            <a:avLst/>
          </a:prstGeom>
          <a:noFill/>
          <a:ln/>
        </p:spPr>
        <p:txBody>
          <a:bodyPr wrap="square" lIns="1016" tIns="1016" rIns="1016" bIns="1016" rtlCol="0" anchor="t"/>
          <a:lstStyle/>
          <a:p>
            <a:pPr algn="l" indent="0" marL="0">
              <a:buNone/>
            </a:pPr>
            <a:r>
              <a:rPr lang="en-US" sz="2000" b="1" dirty="0">
                <a:solidFill>
                  <a:schemeClr val="accent3"/>
                </a:solidFill>
                <a:latin typeface="Cambria" pitchFamily="34" charset="0"/>
                <a:ea typeface="Cambria" pitchFamily="34" charset="-122"/>
                <a:cs typeface="Cambria" pitchFamily="34" charset="-120"/>
              </a:rPr>
              <a:t>4</a:t>
            </a:r>
            <a:endParaRPr lang="en-US" sz="2000" dirty="0"/>
          </a:p>
        </p:txBody>
      </p:sp>
      <p:sp>
        <p:nvSpPr>
          <p:cNvPr id="20" name="Text 18"/>
          <p:cNvSpPr txBox="1"/>
          <p:nvPr/>
        </p:nvSpPr>
        <p:spPr>
          <a:xfrm>
            <a:off x="7406640" y="1965960"/>
            <a:ext cx="1828800" cy="548640"/>
          </a:xfrm>
          <a:prstGeom prst="rect">
            <a:avLst/>
          </a:prstGeom>
          <a:noFill/>
          <a:ln/>
        </p:spPr>
        <p:txBody>
          <a:bodyPr wrap="square" lIns="1016" tIns="1016" rIns="1016" bIns="1016" rtlCol="0" anchor="t"/>
          <a:lstStyle/>
          <a:p>
            <a:pPr algn="l" indent="0" marL="0">
              <a:buNone/>
            </a:pPr>
            <a:r>
              <a:rPr lang="en-US" sz="1500" b="1" dirty="0">
                <a:solidFill>
                  <a:schemeClr val="tx1"/>
                </a:solidFill>
              </a:rPr>
              <a:t>Pre-qualification</a:t>
            </a:r>
            <a:endParaRPr lang="en-US" sz="1500" dirty="0"/>
          </a:p>
        </p:txBody>
      </p:sp>
      <p:sp>
        <p:nvSpPr>
          <p:cNvPr id="21" name="Text 19"/>
          <p:cNvSpPr txBox="1"/>
          <p:nvPr/>
        </p:nvSpPr>
        <p:spPr>
          <a:xfrm>
            <a:off x="7406640" y="2468880"/>
            <a:ext cx="1828800" cy="457200"/>
          </a:xfrm>
          <a:prstGeom prst="rect">
            <a:avLst/>
          </a:prstGeom>
          <a:noFill/>
          <a:ln/>
        </p:spPr>
        <p:txBody>
          <a:bodyPr wrap="square" lIns="1016" tIns="1016" rIns="1016" bIns="1016" rtlCol="0" anchor="t"/>
          <a:lstStyle/>
          <a:p>
            <a:pPr algn="l" indent="0" marL="0">
              <a:buNone/>
            </a:pPr>
            <a:r>
              <a:rPr lang="en-US" sz="1200" dirty="0">
                <a:solidFill>
                  <a:schemeClr val="tx2"/>
                </a:solidFill>
              </a:rPr>
              <a:t>company, volumes</a:t>
            </a:r>
            <a:endParaRPr lang="en-US" sz="1200" dirty="0"/>
          </a:p>
        </p:txBody>
      </p:sp>
      <p:sp>
        <p:nvSpPr>
          <p:cNvPr id="22" name="Shape 20"/>
          <p:cNvSpPr/>
          <p:nvPr/>
        </p:nvSpPr>
        <p:spPr>
          <a:xfrm>
            <a:off x="9345168" y="2240280"/>
            <a:ext cx="237744" cy="0"/>
          </a:xfrm>
          <a:prstGeom prst="line">
            <a:avLst/>
          </a:prstGeom>
          <a:noFill/>
          <a:ln w="19050">
            <a:solidFill>
              <a:schemeClr val="tx2"/>
            </a:solidFill>
            <a:prstDash val="solid"/>
            <a:tailEnd type="triangle"/>
          </a:ln>
        </p:spPr>
      </p:sp>
      <p:sp>
        <p:nvSpPr>
          <p:cNvPr id="23" name="step-4"/>
          <p:cNvSpPr/>
          <p:nvPr/>
        </p:nvSpPr>
        <p:spPr>
          <a:xfrm>
            <a:off x="9601200" y="1463040"/>
            <a:ext cx="2011680" cy="1554480"/>
          </a:xfrm>
          <a:prstGeom prst="roundRect">
            <a:avLst>
              <a:gd name="adj" fmla="val 4706"/>
            </a:avLst>
          </a:prstGeom>
          <a:solidFill>
            <a:schemeClr val="accent2">
              <a:alpha val="10000"/>
            </a:schemeClr>
          </a:solidFill>
          <a:ln w="9525">
            <a:solidFill>
              <a:schemeClr val="accent2"/>
            </a:solidFill>
            <a:prstDash val="solid"/>
          </a:ln>
        </p:spPr>
      </p:sp>
      <p:sp>
        <p:nvSpPr>
          <p:cNvPr id="24" name="Text 22"/>
          <p:cNvSpPr txBox="1"/>
          <p:nvPr/>
        </p:nvSpPr>
        <p:spPr>
          <a:xfrm>
            <a:off x="9692640" y="1536192"/>
            <a:ext cx="548640" cy="411480"/>
          </a:xfrm>
          <a:prstGeom prst="rect">
            <a:avLst/>
          </a:prstGeom>
          <a:noFill/>
          <a:ln/>
        </p:spPr>
        <p:txBody>
          <a:bodyPr wrap="square" lIns="1016" tIns="1016" rIns="1016" bIns="1016" rtlCol="0" anchor="t"/>
          <a:lstStyle/>
          <a:p>
            <a:pPr algn="l" indent="0" marL="0">
              <a:buNone/>
            </a:pPr>
            <a:r>
              <a:rPr lang="en-US" sz="2000" b="1" dirty="0">
                <a:solidFill>
                  <a:schemeClr val="accent2"/>
                </a:solidFill>
                <a:latin typeface="Cambria" pitchFamily="34" charset="0"/>
                <a:ea typeface="Cambria" pitchFamily="34" charset="-122"/>
                <a:cs typeface="Cambria" pitchFamily="34" charset="-120"/>
              </a:rPr>
              <a:t>5</a:t>
            </a:r>
            <a:endParaRPr lang="en-US" sz="2000" dirty="0"/>
          </a:p>
        </p:txBody>
      </p:sp>
      <p:sp>
        <p:nvSpPr>
          <p:cNvPr id="25" name="Text 23"/>
          <p:cNvSpPr txBox="1"/>
          <p:nvPr/>
        </p:nvSpPr>
        <p:spPr>
          <a:xfrm>
            <a:off x="9692640" y="1965960"/>
            <a:ext cx="1828800" cy="548640"/>
          </a:xfrm>
          <a:prstGeom prst="rect">
            <a:avLst/>
          </a:prstGeom>
          <a:noFill/>
          <a:ln/>
        </p:spPr>
        <p:txBody>
          <a:bodyPr wrap="square" lIns="1016" tIns="1016" rIns="1016" bIns="1016" rtlCol="0" anchor="t"/>
          <a:lstStyle/>
          <a:p>
            <a:pPr algn="l" indent="0" marL="0">
              <a:buNone/>
            </a:pPr>
            <a:r>
              <a:rPr lang="en-US" sz="1500" b="1" dirty="0">
                <a:solidFill>
                  <a:schemeClr val="tx1"/>
                </a:solidFill>
              </a:rPr>
              <a:t>Acceptance</a:t>
            </a:r>
            <a:endParaRPr lang="en-US" sz="1500" dirty="0"/>
          </a:p>
        </p:txBody>
      </p:sp>
      <p:sp>
        <p:nvSpPr>
          <p:cNvPr id="26" name="Text 24"/>
          <p:cNvSpPr txBox="1"/>
          <p:nvPr/>
        </p:nvSpPr>
        <p:spPr>
          <a:xfrm>
            <a:off x="9692640" y="2468880"/>
            <a:ext cx="1828800" cy="457200"/>
          </a:xfrm>
          <a:prstGeom prst="rect">
            <a:avLst/>
          </a:prstGeom>
          <a:noFill/>
          <a:ln/>
        </p:spPr>
        <p:txBody>
          <a:bodyPr wrap="square" lIns="1016" tIns="1016" rIns="1016" bIns="1016" rtlCol="0" anchor="t"/>
          <a:lstStyle/>
          <a:p>
            <a:pPr algn="l" indent="0" marL="0">
              <a:buNone/>
            </a:pPr>
            <a:r>
              <a:rPr lang="en-US" sz="1200" dirty="0">
                <a:solidFill>
                  <a:schemeClr val="tx2"/>
                </a:solidFill>
              </a:rPr>
              <a:t>opens the KYC case</a:t>
            </a:r>
            <a:endParaRPr lang="en-US" sz="1200" dirty="0"/>
          </a:p>
        </p:txBody>
      </p:sp>
      <p:sp>
        <p:nvSpPr>
          <p:cNvPr id="27" name="step-5"/>
          <p:cNvSpPr/>
          <p:nvPr/>
        </p:nvSpPr>
        <p:spPr>
          <a:xfrm>
            <a:off x="457200" y="3566160"/>
            <a:ext cx="2011680" cy="1554480"/>
          </a:xfrm>
          <a:prstGeom prst="roundRect">
            <a:avLst>
              <a:gd name="adj" fmla="val 4706"/>
            </a:avLst>
          </a:prstGeom>
          <a:solidFill>
            <a:schemeClr val="accent3">
              <a:alpha val="10000"/>
            </a:schemeClr>
          </a:solidFill>
          <a:ln w="9525">
            <a:solidFill>
              <a:schemeClr val="accent3"/>
            </a:solidFill>
            <a:prstDash val="solid"/>
          </a:ln>
        </p:spPr>
      </p:sp>
      <p:sp>
        <p:nvSpPr>
          <p:cNvPr id="28" name="Text 26"/>
          <p:cNvSpPr txBox="1"/>
          <p:nvPr/>
        </p:nvSpPr>
        <p:spPr>
          <a:xfrm>
            <a:off x="548640" y="3639312"/>
            <a:ext cx="548640" cy="411480"/>
          </a:xfrm>
          <a:prstGeom prst="rect">
            <a:avLst/>
          </a:prstGeom>
          <a:noFill/>
          <a:ln/>
        </p:spPr>
        <p:txBody>
          <a:bodyPr wrap="square" lIns="1016" tIns="1016" rIns="1016" bIns="1016" rtlCol="0" anchor="t"/>
          <a:lstStyle/>
          <a:p>
            <a:pPr algn="l" indent="0" marL="0">
              <a:buNone/>
            </a:pPr>
            <a:r>
              <a:rPr lang="en-US" sz="2000" b="1" dirty="0">
                <a:solidFill>
                  <a:schemeClr val="accent3"/>
                </a:solidFill>
                <a:latin typeface="Cambria" pitchFamily="34" charset="0"/>
                <a:ea typeface="Cambria" pitchFamily="34" charset="-122"/>
                <a:cs typeface="Cambria" pitchFamily="34" charset="-120"/>
              </a:rPr>
              <a:t>6</a:t>
            </a:r>
            <a:endParaRPr lang="en-US" sz="2000" dirty="0"/>
          </a:p>
        </p:txBody>
      </p:sp>
      <p:sp>
        <p:nvSpPr>
          <p:cNvPr id="29" name="Text 27"/>
          <p:cNvSpPr txBox="1"/>
          <p:nvPr/>
        </p:nvSpPr>
        <p:spPr>
          <a:xfrm>
            <a:off x="548640" y="4069080"/>
            <a:ext cx="1828800" cy="548640"/>
          </a:xfrm>
          <a:prstGeom prst="rect">
            <a:avLst/>
          </a:prstGeom>
          <a:noFill/>
          <a:ln/>
        </p:spPr>
        <p:txBody>
          <a:bodyPr wrap="square" lIns="1016" tIns="1016" rIns="1016" bIns="1016" rtlCol="0" anchor="t"/>
          <a:lstStyle/>
          <a:p>
            <a:pPr algn="l" indent="0" marL="0">
              <a:buNone/>
            </a:pPr>
            <a:r>
              <a:rPr lang="en-US" sz="1500" b="1" dirty="0">
                <a:solidFill>
                  <a:schemeClr val="tx1"/>
                </a:solidFill>
              </a:rPr>
              <a:t>People &amp; documents</a:t>
            </a:r>
            <a:endParaRPr lang="en-US" sz="1500" dirty="0"/>
          </a:p>
        </p:txBody>
      </p:sp>
      <p:sp>
        <p:nvSpPr>
          <p:cNvPr id="30" name="Text 28"/>
          <p:cNvSpPr txBox="1"/>
          <p:nvPr/>
        </p:nvSpPr>
        <p:spPr>
          <a:xfrm>
            <a:off x="548640" y="4572000"/>
            <a:ext cx="1828800" cy="457200"/>
          </a:xfrm>
          <a:prstGeom prst="rect">
            <a:avLst/>
          </a:prstGeom>
          <a:noFill/>
          <a:ln/>
        </p:spPr>
        <p:txBody>
          <a:bodyPr wrap="square" lIns="1016" tIns="1016" rIns="1016" bIns="1016" rtlCol="0" anchor="t"/>
          <a:lstStyle/>
          <a:p>
            <a:pPr algn="l" indent="0" marL="0">
              <a:buNone/>
            </a:pPr>
            <a:r>
              <a:rPr lang="en-US" sz="1200" dirty="0">
                <a:solidFill>
                  <a:schemeClr val="tx2"/>
                </a:solidFill>
              </a:rPr>
              <a:t>directors, UBOs</a:t>
            </a:r>
            <a:endParaRPr lang="en-US" sz="1200" dirty="0"/>
          </a:p>
        </p:txBody>
      </p:sp>
      <p:sp>
        <p:nvSpPr>
          <p:cNvPr id="31" name="Shape 29"/>
          <p:cNvSpPr/>
          <p:nvPr/>
        </p:nvSpPr>
        <p:spPr>
          <a:xfrm>
            <a:off x="2487168" y="4343400"/>
            <a:ext cx="237744" cy="0"/>
          </a:xfrm>
          <a:prstGeom prst="line">
            <a:avLst/>
          </a:prstGeom>
          <a:noFill/>
          <a:ln w="19050">
            <a:solidFill>
              <a:schemeClr val="tx2"/>
            </a:solidFill>
            <a:prstDash val="solid"/>
            <a:tailEnd type="triangle"/>
          </a:ln>
        </p:spPr>
      </p:sp>
      <p:sp>
        <p:nvSpPr>
          <p:cNvPr id="32" name="step-6"/>
          <p:cNvSpPr/>
          <p:nvPr/>
        </p:nvSpPr>
        <p:spPr>
          <a:xfrm>
            <a:off x="2743200" y="3566160"/>
            <a:ext cx="2011680" cy="1554480"/>
          </a:xfrm>
          <a:prstGeom prst="roundRect">
            <a:avLst>
              <a:gd name="adj" fmla="val 4706"/>
            </a:avLst>
          </a:prstGeom>
          <a:solidFill>
            <a:schemeClr val="accent2">
              <a:alpha val="10000"/>
            </a:schemeClr>
          </a:solidFill>
          <a:ln w="9525">
            <a:solidFill>
              <a:schemeClr val="accent2"/>
            </a:solidFill>
            <a:prstDash val="solid"/>
          </a:ln>
        </p:spPr>
      </p:sp>
      <p:sp>
        <p:nvSpPr>
          <p:cNvPr id="33" name="Text 31"/>
          <p:cNvSpPr txBox="1"/>
          <p:nvPr/>
        </p:nvSpPr>
        <p:spPr>
          <a:xfrm>
            <a:off x="2834640" y="3639312"/>
            <a:ext cx="548640" cy="411480"/>
          </a:xfrm>
          <a:prstGeom prst="rect">
            <a:avLst/>
          </a:prstGeom>
          <a:noFill/>
          <a:ln/>
        </p:spPr>
        <p:txBody>
          <a:bodyPr wrap="square" lIns="1016" tIns="1016" rIns="1016" bIns="1016" rtlCol="0" anchor="t"/>
          <a:lstStyle/>
          <a:p>
            <a:pPr algn="l" indent="0" marL="0">
              <a:buNone/>
            </a:pPr>
            <a:r>
              <a:rPr lang="en-US" sz="2000" b="1" dirty="0">
                <a:solidFill>
                  <a:schemeClr val="accent2"/>
                </a:solidFill>
                <a:latin typeface="Cambria" pitchFamily="34" charset="0"/>
                <a:ea typeface="Cambria" pitchFamily="34" charset="-122"/>
                <a:cs typeface="Cambria" pitchFamily="34" charset="-120"/>
              </a:rPr>
              <a:t>7</a:t>
            </a:r>
            <a:endParaRPr lang="en-US" sz="2000" dirty="0"/>
          </a:p>
        </p:txBody>
      </p:sp>
      <p:sp>
        <p:nvSpPr>
          <p:cNvPr id="34" name="Text 32"/>
          <p:cNvSpPr txBox="1"/>
          <p:nvPr/>
        </p:nvSpPr>
        <p:spPr>
          <a:xfrm>
            <a:off x="2834640" y="4069080"/>
            <a:ext cx="1828800" cy="548640"/>
          </a:xfrm>
          <a:prstGeom prst="rect">
            <a:avLst/>
          </a:prstGeom>
          <a:noFill/>
          <a:ln/>
        </p:spPr>
        <p:txBody>
          <a:bodyPr wrap="square" lIns="1016" tIns="1016" rIns="1016" bIns="1016" rtlCol="0" anchor="t"/>
          <a:lstStyle/>
          <a:p>
            <a:pPr algn="l" indent="0" marL="0">
              <a:buNone/>
            </a:pPr>
            <a:r>
              <a:rPr lang="en-US" sz="1500" b="1" dirty="0">
                <a:solidFill>
                  <a:schemeClr val="tx1"/>
                </a:solidFill>
              </a:rPr>
              <a:t>Document review</a:t>
            </a:r>
            <a:endParaRPr lang="en-US" sz="1500" dirty="0"/>
          </a:p>
        </p:txBody>
      </p:sp>
      <p:sp>
        <p:nvSpPr>
          <p:cNvPr id="35" name="Text 33"/>
          <p:cNvSpPr txBox="1"/>
          <p:nvPr/>
        </p:nvSpPr>
        <p:spPr>
          <a:xfrm>
            <a:off x="2834640" y="4572000"/>
            <a:ext cx="1828800" cy="457200"/>
          </a:xfrm>
          <a:prstGeom prst="rect">
            <a:avLst/>
          </a:prstGeom>
          <a:noFill/>
          <a:ln/>
        </p:spPr>
        <p:txBody>
          <a:bodyPr wrap="square" lIns="1016" tIns="1016" rIns="1016" bIns="1016" rtlCol="0" anchor="t"/>
          <a:lstStyle/>
          <a:p>
            <a:pPr algn="l" indent="0" marL="0">
              <a:buNone/>
            </a:pPr>
            <a:r>
              <a:rPr lang="en-US" sz="1200" dirty="0">
                <a:solidFill>
                  <a:schemeClr val="tx2"/>
                </a:solidFill>
              </a:rPr>
              <a:t>not the uploader</a:t>
            </a:r>
            <a:endParaRPr lang="en-US" sz="1200" dirty="0"/>
          </a:p>
        </p:txBody>
      </p:sp>
      <p:sp>
        <p:nvSpPr>
          <p:cNvPr id="36" name="Shape 34"/>
          <p:cNvSpPr/>
          <p:nvPr/>
        </p:nvSpPr>
        <p:spPr>
          <a:xfrm>
            <a:off x="4773168" y="4343400"/>
            <a:ext cx="237744" cy="0"/>
          </a:xfrm>
          <a:prstGeom prst="line">
            <a:avLst/>
          </a:prstGeom>
          <a:noFill/>
          <a:ln w="19050">
            <a:solidFill>
              <a:schemeClr val="tx2"/>
            </a:solidFill>
            <a:prstDash val="solid"/>
            <a:tailEnd type="triangle"/>
          </a:ln>
        </p:spPr>
      </p:sp>
      <p:sp>
        <p:nvSpPr>
          <p:cNvPr id="37" name="step-7"/>
          <p:cNvSpPr/>
          <p:nvPr/>
        </p:nvSpPr>
        <p:spPr>
          <a:xfrm>
            <a:off x="5029200" y="3566160"/>
            <a:ext cx="2011680" cy="1554480"/>
          </a:xfrm>
          <a:prstGeom prst="roundRect">
            <a:avLst>
              <a:gd name="adj" fmla="val 4706"/>
            </a:avLst>
          </a:prstGeom>
          <a:solidFill>
            <a:schemeClr val="accent3">
              <a:alpha val="10000"/>
            </a:schemeClr>
          </a:solidFill>
          <a:ln w="9525">
            <a:solidFill>
              <a:schemeClr val="accent3"/>
            </a:solidFill>
            <a:prstDash val="solid"/>
          </a:ln>
        </p:spPr>
      </p:sp>
      <p:sp>
        <p:nvSpPr>
          <p:cNvPr id="38" name="Text 36"/>
          <p:cNvSpPr txBox="1"/>
          <p:nvPr/>
        </p:nvSpPr>
        <p:spPr>
          <a:xfrm>
            <a:off x="5120640" y="3639312"/>
            <a:ext cx="548640" cy="411480"/>
          </a:xfrm>
          <a:prstGeom prst="rect">
            <a:avLst/>
          </a:prstGeom>
          <a:noFill/>
          <a:ln/>
        </p:spPr>
        <p:txBody>
          <a:bodyPr wrap="square" lIns="1016" tIns="1016" rIns="1016" bIns="1016" rtlCol="0" anchor="t"/>
          <a:lstStyle/>
          <a:p>
            <a:pPr algn="l" indent="0" marL="0">
              <a:buNone/>
            </a:pPr>
            <a:r>
              <a:rPr lang="en-US" sz="2000" b="1" dirty="0">
                <a:solidFill>
                  <a:schemeClr val="accent3"/>
                </a:solidFill>
                <a:latin typeface="Cambria" pitchFamily="34" charset="0"/>
                <a:ea typeface="Cambria" pitchFamily="34" charset="-122"/>
                <a:cs typeface="Cambria" pitchFamily="34" charset="-120"/>
              </a:rPr>
              <a:t>8</a:t>
            </a:r>
            <a:endParaRPr lang="en-US" sz="2000" dirty="0"/>
          </a:p>
        </p:txBody>
      </p:sp>
      <p:sp>
        <p:nvSpPr>
          <p:cNvPr id="39" name="Text 37"/>
          <p:cNvSpPr txBox="1"/>
          <p:nvPr/>
        </p:nvSpPr>
        <p:spPr>
          <a:xfrm>
            <a:off x="5120640" y="4069080"/>
            <a:ext cx="1828800" cy="548640"/>
          </a:xfrm>
          <a:prstGeom prst="rect">
            <a:avLst/>
          </a:prstGeom>
          <a:noFill/>
          <a:ln/>
        </p:spPr>
        <p:txBody>
          <a:bodyPr wrap="square" lIns="1016" tIns="1016" rIns="1016" bIns="1016" rtlCol="0" anchor="t"/>
          <a:lstStyle/>
          <a:p>
            <a:pPr algn="l" indent="0" marL="0">
              <a:buNone/>
            </a:pPr>
            <a:r>
              <a:rPr lang="en-US" sz="1500" b="1" dirty="0">
                <a:solidFill>
                  <a:schemeClr val="tx1"/>
                </a:solidFill>
              </a:rPr>
              <a:t>File submitted</a:t>
            </a:r>
            <a:endParaRPr lang="en-US" sz="1500" dirty="0"/>
          </a:p>
        </p:txBody>
      </p:sp>
      <p:sp>
        <p:nvSpPr>
          <p:cNvPr id="40" name="Text 38"/>
          <p:cNvSpPr txBox="1"/>
          <p:nvPr/>
        </p:nvSpPr>
        <p:spPr>
          <a:xfrm>
            <a:off x="5120640" y="4572000"/>
            <a:ext cx="1828800" cy="457200"/>
          </a:xfrm>
          <a:prstGeom prst="rect">
            <a:avLst/>
          </a:prstGeom>
          <a:noFill/>
          <a:ln/>
        </p:spPr>
        <p:txBody>
          <a:bodyPr wrap="square" lIns="1016" tIns="1016" rIns="1016" bIns="1016" rtlCol="0" anchor="t"/>
          <a:lstStyle/>
          <a:p>
            <a:pPr algn="l" indent="0" marL="0">
              <a:buNone/>
            </a:pPr>
            <a:r>
              <a:rPr lang="en-US" sz="1200" dirty="0">
                <a:solidFill>
                  <a:schemeClr val="tx2"/>
                </a:solidFill>
              </a:rPr>
              <a:t>nothing missing</a:t>
            </a:r>
            <a:endParaRPr lang="en-US" sz="1200" dirty="0"/>
          </a:p>
        </p:txBody>
      </p:sp>
      <p:sp>
        <p:nvSpPr>
          <p:cNvPr id="41" name="Shape 39"/>
          <p:cNvSpPr/>
          <p:nvPr/>
        </p:nvSpPr>
        <p:spPr>
          <a:xfrm>
            <a:off x="7059168" y="4343400"/>
            <a:ext cx="237744" cy="0"/>
          </a:xfrm>
          <a:prstGeom prst="line">
            <a:avLst/>
          </a:prstGeom>
          <a:noFill/>
          <a:ln w="19050">
            <a:solidFill>
              <a:schemeClr val="tx2"/>
            </a:solidFill>
            <a:prstDash val="solid"/>
            <a:tailEnd type="triangle"/>
          </a:ln>
        </p:spPr>
      </p:sp>
      <p:sp>
        <p:nvSpPr>
          <p:cNvPr id="42" name="step-8"/>
          <p:cNvSpPr/>
          <p:nvPr/>
        </p:nvSpPr>
        <p:spPr>
          <a:xfrm>
            <a:off x="7315200" y="3566160"/>
            <a:ext cx="2011680" cy="1554480"/>
          </a:xfrm>
          <a:prstGeom prst="roundRect">
            <a:avLst>
              <a:gd name="adj" fmla="val 4706"/>
            </a:avLst>
          </a:prstGeom>
          <a:solidFill>
            <a:schemeClr val="accent1">
              <a:alpha val="18000"/>
            </a:schemeClr>
          </a:solidFill>
          <a:ln w="25400">
            <a:solidFill>
              <a:schemeClr val="accent1"/>
            </a:solidFill>
            <a:prstDash val="solid"/>
          </a:ln>
        </p:spPr>
      </p:sp>
      <p:sp>
        <p:nvSpPr>
          <p:cNvPr id="43" name="Text 41"/>
          <p:cNvSpPr txBox="1"/>
          <p:nvPr/>
        </p:nvSpPr>
        <p:spPr>
          <a:xfrm>
            <a:off x="7406640" y="3639312"/>
            <a:ext cx="548640" cy="411480"/>
          </a:xfrm>
          <a:prstGeom prst="rect">
            <a:avLst/>
          </a:prstGeom>
          <a:noFill/>
          <a:ln/>
        </p:spPr>
        <p:txBody>
          <a:bodyPr wrap="square" lIns="1016" tIns="1016" rIns="1016" bIns="1016" rtlCol="0" anchor="t"/>
          <a:lstStyle/>
          <a:p>
            <a:pPr algn="l" indent="0" marL="0">
              <a:buNone/>
            </a:pPr>
            <a:r>
              <a:rPr lang="en-US" sz="2000" b="1" dirty="0">
                <a:solidFill>
                  <a:schemeClr val="accent2"/>
                </a:solidFill>
                <a:latin typeface="Cambria" pitchFamily="34" charset="0"/>
                <a:ea typeface="Cambria" pitchFamily="34" charset="-122"/>
                <a:cs typeface="Cambria" pitchFamily="34" charset="-120"/>
              </a:rPr>
              <a:t>9</a:t>
            </a:r>
            <a:endParaRPr lang="en-US" sz="2000" dirty="0"/>
          </a:p>
        </p:txBody>
      </p:sp>
      <p:sp>
        <p:nvSpPr>
          <p:cNvPr id="44" name="Text 42"/>
          <p:cNvSpPr txBox="1"/>
          <p:nvPr/>
        </p:nvSpPr>
        <p:spPr>
          <a:xfrm>
            <a:off x="7406640" y="4069080"/>
            <a:ext cx="1828800" cy="548640"/>
          </a:xfrm>
          <a:prstGeom prst="rect">
            <a:avLst/>
          </a:prstGeom>
          <a:noFill/>
          <a:ln/>
        </p:spPr>
        <p:txBody>
          <a:bodyPr wrap="square" lIns="1016" tIns="1016" rIns="1016" bIns="1016" rtlCol="0" anchor="t"/>
          <a:lstStyle/>
          <a:p>
            <a:pPr algn="l" indent="0" marL="0">
              <a:buNone/>
            </a:pPr>
            <a:r>
              <a:rPr lang="en-US" sz="1500" b="1" dirty="0">
                <a:solidFill>
                  <a:schemeClr val="tx1"/>
                </a:solidFill>
              </a:rPr>
              <a:t>Approval</a:t>
            </a:r>
            <a:endParaRPr lang="en-US" sz="1500" dirty="0"/>
          </a:p>
        </p:txBody>
      </p:sp>
      <p:sp>
        <p:nvSpPr>
          <p:cNvPr id="45" name="Text 43"/>
          <p:cNvSpPr txBox="1"/>
          <p:nvPr/>
        </p:nvSpPr>
        <p:spPr>
          <a:xfrm>
            <a:off x="7406640" y="4572000"/>
            <a:ext cx="1828800" cy="457200"/>
          </a:xfrm>
          <a:prstGeom prst="rect">
            <a:avLst/>
          </a:prstGeom>
          <a:noFill/>
          <a:ln/>
        </p:spPr>
        <p:txBody>
          <a:bodyPr wrap="square" lIns="1016" tIns="1016" rIns="1016" bIns="1016" rtlCol="0" anchor="t"/>
          <a:lstStyle/>
          <a:p>
            <a:pPr algn="l" indent="0" marL="0">
              <a:buNone/>
            </a:pPr>
            <a:r>
              <a:rPr lang="en-US" sz="1200" dirty="0">
                <a:solidFill>
                  <a:schemeClr val="tx2"/>
                </a:solidFill>
              </a:rPr>
              <a:t>approver never involved</a:t>
            </a:r>
            <a:endParaRPr lang="en-US" sz="1200" dirty="0"/>
          </a:p>
        </p:txBody>
      </p:sp>
      <p:sp>
        <p:nvSpPr>
          <p:cNvPr id="46" name="leg-0"/>
          <p:cNvSpPr/>
          <p:nvPr/>
        </p:nvSpPr>
        <p:spPr>
          <a:xfrm>
            <a:off x="6949440" y="5669280"/>
            <a:ext cx="274320" cy="274320"/>
          </a:xfrm>
          <a:prstGeom prst="roundRect">
            <a:avLst>
              <a:gd name="adj" fmla="val 26667"/>
            </a:avLst>
          </a:prstGeom>
          <a:solidFill>
            <a:schemeClr val="accent3">
              <a:alpha val="10000"/>
            </a:schemeClr>
          </a:solidFill>
          <a:ln w="9525">
            <a:solidFill>
              <a:schemeClr val="accent3"/>
            </a:solidFill>
            <a:prstDash val="solid"/>
          </a:ln>
        </p:spPr>
      </p:sp>
      <p:sp>
        <p:nvSpPr>
          <p:cNvPr id="47" name="Text 45"/>
          <p:cNvSpPr txBox="1"/>
          <p:nvPr/>
        </p:nvSpPr>
        <p:spPr>
          <a:xfrm>
            <a:off x="7315200" y="5596128"/>
            <a:ext cx="1371600" cy="411480"/>
          </a:xfrm>
          <a:prstGeom prst="rect">
            <a:avLst/>
          </a:prstGeom>
          <a:noFill/>
          <a:ln/>
        </p:spPr>
        <p:txBody>
          <a:bodyPr wrap="square" lIns="0" tIns="0" rIns="0" bIns="0" rtlCol="0" anchor="ctr"/>
          <a:lstStyle/>
          <a:p>
            <a:pPr algn="l" indent="0" marL="0">
              <a:buNone/>
            </a:pPr>
            <a:r>
              <a:rPr lang="en-US" sz="1100" dirty="0">
                <a:solidFill>
                  <a:schemeClr val="tx2"/>
                </a:solidFill>
              </a:rPr>
              <a:t>Merchant</a:t>
            </a:r>
            <a:endParaRPr lang="en-US" sz="1100" dirty="0"/>
          </a:p>
        </p:txBody>
      </p:sp>
      <p:sp>
        <p:nvSpPr>
          <p:cNvPr id="48" name="leg-1"/>
          <p:cNvSpPr/>
          <p:nvPr/>
        </p:nvSpPr>
        <p:spPr>
          <a:xfrm>
            <a:off x="8686800" y="5669280"/>
            <a:ext cx="274320" cy="274320"/>
          </a:xfrm>
          <a:prstGeom prst="roundRect">
            <a:avLst>
              <a:gd name="adj" fmla="val 26667"/>
            </a:avLst>
          </a:prstGeom>
          <a:solidFill>
            <a:schemeClr val="accent2">
              <a:alpha val="10000"/>
            </a:schemeClr>
          </a:solidFill>
          <a:ln w="9525">
            <a:solidFill>
              <a:schemeClr val="accent2"/>
            </a:solidFill>
            <a:prstDash val="solid"/>
          </a:ln>
        </p:spPr>
      </p:sp>
      <p:sp>
        <p:nvSpPr>
          <p:cNvPr id="49" name="Text 47"/>
          <p:cNvSpPr txBox="1"/>
          <p:nvPr/>
        </p:nvSpPr>
        <p:spPr>
          <a:xfrm>
            <a:off x="9052560" y="5596128"/>
            <a:ext cx="1371600" cy="411480"/>
          </a:xfrm>
          <a:prstGeom prst="rect">
            <a:avLst/>
          </a:prstGeom>
          <a:noFill/>
          <a:ln/>
        </p:spPr>
        <p:txBody>
          <a:bodyPr wrap="square" lIns="0" tIns="0" rIns="0" bIns="0" rtlCol="0" anchor="ctr"/>
          <a:lstStyle/>
          <a:p>
            <a:pPr algn="l" indent="0" marL="0">
              <a:buNone/>
            </a:pPr>
            <a:r>
              <a:rPr lang="en-US" sz="1100" dirty="0">
                <a:solidFill>
                  <a:schemeClr val="tx2"/>
                </a:solidFill>
              </a:rPr>
              <a:t>MIPS staff</a:t>
            </a:r>
            <a:endParaRPr lang="en-US" sz="1100" dirty="0"/>
          </a:p>
        </p:txBody>
      </p:sp>
      <p:sp>
        <p:nvSpPr>
          <p:cNvPr id="50" name="leg-2"/>
          <p:cNvSpPr/>
          <p:nvPr/>
        </p:nvSpPr>
        <p:spPr>
          <a:xfrm>
            <a:off x="10424160" y="5669280"/>
            <a:ext cx="274320" cy="274320"/>
          </a:xfrm>
          <a:prstGeom prst="roundRect">
            <a:avLst>
              <a:gd name="adj" fmla="val 26667"/>
            </a:avLst>
          </a:prstGeom>
          <a:solidFill>
            <a:schemeClr val="accent1">
              <a:alpha val="18000"/>
            </a:schemeClr>
          </a:solidFill>
          <a:ln w="25400">
            <a:solidFill>
              <a:schemeClr val="accent1"/>
            </a:solidFill>
            <a:prstDash val="solid"/>
          </a:ln>
        </p:spPr>
      </p:sp>
      <p:sp>
        <p:nvSpPr>
          <p:cNvPr id="51" name="Text 49"/>
          <p:cNvSpPr txBox="1"/>
          <p:nvPr/>
        </p:nvSpPr>
        <p:spPr>
          <a:xfrm>
            <a:off x="10789920" y="5596128"/>
            <a:ext cx="1371600" cy="411480"/>
          </a:xfrm>
          <a:prstGeom prst="rect">
            <a:avLst/>
          </a:prstGeom>
          <a:noFill/>
          <a:ln/>
        </p:spPr>
        <p:txBody>
          <a:bodyPr wrap="square" lIns="0" tIns="0" rIns="0" bIns="0" rtlCol="0" anchor="ctr"/>
          <a:lstStyle/>
          <a:p>
            <a:pPr algn="l" indent="0" marL="0">
              <a:buNone/>
            </a:pPr>
            <a:r>
              <a:rPr lang="en-US" sz="1100" dirty="0">
                <a:solidFill>
                  <a:schemeClr val="tx2"/>
                </a:solidFill>
              </a:rPr>
              <a:t>Gate</a:t>
            </a:r>
            <a:endParaRPr lang="en-US" sz="1100" dirty="0"/>
          </a:p>
        </p:txBody>
      </p:sp>
      <p:sp>
        <p:nvSpPr>
          <p:cNvPr id="52" name="Text 50"/>
          <p:cNvSpPr txBox="1"/>
          <p:nvPr/>
        </p:nvSpPr>
        <p:spPr>
          <a:xfrm>
            <a:off x="457200" y="5623560"/>
            <a:ext cx="6309360" cy="411480"/>
          </a:xfrm>
          <a:prstGeom prst="rect">
            <a:avLst/>
          </a:prstGeom>
          <a:noFill/>
          <a:ln/>
        </p:spPr>
        <p:txBody>
          <a:bodyPr wrap="square" lIns="0" tIns="0" rIns="0" bIns="0" rtlCol="0" anchor="ctr"/>
          <a:lstStyle/>
          <a:p>
            <a:pPr algn="l" indent="0" marL="0">
              <a:buNone/>
            </a:pPr>
            <a:r>
              <a:rPr lang="en-US" sz="1400" i="1" dirty="0">
                <a:solidFill>
                  <a:schemeClr val="tx1"/>
                </a:solidFill>
              </a:rPr>
              <a:t>A submitted file is never shown to the merchant as approved.</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47120" cy="731520"/>
          </a:xfrm>
          <a:prstGeom prst="rect">
            <a:avLst/>
          </a:prstGeom>
          <a:noFill/>
          <a:ln/>
        </p:spPr>
        <p:txBody>
          <a:bodyPr wrap="square" lIns="0" tIns="0" rIns="0" bIns="0" rtlCol="0" anchor="ctr"/>
          <a:lstStyle/>
          <a:p>
            <a:pPr algn="l" indent="0" marL="0">
              <a:buNone/>
            </a:pPr>
            <a:r>
              <a:rPr lang="en-US" sz="3000" b="1" dirty="0">
                <a:solidFill>
                  <a:schemeClr val="tx1"/>
                </a:solidFill>
              </a:rPr>
              <a:t>Controls built into the platform</a:t>
            </a:r>
            <a:endParaRPr lang="en-US" sz="3000" dirty="0"/>
          </a:p>
        </p:txBody>
      </p:sp>
      <p:sp>
        <p:nvSpPr>
          <p:cNvPr id="3" name="ctrl-0"/>
          <p:cNvSpPr/>
          <p:nvPr/>
        </p:nvSpPr>
        <p:spPr>
          <a:xfrm>
            <a:off x="457200" y="1325880"/>
            <a:ext cx="3566160" cy="2011680"/>
          </a:xfrm>
          <a:prstGeom prst="roundRect">
            <a:avLst>
              <a:gd name="adj" fmla="val 3636"/>
            </a:avLst>
          </a:prstGeom>
          <a:solidFill>
            <a:schemeClr val="bg2"/>
          </a:solidFill>
          <a:ln w="9525">
            <a:solidFill>
              <a:schemeClr val="bg2"/>
            </a:solidFill>
            <a:prstDash val="solid"/>
          </a:ln>
        </p:spPr>
      </p:sp>
      <p:sp>
        <p:nvSpPr>
          <p:cNvPr id="4" name="cdot-0"/>
          <p:cNvSpPr/>
          <p:nvPr/>
        </p:nvSpPr>
        <p:spPr>
          <a:xfrm>
            <a:off x="685800" y="1600200"/>
            <a:ext cx="292608" cy="292608"/>
          </a:xfrm>
          <a:prstGeom prst="ellipse">
            <a:avLst/>
          </a:prstGeom>
          <a:solidFill>
            <a:schemeClr val="accent1"/>
          </a:solidFill>
          <a:ln w="12700">
            <a:solidFill>
              <a:schemeClr val="accent1"/>
            </a:solidFill>
            <a:prstDash val="solid"/>
          </a:ln>
        </p:spPr>
      </p:sp>
      <p:sp>
        <p:nvSpPr>
          <p:cNvPr id="5" name="Text 3"/>
          <p:cNvSpPr txBox="1"/>
          <p:nvPr/>
        </p:nvSpPr>
        <p:spPr>
          <a:xfrm>
            <a:off x="1097280" y="1508760"/>
            <a:ext cx="2788920" cy="457200"/>
          </a:xfrm>
          <a:prstGeom prst="rect">
            <a:avLst/>
          </a:prstGeom>
          <a:noFill/>
          <a:ln/>
        </p:spPr>
        <p:txBody>
          <a:bodyPr wrap="square" lIns="1016" tIns="1016" rIns="1016" bIns="1016" rtlCol="0" anchor="t"/>
          <a:lstStyle/>
          <a:p>
            <a:pPr algn="l" indent="0" marL="0">
              <a:buNone/>
            </a:pPr>
            <a:r>
              <a:rPr lang="en-US" sz="1700" b="1" dirty="0">
                <a:solidFill>
                  <a:schemeClr val="tx1"/>
                </a:solidFill>
              </a:rPr>
              <a:t>Four-eyes</a:t>
            </a:r>
            <a:endParaRPr lang="en-US" sz="1700" dirty="0"/>
          </a:p>
        </p:txBody>
      </p:sp>
      <p:sp>
        <p:nvSpPr>
          <p:cNvPr id="6" name="Text 4"/>
          <p:cNvSpPr txBox="1"/>
          <p:nvPr/>
        </p:nvSpPr>
        <p:spPr>
          <a:xfrm>
            <a:off x="685800" y="2103120"/>
            <a:ext cx="3200400" cy="1143000"/>
          </a:xfrm>
          <a:prstGeom prst="rect">
            <a:avLst/>
          </a:prstGeom>
          <a:noFill/>
          <a:ln/>
        </p:spPr>
        <p:txBody>
          <a:bodyPr wrap="square" lIns="1016" tIns="1016" rIns="1016" bIns="1016" rtlCol="0" anchor="t"/>
          <a:lstStyle/>
          <a:p>
            <a:pPr algn="l" indent="0" marL="0">
              <a:buNone/>
            </a:pPr>
            <a:r>
              <a:rPr lang="en-US" sz="1300" dirty="0">
                <a:solidFill>
                  <a:schemeClr val="tx1"/>
                </a:solidFill>
              </a:rPr>
              <a:t>A document is accepted by someone other than its uploader. A case is decided by an approver who never handled it: not its creator, nor any past or present analyst.</a:t>
            </a:r>
            <a:endParaRPr lang="en-US" sz="1300" dirty="0"/>
          </a:p>
        </p:txBody>
      </p:sp>
      <p:sp>
        <p:nvSpPr>
          <p:cNvPr id="7" name="ctrl-1"/>
          <p:cNvSpPr/>
          <p:nvPr/>
        </p:nvSpPr>
        <p:spPr>
          <a:xfrm>
            <a:off x="4251960" y="1325880"/>
            <a:ext cx="3566160" cy="2011680"/>
          </a:xfrm>
          <a:prstGeom prst="roundRect">
            <a:avLst>
              <a:gd name="adj" fmla="val 3636"/>
            </a:avLst>
          </a:prstGeom>
          <a:solidFill>
            <a:schemeClr val="bg2"/>
          </a:solidFill>
          <a:ln w="9525">
            <a:solidFill>
              <a:schemeClr val="bg2"/>
            </a:solidFill>
            <a:prstDash val="solid"/>
          </a:ln>
        </p:spPr>
      </p:sp>
      <p:sp>
        <p:nvSpPr>
          <p:cNvPr id="8" name="cdot-1"/>
          <p:cNvSpPr/>
          <p:nvPr/>
        </p:nvSpPr>
        <p:spPr>
          <a:xfrm>
            <a:off x="4480560" y="1600200"/>
            <a:ext cx="292608" cy="292608"/>
          </a:xfrm>
          <a:prstGeom prst="ellipse">
            <a:avLst/>
          </a:prstGeom>
          <a:solidFill>
            <a:schemeClr val="accent1"/>
          </a:solidFill>
          <a:ln w="12700">
            <a:solidFill>
              <a:schemeClr val="accent1"/>
            </a:solidFill>
            <a:prstDash val="solid"/>
          </a:ln>
        </p:spPr>
      </p:sp>
      <p:sp>
        <p:nvSpPr>
          <p:cNvPr id="9" name="Text 7"/>
          <p:cNvSpPr txBox="1"/>
          <p:nvPr/>
        </p:nvSpPr>
        <p:spPr>
          <a:xfrm>
            <a:off x="4892040" y="1508760"/>
            <a:ext cx="2788920" cy="457200"/>
          </a:xfrm>
          <a:prstGeom prst="rect">
            <a:avLst/>
          </a:prstGeom>
          <a:noFill/>
          <a:ln/>
        </p:spPr>
        <p:txBody>
          <a:bodyPr wrap="square" lIns="1016" tIns="1016" rIns="1016" bIns="1016" rtlCol="0" anchor="t"/>
          <a:lstStyle/>
          <a:p>
            <a:pPr algn="l" indent="0" marL="0">
              <a:buNone/>
            </a:pPr>
            <a:r>
              <a:rPr lang="en-US" sz="1700" b="1" dirty="0">
                <a:solidFill>
                  <a:schemeClr val="tx1"/>
                </a:solidFill>
              </a:rPr>
              <a:t>Approval blockers</a:t>
            </a:r>
            <a:endParaRPr lang="en-US" sz="1700" dirty="0"/>
          </a:p>
        </p:txBody>
      </p:sp>
      <p:sp>
        <p:nvSpPr>
          <p:cNvPr id="10" name="Text 8"/>
          <p:cNvSpPr txBox="1"/>
          <p:nvPr/>
        </p:nvSpPr>
        <p:spPr>
          <a:xfrm>
            <a:off x="4480560" y="2103120"/>
            <a:ext cx="3200400" cy="1143000"/>
          </a:xfrm>
          <a:prstGeom prst="rect">
            <a:avLst/>
          </a:prstGeom>
          <a:noFill/>
          <a:ln/>
        </p:spPr>
        <p:txBody>
          <a:bodyPr wrap="square" lIns="1016" tIns="1016" rIns="1016" bIns="1016" rtlCol="0" anchor="t"/>
          <a:lstStyle/>
          <a:p>
            <a:pPr algn="l" indent="0" marL="0">
              <a:buNone/>
            </a:pPr>
            <a:r>
              <a:rPr lang="en-US" sz="1300" dirty="0">
                <a:solidFill>
                  <a:schemeClr val="tx1"/>
                </a:solidFill>
              </a:rPr>
              <a:t>Approval is refused by the server while documents, owners, screening or risk rating are missing.</a:t>
            </a:r>
            <a:endParaRPr lang="en-US" sz="1300" dirty="0"/>
          </a:p>
        </p:txBody>
      </p:sp>
      <p:sp>
        <p:nvSpPr>
          <p:cNvPr id="11" name="ctrl-2"/>
          <p:cNvSpPr/>
          <p:nvPr/>
        </p:nvSpPr>
        <p:spPr>
          <a:xfrm>
            <a:off x="8046720" y="1325880"/>
            <a:ext cx="3566160" cy="2011680"/>
          </a:xfrm>
          <a:prstGeom prst="roundRect">
            <a:avLst>
              <a:gd name="adj" fmla="val 3636"/>
            </a:avLst>
          </a:prstGeom>
          <a:solidFill>
            <a:schemeClr val="bg2"/>
          </a:solidFill>
          <a:ln w="9525">
            <a:solidFill>
              <a:schemeClr val="bg2"/>
            </a:solidFill>
            <a:prstDash val="solid"/>
          </a:ln>
        </p:spPr>
      </p:sp>
      <p:sp>
        <p:nvSpPr>
          <p:cNvPr id="12" name="cdot-2"/>
          <p:cNvSpPr/>
          <p:nvPr/>
        </p:nvSpPr>
        <p:spPr>
          <a:xfrm>
            <a:off x="8275320" y="1600200"/>
            <a:ext cx="292608" cy="292608"/>
          </a:xfrm>
          <a:prstGeom prst="ellipse">
            <a:avLst/>
          </a:prstGeom>
          <a:solidFill>
            <a:schemeClr val="accent1"/>
          </a:solidFill>
          <a:ln w="12700">
            <a:solidFill>
              <a:schemeClr val="accent1"/>
            </a:solidFill>
            <a:prstDash val="solid"/>
          </a:ln>
        </p:spPr>
      </p:sp>
      <p:sp>
        <p:nvSpPr>
          <p:cNvPr id="13" name="Text 11"/>
          <p:cNvSpPr txBox="1"/>
          <p:nvPr/>
        </p:nvSpPr>
        <p:spPr>
          <a:xfrm>
            <a:off x="8686800" y="1508760"/>
            <a:ext cx="2788920" cy="457200"/>
          </a:xfrm>
          <a:prstGeom prst="rect">
            <a:avLst/>
          </a:prstGeom>
          <a:noFill/>
          <a:ln/>
        </p:spPr>
        <p:txBody>
          <a:bodyPr wrap="square" lIns="1016" tIns="1016" rIns="1016" bIns="1016" rtlCol="0" anchor="t"/>
          <a:lstStyle/>
          <a:p>
            <a:pPr algn="l" indent="0" marL="0">
              <a:buNone/>
            </a:pPr>
            <a:r>
              <a:rPr lang="en-US" sz="1700" b="1" dirty="0">
                <a:solidFill>
                  <a:schemeClr val="tx1"/>
                </a:solidFill>
              </a:rPr>
              <a:t>Strong authentication</a:t>
            </a:r>
            <a:endParaRPr lang="en-US" sz="1700" dirty="0"/>
          </a:p>
        </p:txBody>
      </p:sp>
      <p:sp>
        <p:nvSpPr>
          <p:cNvPr id="14" name="Text 12"/>
          <p:cNvSpPr txBox="1"/>
          <p:nvPr/>
        </p:nvSpPr>
        <p:spPr>
          <a:xfrm>
            <a:off x="8275320" y="2103120"/>
            <a:ext cx="3200400" cy="1143000"/>
          </a:xfrm>
          <a:prstGeom prst="rect">
            <a:avLst/>
          </a:prstGeom>
          <a:noFill/>
          <a:ln/>
        </p:spPr>
        <p:txBody>
          <a:bodyPr wrap="square" lIns="1016" tIns="1016" rIns="1016" bIns="1016" rtlCol="0" anchor="t"/>
          <a:lstStyle/>
          <a:p>
            <a:pPr algn="l" indent="0" marL="0">
              <a:buNone/>
            </a:pPr>
            <a:r>
              <a:rPr lang="en-US" sz="1300" dirty="0">
                <a:solidFill>
                  <a:schemeClr val="tx1"/>
                </a:solidFill>
              </a:rPr>
              <a:t>Two-factor authentication mandatory for finance, admin and merchants. Account locked after 5 failed sign-ins; other sessions end on a password change.</a:t>
            </a:r>
            <a:endParaRPr lang="en-US" sz="1300" dirty="0"/>
          </a:p>
        </p:txBody>
      </p:sp>
      <p:sp>
        <p:nvSpPr>
          <p:cNvPr id="15" name="ctrl-3"/>
          <p:cNvSpPr/>
          <p:nvPr/>
        </p:nvSpPr>
        <p:spPr>
          <a:xfrm>
            <a:off x="457200" y="3566160"/>
            <a:ext cx="3566160" cy="2011680"/>
          </a:xfrm>
          <a:prstGeom prst="roundRect">
            <a:avLst>
              <a:gd name="adj" fmla="val 3636"/>
            </a:avLst>
          </a:prstGeom>
          <a:solidFill>
            <a:schemeClr val="bg2"/>
          </a:solidFill>
          <a:ln w="9525">
            <a:solidFill>
              <a:schemeClr val="bg2"/>
            </a:solidFill>
            <a:prstDash val="solid"/>
          </a:ln>
        </p:spPr>
      </p:sp>
      <p:sp>
        <p:nvSpPr>
          <p:cNvPr id="16" name="cdot-3"/>
          <p:cNvSpPr/>
          <p:nvPr/>
        </p:nvSpPr>
        <p:spPr>
          <a:xfrm>
            <a:off x="685800" y="3840480"/>
            <a:ext cx="292608" cy="292608"/>
          </a:xfrm>
          <a:prstGeom prst="ellipse">
            <a:avLst/>
          </a:prstGeom>
          <a:solidFill>
            <a:schemeClr val="accent1"/>
          </a:solidFill>
          <a:ln w="12700">
            <a:solidFill>
              <a:schemeClr val="accent1"/>
            </a:solidFill>
            <a:prstDash val="solid"/>
          </a:ln>
        </p:spPr>
      </p:sp>
      <p:sp>
        <p:nvSpPr>
          <p:cNvPr id="17" name="Text 15"/>
          <p:cNvSpPr txBox="1"/>
          <p:nvPr/>
        </p:nvSpPr>
        <p:spPr>
          <a:xfrm>
            <a:off x="1097280" y="3749040"/>
            <a:ext cx="2788920" cy="457200"/>
          </a:xfrm>
          <a:prstGeom prst="rect">
            <a:avLst/>
          </a:prstGeom>
          <a:noFill/>
          <a:ln/>
        </p:spPr>
        <p:txBody>
          <a:bodyPr wrap="square" lIns="1016" tIns="1016" rIns="1016" bIns="1016" rtlCol="0" anchor="t"/>
          <a:lstStyle/>
          <a:p>
            <a:pPr algn="l" indent="0" marL="0">
              <a:buNone/>
            </a:pPr>
            <a:r>
              <a:rPr lang="en-US" sz="1700" b="1" dirty="0">
                <a:solidFill>
                  <a:schemeClr val="tx1"/>
                </a:solidFill>
              </a:rPr>
              <a:t>Segregated access</a:t>
            </a:r>
            <a:endParaRPr lang="en-US" sz="1700" dirty="0"/>
          </a:p>
        </p:txBody>
      </p:sp>
      <p:sp>
        <p:nvSpPr>
          <p:cNvPr id="18" name="Text 16"/>
          <p:cNvSpPr txBox="1"/>
          <p:nvPr/>
        </p:nvSpPr>
        <p:spPr>
          <a:xfrm>
            <a:off x="685800" y="4343400"/>
            <a:ext cx="3200400" cy="1143000"/>
          </a:xfrm>
          <a:prstGeom prst="rect">
            <a:avLst/>
          </a:prstGeom>
          <a:noFill/>
          <a:ln/>
        </p:spPr>
        <p:txBody>
          <a:bodyPr wrap="square" lIns="1016" tIns="1016" rIns="1016" bIns="1016" rtlCol="0" anchor="t"/>
          <a:lstStyle/>
          <a:p>
            <a:pPr algn="l" indent="0" marL="0">
              <a:buNone/>
            </a:pPr>
            <a:r>
              <a:rPr lang="en-US" sz="1300" dirty="0">
                <a:solidFill>
                  <a:schemeClr val="tx1"/>
                </a:solidFill>
              </a:rPr>
              <a:t>Staff and merchants use separate accounts and sessions; a merchant only reaches its own case.</a:t>
            </a:r>
            <a:endParaRPr lang="en-US" sz="1300" dirty="0"/>
          </a:p>
        </p:txBody>
      </p:sp>
      <p:sp>
        <p:nvSpPr>
          <p:cNvPr id="19" name="ctrl-4"/>
          <p:cNvSpPr/>
          <p:nvPr/>
        </p:nvSpPr>
        <p:spPr>
          <a:xfrm>
            <a:off x="4251960" y="3566160"/>
            <a:ext cx="3566160" cy="2011680"/>
          </a:xfrm>
          <a:prstGeom prst="roundRect">
            <a:avLst>
              <a:gd name="adj" fmla="val 3636"/>
            </a:avLst>
          </a:prstGeom>
          <a:solidFill>
            <a:schemeClr val="bg2"/>
          </a:solidFill>
          <a:ln w="9525">
            <a:solidFill>
              <a:schemeClr val="bg2"/>
            </a:solidFill>
            <a:prstDash val="solid"/>
          </a:ln>
        </p:spPr>
      </p:sp>
      <p:sp>
        <p:nvSpPr>
          <p:cNvPr id="20" name="cdot-4"/>
          <p:cNvSpPr/>
          <p:nvPr/>
        </p:nvSpPr>
        <p:spPr>
          <a:xfrm>
            <a:off x="4480560" y="3840480"/>
            <a:ext cx="292608" cy="292608"/>
          </a:xfrm>
          <a:prstGeom prst="ellipse">
            <a:avLst/>
          </a:prstGeom>
          <a:solidFill>
            <a:schemeClr val="accent1"/>
          </a:solidFill>
          <a:ln w="12700">
            <a:solidFill>
              <a:schemeClr val="accent1"/>
            </a:solidFill>
            <a:prstDash val="solid"/>
          </a:ln>
        </p:spPr>
      </p:sp>
      <p:sp>
        <p:nvSpPr>
          <p:cNvPr id="21" name="Text 19"/>
          <p:cNvSpPr txBox="1"/>
          <p:nvPr/>
        </p:nvSpPr>
        <p:spPr>
          <a:xfrm>
            <a:off x="4892040" y="3749040"/>
            <a:ext cx="2788920" cy="457200"/>
          </a:xfrm>
          <a:prstGeom prst="rect">
            <a:avLst/>
          </a:prstGeom>
          <a:noFill/>
          <a:ln/>
        </p:spPr>
        <p:txBody>
          <a:bodyPr wrap="square" lIns="1016" tIns="1016" rIns="1016" bIns="1016" rtlCol="0" anchor="t"/>
          <a:lstStyle/>
          <a:p>
            <a:pPr algn="l" indent="0" marL="0">
              <a:buNone/>
            </a:pPr>
            <a:r>
              <a:rPr lang="en-US" sz="1700" b="1" dirty="0">
                <a:solidFill>
                  <a:schemeClr val="tx1"/>
                </a:solidFill>
              </a:rPr>
              <a:t>Consent record</a:t>
            </a:r>
            <a:endParaRPr lang="en-US" sz="1700" dirty="0"/>
          </a:p>
        </p:txBody>
      </p:sp>
      <p:sp>
        <p:nvSpPr>
          <p:cNvPr id="22" name="Text 20"/>
          <p:cNvSpPr txBox="1"/>
          <p:nvPr/>
        </p:nvSpPr>
        <p:spPr>
          <a:xfrm>
            <a:off x="4480560" y="4343400"/>
            <a:ext cx="3200400" cy="1143000"/>
          </a:xfrm>
          <a:prstGeom prst="rect">
            <a:avLst/>
          </a:prstGeom>
          <a:noFill/>
          <a:ln/>
        </p:spPr>
        <p:txBody>
          <a:bodyPr wrap="square" lIns="1016" tIns="1016" rIns="1016" bIns="1016" rtlCol="0" anchor="t"/>
          <a:lstStyle/>
          <a:p>
            <a:pPr algn="l" indent="0" marL="0">
              <a:buNone/>
            </a:pPr>
            <a:r>
              <a:rPr lang="en-US" sz="1300" dirty="0">
                <a:solidFill>
                  <a:schemeClr val="tx1"/>
                </a:solidFill>
              </a:rPr>
              <a:t>Each acceptance of the terms stores the version, date, IP address and a fingerprint of the exact text.</a:t>
            </a:r>
            <a:endParaRPr lang="en-US" sz="1300" dirty="0"/>
          </a:p>
        </p:txBody>
      </p:sp>
      <p:sp>
        <p:nvSpPr>
          <p:cNvPr id="23" name="ctrl-5"/>
          <p:cNvSpPr/>
          <p:nvPr/>
        </p:nvSpPr>
        <p:spPr>
          <a:xfrm>
            <a:off x="8046720" y="3566160"/>
            <a:ext cx="3566160" cy="2011680"/>
          </a:xfrm>
          <a:prstGeom prst="roundRect">
            <a:avLst>
              <a:gd name="adj" fmla="val 3636"/>
            </a:avLst>
          </a:prstGeom>
          <a:solidFill>
            <a:schemeClr val="bg2"/>
          </a:solidFill>
          <a:ln w="9525">
            <a:solidFill>
              <a:schemeClr val="bg2"/>
            </a:solidFill>
            <a:prstDash val="solid"/>
          </a:ln>
        </p:spPr>
      </p:sp>
      <p:sp>
        <p:nvSpPr>
          <p:cNvPr id="24" name="cdot-5"/>
          <p:cNvSpPr/>
          <p:nvPr/>
        </p:nvSpPr>
        <p:spPr>
          <a:xfrm>
            <a:off x="8275320" y="3840480"/>
            <a:ext cx="292608" cy="292608"/>
          </a:xfrm>
          <a:prstGeom prst="ellipse">
            <a:avLst/>
          </a:prstGeom>
          <a:solidFill>
            <a:schemeClr val="accent1"/>
          </a:solidFill>
          <a:ln w="12700">
            <a:solidFill>
              <a:schemeClr val="accent1"/>
            </a:solidFill>
            <a:prstDash val="solid"/>
          </a:ln>
        </p:spPr>
      </p:sp>
      <p:sp>
        <p:nvSpPr>
          <p:cNvPr id="25" name="Text 23"/>
          <p:cNvSpPr txBox="1"/>
          <p:nvPr/>
        </p:nvSpPr>
        <p:spPr>
          <a:xfrm>
            <a:off x="8686800" y="3749040"/>
            <a:ext cx="2788920" cy="457200"/>
          </a:xfrm>
          <a:prstGeom prst="rect">
            <a:avLst/>
          </a:prstGeom>
          <a:noFill/>
          <a:ln/>
        </p:spPr>
        <p:txBody>
          <a:bodyPr wrap="square" lIns="1016" tIns="1016" rIns="1016" bIns="1016" rtlCol="0" anchor="t"/>
          <a:lstStyle/>
          <a:p>
            <a:pPr algn="l" indent="0" marL="0">
              <a:buNone/>
            </a:pPr>
            <a:r>
              <a:rPr lang="en-US" sz="1700" b="1" dirty="0">
                <a:solidFill>
                  <a:schemeClr val="tx1"/>
                </a:solidFill>
              </a:rPr>
              <a:t>Audit trail</a:t>
            </a:r>
            <a:endParaRPr lang="en-US" sz="1700" dirty="0"/>
          </a:p>
        </p:txBody>
      </p:sp>
      <p:sp>
        <p:nvSpPr>
          <p:cNvPr id="26" name="Text 24"/>
          <p:cNvSpPr txBox="1"/>
          <p:nvPr/>
        </p:nvSpPr>
        <p:spPr>
          <a:xfrm>
            <a:off x="8275320" y="4343400"/>
            <a:ext cx="3200400" cy="1143000"/>
          </a:xfrm>
          <a:prstGeom prst="rect">
            <a:avLst/>
          </a:prstGeom>
          <a:noFill/>
          <a:ln/>
        </p:spPr>
        <p:txBody>
          <a:bodyPr wrap="square" lIns="1016" tIns="1016" rIns="1016" bIns="1016" rtlCol="0" anchor="t"/>
          <a:lstStyle/>
          <a:p>
            <a:pPr algn="l" indent="0" marL="0">
              <a:buNone/>
            </a:pPr>
            <a:r>
              <a:rPr lang="en-US" sz="1300" dirty="0">
                <a:solidFill>
                  <a:schemeClr val="tx1"/>
                </a:solidFill>
              </a:rPr>
              <a:t>Append-only log of every action, including document fingerprints and decisions with their notes.</a:t>
            </a:r>
            <a:endParaRPr lang="en-US" sz="1300" dirty="0"/>
          </a:p>
        </p:txBody>
      </p:sp>
      <p:sp>
        <p:nvSpPr>
          <p:cNvPr id="27" name="Text 25"/>
          <p:cNvSpPr txBox="1"/>
          <p:nvPr/>
        </p:nvSpPr>
        <p:spPr>
          <a:xfrm>
            <a:off x="457200" y="5852160"/>
            <a:ext cx="11247120" cy="365760"/>
          </a:xfrm>
          <a:prstGeom prst="rect">
            <a:avLst/>
          </a:prstGeom>
          <a:noFill/>
          <a:ln/>
        </p:spPr>
        <p:txBody>
          <a:bodyPr wrap="square" lIns="0" tIns="0" rIns="0" bIns="0" rtlCol="0" anchor="t"/>
          <a:lstStyle/>
          <a:p>
            <a:pPr algn="l" indent="0" marL="0">
              <a:buNone/>
            </a:pPr>
            <a:r>
              <a:rPr lang="en-US" sz="1300" i="1" dirty="0">
                <a:solidFill>
                  <a:schemeClr val="tx2"/>
                </a:solidFill>
              </a:rPr>
              <a:t>Sanctions and PEP screening is recorded manually per person; no screening provider is connected yet.</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47120" cy="731520"/>
          </a:xfrm>
          <a:prstGeom prst="rect">
            <a:avLst/>
          </a:prstGeom>
          <a:noFill/>
          <a:ln/>
        </p:spPr>
        <p:txBody>
          <a:bodyPr wrap="square" lIns="0" tIns="0" rIns="0" bIns="0" rtlCol="0" anchor="ctr"/>
          <a:lstStyle/>
          <a:p>
            <a:pPr algn="l" indent="0" marL="0">
              <a:buNone/>
            </a:pPr>
            <a:r>
              <a:rPr lang="en-US" sz="3000" b="1" dirty="0">
                <a:solidFill>
                  <a:schemeClr val="tx1"/>
                </a:solidFill>
              </a:rPr>
              <a:t>Transaction data: reporting, billing, acquirer reconciliation</a:t>
            </a:r>
            <a:endParaRPr lang="en-US" sz="3000" dirty="0"/>
          </a:p>
        </p:txBody>
      </p:sp>
      <p:sp>
        <p:nvSpPr>
          <p:cNvPr id="3" name="Text 1"/>
          <p:cNvSpPr txBox="1"/>
          <p:nvPr/>
        </p:nvSpPr>
        <p:spPr>
          <a:xfrm>
            <a:off x="457200" y="1188720"/>
            <a:ext cx="10972800" cy="411480"/>
          </a:xfrm>
          <a:prstGeom prst="rect">
            <a:avLst/>
          </a:prstGeom>
          <a:noFill/>
          <a:ln/>
        </p:spPr>
        <p:txBody>
          <a:bodyPr wrap="square" lIns="0" tIns="0" rIns="0" bIns="0" rtlCol="0" anchor="t"/>
          <a:lstStyle/>
          <a:p>
            <a:pPr algn="l" indent="0" marL="0">
              <a:buNone/>
            </a:pPr>
            <a:r>
              <a:rPr lang="en-US" sz="2000" b="1" dirty="0">
                <a:solidFill>
                  <a:schemeClr val="tx1"/>
                </a:solidFill>
                <a:latin typeface="Cambria" pitchFamily="34" charset="0"/>
                <a:ea typeface="Cambria" pitchFamily="34" charset="-122"/>
                <a:cs typeface="Cambria" pitchFamily="34" charset="-120"/>
              </a:rPr>
              <a:t>Reporting and billing</a:t>
            </a:r>
            <a:endParaRPr lang="en-US" sz="2000" dirty="0"/>
          </a:p>
        </p:txBody>
      </p:sp>
      <p:sp>
        <p:nvSpPr>
          <p:cNvPr id="4" name="Reporting and billing0"/>
          <p:cNvSpPr/>
          <p:nvPr/>
        </p:nvSpPr>
        <p:spPr>
          <a:xfrm>
            <a:off x="457200" y="1737360"/>
            <a:ext cx="2514600" cy="1097280"/>
          </a:xfrm>
          <a:prstGeom prst="roundRect">
            <a:avLst>
              <a:gd name="adj" fmla="val 6667"/>
            </a:avLst>
          </a:prstGeom>
          <a:solidFill>
            <a:schemeClr val="accent1">
              <a:alpha val="12000"/>
            </a:schemeClr>
          </a:solidFill>
          <a:ln w="9525">
            <a:solidFill>
              <a:schemeClr val="accent1"/>
            </a:solidFill>
            <a:prstDash val="solid"/>
          </a:ln>
        </p:spPr>
      </p:sp>
      <p:sp>
        <p:nvSpPr>
          <p:cNvPr id="5" name="Text 3"/>
          <p:cNvSpPr txBox="1"/>
          <p:nvPr/>
        </p:nvSpPr>
        <p:spPr>
          <a:xfrm>
            <a:off x="530352" y="1737360"/>
            <a:ext cx="2368296" cy="1097280"/>
          </a:xfrm>
          <a:prstGeom prst="rect">
            <a:avLst/>
          </a:prstGeom>
          <a:noFill/>
          <a:ln/>
        </p:spPr>
        <p:txBody>
          <a:bodyPr wrap="square" lIns="1016" tIns="1016" rIns="1016" bIns="1016" rtlCol="0" anchor="ctr"/>
          <a:lstStyle/>
          <a:p>
            <a:pPr algn="l" indent="0" marL="0">
              <a:buNone/>
            </a:pPr>
            <a:r>
              <a:rPr lang="en-US" sz="1400" dirty="0">
                <a:solidFill>
                  <a:schemeClr val="tx1"/>
                </a:solidFill>
              </a:rPr>
              <a:t>Transaction export or data warehouse</a:t>
            </a:r>
            <a:endParaRPr lang="en-US" sz="1400" dirty="0"/>
          </a:p>
        </p:txBody>
      </p:sp>
      <p:sp>
        <p:nvSpPr>
          <p:cNvPr id="6" name="Shape 4"/>
          <p:cNvSpPr/>
          <p:nvPr/>
        </p:nvSpPr>
        <p:spPr>
          <a:xfrm>
            <a:off x="2999232" y="2286000"/>
            <a:ext cx="310896" cy="0"/>
          </a:xfrm>
          <a:prstGeom prst="line">
            <a:avLst/>
          </a:prstGeom>
          <a:noFill/>
          <a:ln w="19050">
            <a:solidFill>
              <a:schemeClr val="tx2"/>
            </a:solidFill>
            <a:prstDash val="solid"/>
            <a:tailEnd type="triangle"/>
          </a:ln>
        </p:spPr>
      </p:sp>
      <p:sp>
        <p:nvSpPr>
          <p:cNvPr id="7" name="Reporting and billing1"/>
          <p:cNvSpPr/>
          <p:nvPr/>
        </p:nvSpPr>
        <p:spPr>
          <a:xfrm>
            <a:off x="3337560" y="1737360"/>
            <a:ext cx="2514600" cy="1097280"/>
          </a:xfrm>
          <a:prstGeom prst="roundRect">
            <a:avLst>
              <a:gd name="adj" fmla="val 6667"/>
            </a:avLst>
          </a:prstGeom>
          <a:solidFill>
            <a:schemeClr val="accent1">
              <a:alpha val="12000"/>
            </a:schemeClr>
          </a:solidFill>
          <a:ln w="9525">
            <a:solidFill>
              <a:schemeClr val="accent1"/>
            </a:solidFill>
            <a:prstDash val="solid"/>
          </a:ln>
        </p:spPr>
      </p:sp>
      <p:sp>
        <p:nvSpPr>
          <p:cNvPr id="8" name="Text 6"/>
          <p:cNvSpPr txBox="1"/>
          <p:nvPr/>
        </p:nvSpPr>
        <p:spPr>
          <a:xfrm>
            <a:off x="3410712" y="1737360"/>
            <a:ext cx="2368296" cy="1097280"/>
          </a:xfrm>
          <a:prstGeom prst="rect">
            <a:avLst/>
          </a:prstGeom>
          <a:noFill/>
          <a:ln/>
        </p:spPr>
        <p:txBody>
          <a:bodyPr wrap="square" lIns="1016" tIns="1016" rIns="1016" bIns="1016" rtlCol="0" anchor="ctr"/>
          <a:lstStyle/>
          <a:p>
            <a:pPr algn="l" indent="0" marL="0">
              <a:buNone/>
            </a:pPr>
            <a:r>
              <a:rPr lang="en-US" sz="1400" dirty="0">
                <a:solidFill>
                  <a:schemeClr val="tx1"/>
                </a:solidFill>
              </a:rPr>
              <a:t>Successful, non-test transactions only</a:t>
            </a:r>
            <a:endParaRPr lang="en-US" sz="1400" dirty="0"/>
          </a:p>
        </p:txBody>
      </p:sp>
      <p:sp>
        <p:nvSpPr>
          <p:cNvPr id="9" name="Shape 7"/>
          <p:cNvSpPr/>
          <p:nvPr/>
        </p:nvSpPr>
        <p:spPr>
          <a:xfrm>
            <a:off x="5879592" y="2286000"/>
            <a:ext cx="310896" cy="0"/>
          </a:xfrm>
          <a:prstGeom prst="line">
            <a:avLst/>
          </a:prstGeom>
          <a:noFill/>
          <a:ln w="19050">
            <a:solidFill>
              <a:schemeClr val="tx2"/>
            </a:solidFill>
            <a:prstDash val="solid"/>
            <a:tailEnd type="triangle"/>
          </a:ln>
        </p:spPr>
      </p:sp>
      <p:sp>
        <p:nvSpPr>
          <p:cNvPr id="10" name="Reporting and billing2"/>
          <p:cNvSpPr/>
          <p:nvPr/>
        </p:nvSpPr>
        <p:spPr>
          <a:xfrm>
            <a:off x="6217920" y="1737360"/>
            <a:ext cx="2514600" cy="1097280"/>
          </a:xfrm>
          <a:prstGeom prst="roundRect">
            <a:avLst>
              <a:gd name="adj" fmla="val 6667"/>
            </a:avLst>
          </a:prstGeom>
          <a:solidFill>
            <a:schemeClr val="accent2">
              <a:alpha val="12000"/>
            </a:schemeClr>
          </a:solidFill>
          <a:ln w="9525">
            <a:solidFill>
              <a:schemeClr val="accent2"/>
            </a:solidFill>
            <a:prstDash val="solid"/>
          </a:ln>
        </p:spPr>
      </p:sp>
      <p:sp>
        <p:nvSpPr>
          <p:cNvPr id="11" name="Text 9"/>
          <p:cNvSpPr txBox="1"/>
          <p:nvPr/>
        </p:nvSpPr>
        <p:spPr>
          <a:xfrm>
            <a:off x="6291072" y="1737360"/>
            <a:ext cx="2368296" cy="1097280"/>
          </a:xfrm>
          <a:prstGeom prst="rect">
            <a:avLst/>
          </a:prstGeom>
          <a:noFill/>
          <a:ln/>
        </p:spPr>
        <p:txBody>
          <a:bodyPr wrap="square" lIns="1016" tIns="1016" rIns="1016" bIns="1016" rtlCol="0" anchor="ctr"/>
          <a:lstStyle/>
          <a:p>
            <a:pPr algn="l" indent="0" marL="0">
              <a:buNone/>
            </a:pPr>
            <a:r>
              <a:rPr lang="en-US" sz="1400" dirty="0">
                <a:solidFill>
                  <a:schemeClr val="tx1"/>
                </a:solidFill>
              </a:rPr>
              <a:t>Monthly report and trends</a:t>
            </a:r>
            <a:endParaRPr lang="en-US" sz="1400" dirty="0"/>
          </a:p>
        </p:txBody>
      </p:sp>
      <p:sp>
        <p:nvSpPr>
          <p:cNvPr id="12" name="Shape 10"/>
          <p:cNvSpPr/>
          <p:nvPr/>
        </p:nvSpPr>
        <p:spPr>
          <a:xfrm>
            <a:off x="8759952" y="2286000"/>
            <a:ext cx="310896" cy="0"/>
          </a:xfrm>
          <a:prstGeom prst="line">
            <a:avLst/>
          </a:prstGeom>
          <a:noFill/>
          <a:ln w="19050">
            <a:solidFill>
              <a:schemeClr val="tx2"/>
            </a:solidFill>
            <a:prstDash val="solid"/>
            <a:tailEnd type="triangle"/>
          </a:ln>
        </p:spPr>
      </p:sp>
      <p:sp>
        <p:nvSpPr>
          <p:cNvPr id="13" name="Reporting and billing3"/>
          <p:cNvSpPr/>
          <p:nvPr/>
        </p:nvSpPr>
        <p:spPr>
          <a:xfrm>
            <a:off x="9098280" y="1737360"/>
            <a:ext cx="2514600" cy="1097280"/>
          </a:xfrm>
          <a:prstGeom prst="roundRect">
            <a:avLst>
              <a:gd name="adj" fmla="val 6667"/>
            </a:avLst>
          </a:prstGeom>
          <a:solidFill>
            <a:schemeClr val="accent2">
              <a:alpha val="12000"/>
            </a:schemeClr>
          </a:solidFill>
          <a:ln w="9525">
            <a:solidFill>
              <a:schemeClr val="accent2"/>
            </a:solidFill>
            <a:prstDash val="solid"/>
          </a:ln>
        </p:spPr>
      </p:sp>
      <p:sp>
        <p:nvSpPr>
          <p:cNvPr id="14" name="Text 12"/>
          <p:cNvSpPr txBox="1"/>
          <p:nvPr/>
        </p:nvSpPr>
        <p:spPr>
          <a:xfrm>
            <a:off x="9171432" y="1737360"/>
            <a:ext cx="2368296" cy="1097280"/>
          </a:xfrm>
          <a:prstGeom prst="rect">
            <a:avLst/>
          </a:prstGeom>
          <a:noFill/>
          <a:ln/>
        </p:spPr>
        <p:txBody>
          <a:bodyPr wrap="square" lIns="1016" tIns="1016" rIns="1016" bIns="1016" rtlCol="0" anchor="ctr"/>
          <a:lstStyle/>
          <a:p>
            <a:pPr algn="l" indent="0" marL="0">
              <a:buNone/>
            </a:pPr>
            <a:r>
              <a:rPr lang="en-US" sz="1400" dirty="0">
                <a:solidFill>
                  <a:schemeClr val="tx1"/>
                </a:solidFill>
              </a:rPr>
              <a:t>Fee invoices</a:t>
            </a:r>
            <a:endParaRPr lang="en-US" sz="1400" dirty="0"/>
          </a:p>
        </p:txBody>
      </p:sp>
      <p:sp>
        <p:nvSpPr>
          <p:cNvPr id="15" name="Text 13"/>
          <p:cNvSpPr txBox="1"/>
          <p:nvPr/>
        </p:nvSpPr>
        <p:spPr>
          <a:xfrm>
            <a:off x="457200" y="2926080"/>
            <a:ext cx="11247120" cy="365760"/>
          </a:xfrm>
          <a:prstGeom prst="rect">
            <a:avLst/>
          </a:prstGeom>
          <a:noFill/>
          <a:ln/>
        </p:spPr>
        <p:txBody>
          <a:bodyPr wrap="square" lIns="0" tIns="0" rIns="0" bIns="0" rtlCol="0" anchor="t"/>
          <a:lstStyle/>
          <a:p>
            <a:pPr algn="l" indent="0" marL="0">
              <a:buNone/>
            </a:pPr>
            <a:r>
              <a:rPr lang="en-US" sz="1300" i="1" dirty="0">
                <a:solidFill>
                  <a:schemeClr val="tx2"/>
                </a:solidFill>
              </a:rPr>
              <a:t>A month that has issued invoices cannot be re-imported.</a:t>
            </a:r>
            <a:endParaRPr lang="en-US" sz="1300" dirty="0"/>
          </a:p>
        </p:txBody>
      </p:sp>
      <p:sp>
        <p:nvSpPr>
          <p:cNvPr id="16" name="Text 14"/>
          <p:cNvSpPr txBox="1"/>
          <p:nvPr/>
        </p:nvSpPr>
        <p:spPr>
          <a:xfrm>
            <a:off x="457200" y="3657600"/>
            <a:ext cx="10972800" cy="411480"/>
          </a:xfrm>
          <a:prstGeom prst="rect">
            <a:avLst/>
          </a:prstGeom>
          <a:noFill/>
          <a:ln/>
        </p:spPr>
        <p:txBody>
          <a:bodyPr wrap="square" lIns="0" tIns="0" rIns="0" bIns="0" rtlCol="0" anchor="t"/>
          <a:lstStyle/>
          <a:p>
            <a:pPr algn="l" indent="0" marL="0">
              <a:buNone/>
            </a:pPr>
            <a:r>
              <a:rPr lang="en-US" sz="2000" b="1" dirty="0">
                <a:solidFill>
                  <a:schemeClr val="tx1"/>
                </a:solidFill>
                <a:latin typeface="Cambria" pitchFamily="34" charset="0"/>
                <a:ea typeface="Cambria" pitchFamily="34" charset="-122"/>
                <a:cs typeface="Cambria" pitchFamily="34" charset="-120"/>
              </a:rPr>
              <a:t>Acquirer reconciliation</a:t>
            </a:r>
            <a:endParaRPr lang="en-US" sz="2000" dirty="0"/>
          </a:p>
        </p:txBody>
      </p:sp>
      <p:sp>
        <p:nvSpPr>
          <p:cNvPr id="17" name="Acquirer reconciliation0"/>
          <p:cNvSpPr/>
          <p:nvPr/>
        </p:nvSpPr>
        <p:spPr>
          <a:xfrm>
            <a:off x="457200" y="4206240"/>
            <a:ext cx="2514600" cy="1097280"/>
          </a:xfrm>
          <a:prstGeom prst="roundRect">
            <a:avLst>
              <a:gd name="adj" fmla="val 6667"/>
            </a:avLst>
          </a:prstGeom>
          <a:solidFill>
            <a:schemeClr val="accent1">
              <a:alpha val="12000"/>
            </a:schemeClr>
          </a:solidFill>
          <a:ln w="9525">
            <a:solidFill>
              <a:schemeClr val="accent1"/>
            </a:solidFill>
            <a:prstDash val="solid"/>
          </a:ln>
        </p:spPr>
      </p:sp>
      <p:sp>
        <p:nvSpPr>
          <p:cNvPr id="18" name="Text 16"/>
          <p:cNvSpPr txBox="1"/>
          <p:nvPr/>
        </p:nvSpPr>
        <p:spPr>
          <a:xfrm>
            <a:off x="530352" y="4206240"/>
            <a:ext cx="2368296" cy="1097280"/>
          </a:xfrm>
          <a:prstGeom prst="rect">
            <a:avLst/>
          </a:prstGeom>
          <a:noFill/>
          <a:ln/>
        </p:spPr>
        <p:txBody>
          <a:bodyPr wrap="square" lIns="1016" tIns="1016" rIns="1016" bIns="1016" rtlCol="0" anchor="ctr"/>
          <a:lstStyle/>
          <a:p>
            <a:pPr algn="l" indent="0" marL="0">
              <a:buNone/>
            </a:pPr>
            <a:r>
              <a:rPr lang="en-US" sz="1400" dirty="0">
                <a:solidFill>
                  <a:schemeClr val="tx1"/>
                </a:solidFill>
              </a:rPr>
              <a:t>Acquirer file + platform extract</a:t>
            </a:r>
            <a:endParaRPr lang="en-US" sz="1400" dirty="0"/>
          </a:p>
        </p:txBody>
      </p:sp>
      <p:sp>
        <p:nvSpPr>
          <p:cNvPr id="19" name="Shape 17"/>
          <p:cNvSpPr/>
          <p:nvPr/>
        </p:nvSpPr>
        <p:spPr>
          <a:xfrm>
            <a:off x="2999232" y="4754880"/>
            <a:ext cx="310896" cy="0"/>
          </a:xfrm>
          <a:prstGeom prst="line">
            <a:avLst/>
          </a:prstGeom>
          <a:noFill/>
          <a:ln w="19050">
            <a:solidFill>
              <a:schemeClr val="tx2"/>
            </a:solidFill>
            <a:prstDash val="solid"/>
            <a:tailEnd type="triangle"/>
          </a:ln>
        </p:spPr>
      </p:sp>
      <p:sp>
        <p:nvSpPr>
          <p:cNvPr id="20" name="Acquirer reconciliation1"/>
          <p:cNvSpPr/>
          <p:nvPr/>
        </p:nvSpPr>
        <p:spPr>
          <a:xfrm>
            <a:off x="3337560" y="4206240"/>
            <a:ext cx="2514600" cy="1097280"/>
          </a:xfrm>
          <a:prstGeom prst="roundRect">
            <a:avLst>
              <a:gd name="adj" fmla="val 6667"/>
            </a:avLst>
          </a:prstGeom>
          <a:solidFill>
            <a:schemeClr val="accent1">
              <a:alpha val="12000"/>
            </a:schemeClr>
          </a:solidFill>
          <a:ln w="9525">
            <a:solidFill>
              <a:schemeClr val="accent1"/>
            </a:solidFill>
            <a:prstDash val="solid"/>
          </a:ln>
        </p:spPr>
      </p:sp>
      <p:sp>
        <p:nvSpPr>
          <p:cNvPr id="21" name="Text 19"/>
          <p:cNvSpPr txBox="1"/>
          <p:nvPr/>
        </p:nvSpPr>
        <p:spPr>
          <a:xfrm>
            <a:off x="3410712" y="4206240"/>
            <a:ext cx="2368296" cy="1097280"/>
          </a:xfrm>
          <a:prstGeom prst="rect">
            <a:avLst/>
          </a:prstGeom>
          <a:noFill/>
          <a:ln/>
        </p:spPr>
        <p:txBody>
          <a:bodyPr wrap="square" lIns="1016" tIns="1016" rIns="1016" bIns="1016" rtlCol="0" anchor="ctr"/>
          <a:lstStyle/>
          <a:p>
            <a:pPr algn="l" indent="0" marL="0">
              <a:buNone/>
            </a:pPr>
            <a:r>
              <a:rPr lang="en-US" sz="1400" dirty="0">
                <a:solidFill>
                  <a:schemeClr val="tx1"/>
                </a:solidFill>
              </a:rPr>
              <a:t>Scope checks, MID mapping</a:t>
            </a:r>
            <a:endParaRPr lang="en-US" sz="1400" dirty="0"/>
          </a:p>
        </p:txBody>
      </p:sp>
      <p:sp>
        <p:nvSpPr>
          <p:cNvPr id="22" name="Shape 20"/>
          <p:cNvSpPr/>
          <p:nvPr/>
        </p:nvSpPr>
        <p:spPr>
          <a:xfrm>
            <a:off x="5879592" y="4754880"/>
            <a:ext cx="310896" cy="0"/>
          </a:xfrm>
          <a:prstGeom prst="line">
            <a:avLst/>
          </a:prstGeom>
          <a:noFill/>
          <a:ln w="19050">
            <a:solidFill>
              <a:schemeClr val="tx2"/>
            </a:solidFill>
            <a:prstDash val="solid"/>
            <a:tailEnd type="triangle"/>
          </a:ln>
        </p:spPr>
      </p:sp>
      <p:sp>
        <p:nvSpPr>
          <p:cNvPr id="23" name="Acquirer reconciliation2"/>
          <p:cNvSpPr/>
          <p:nvPr/>
        </p:nvSpPr>
        <p:spPr>
          <a:xfrm>
            <a:off x="6217920" y="4206240"/>
            <a:ext cx="2514600" cy="1097280"/>
          </a:xfrm>
          <a:prstGeom prst="roundRect">
            <a:avLst>
              <a:gd name="adj" fmla="val 6667"/>
            </a:avLst>
          </a:prstGeom>
          <a:solidFill>
            <a:schemeClr val="accent2">
              <a:alpha val="12000"/>
            </a:schemeClr>
          </a:solidFill>
          <a:ln w="9525">
            <a:solidFill>
              <a:schemeClr val="accent2"/>
            </a:solidFill>
            <a:prstDash val="solid"/>
          </a:ln>
        </p:spPr>
      </p:sp>
      <p:sp>
        <p:nvSpPr>
          <p:cNvPr id="24" name="Text 22"/>
          <p:cNvSpPr txBox="1"/>
          <p:nvPr/>
        </p:nvSpPr>
        <p:spPr>
          <a:xfrm>
            <a:off x="6291072" y="4206240"/>
            <a:ext cx="2368296" cy="1097280"/>
          </a:xfrm>
          <a:prstGeom prst="rect">
            <a:avLst/>
          </a:prstGeom>
          <a:noFill/>
          <a:ln/>
        </p:spPr>
        <p:txBody>
          <a:bodyPr wrap="square" lIns="1016" tIns="1016" rIns="1016" bIns="1016" rtlCol="0" anchor="ctr"/>
          <a:lstStyle/>
          <a:p>
            <a:pPr algn="l" indent="0" marL="0">
              <a:buNone/>
            </a:pPr>
            <a:r>
              <a:rPr lang="en-US" sz="1400" dirty="0">
                <a:solidFill>
                  <a:schemeClr val="tx1"/>
                </a:solidFill>
              </a:rPr>
              <a:t>Gap split into 6 categories</a:t>
            </a:r>
            <a:endParaRPr lang="en-US" sz="1400" dirty="0"/>
          </a:p>
        </p:txBody>
      </p:sp>
      <p:sp>
        <p:nvSpPr>
          <p:cNvPr id="25" name="Shape 23"/>
          <p:cNvSpPr/>
          <p:nvPr/>
        </p:nvSpPr>
        <p:spPr>
          <a:xfrm>
            <a:off x="8759952" y="4754880"/>
            <a:ext cx="310896" cy="0"/>
          </a:xfrm>
          <a:prstGeom prst="line">
            <a:avLst/>
          </a:prstGeom>
          <a:noFill/>
          <a:ln w="19050">
            <a:solidFill>
              <a:schemeClr val="tx2"/>
            </a:solidFill>
            <a:prstDash val="solid"/>
            <a:tailEnd type="triangle"/>
          </a:ln>
        </p:spPr>
      </p:sp>
      <p:sp>
        <p:nvSpPr>
          <p:cNvPr id="26" name="Acquirer reconciliation3"/>
          <p:cNvSpPr/>
          <p:nvPr/>
        </p:nvSpPr>
        <p:spPr>
          <a:xfrm>
            <a:off x="9098280" y="4206240"/>
            <a:ext cx="2514600" cy="1097280"/>
          </a:xfrm>
          <a:prstGeom prst="roundRect">
            <a:avLst>
              <a:gd name="adj" fmla="val 6667"/>
            </a:avLst>
          </a:prstGeom>
          <a:solidFill>
            <a:schemeClr val="accent2">
              <a:alpha val="12000"/>
            </a:schemeClr>
          </a:solidFill>
          <a:ln w="9525">
            <a:solidFill>
              <a:schemeClr val="accent2"/>
            </a:solidFill>
            <a:prstDash val="solid"/>
          </a:ln>
        </p:spPr>
      </p:sp>
      <p:sp>
        <p:nvSpPr>
          <p:cNvPr id="27" name="Text 25"/>
          <p:cNvSpPr txBox="1"/>
          <p:nvPr/>
        </p:nvSpPr>
        <p:spPr>
          <a:xfrm>
            <a:off x="9171432" y="4206240"/>
            <a:ext cx="2368296" cy="1097280"/>
          </a:xfrm>
          <a:prstGeom prst="rect">
            <a:avLst/>
          </a:prstGeom>
          <a:noFill/>
          <a:ln/>
        </p:spPr>
        <p:txBody>
          <a:bodyPr wrap="square" lIns="1016" tIns="1016" rIns="1016" bIns="1016" rtlCol="0" anchor="ctr"/>
          <a:lstStyle/>
          <a:p>
            <a:pPr algn="l" indent="0" marL="0">
              <a:buNone/>
            </a:pPr>
            <a:r>
              <a:rPr lang="en-US" sz="1400" dirty="0">
                <a:solidFill>
                  <a:schemeClr val="tx1"/>
                </a:solidFill>
              </a:rPr>
              <a:t>Unexplained = 0, claims list</a:t>
            </a:r>
            <a:endParaRPr lang="en-US" sz="1400" dirty="0"/>
          </a:p>
        </p:txBody>
      </p:sp>
      <p:sp>
        <p:nvSpPr>
          <p:cNvPr id="28" name="Text 26"/>
          <p:cNvSpPr txBox="1"/>
          <p:nvPr/>
        </p:nvSpPr>
        <p:spPr>
          <a:xfrm>
            <a:off x="457200" y="5394960"/>
            <a:ext cx="11247120" cy="365760"/>
          </a:xfrm>
          <a:prstGeom prst="rect">
            <a:avLst/>
          </a:prstGeom>
          <a:noFill/>
          <a:ln/>
        </p:spPr>
        <p:txBody>
          <a:bodyPr wrap="square" lIns="0" tIns="0" rIns="0" bIns="0" rtlCol="0" anchor="t"/>
          <a:lstStyle/>
          <a:p>
            <a:pPr algn="l" indent="0" marL="0">
              <a:buNone/>
            </a:pPr>
            <a:r>
              <a:rPr lang="en-US" sz="1300" i="1" dirty="0">
                <a:solidFill>
                  <a:schemeClr val="tx2"/>
                </a:solidFill>
              </a:rPr>
              <a:t>This compares transaction volumes. It is not a reconciliation of funds or of a trust account.</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47120" cy="731520"/>
          </a:xfrm>
          <a:prstGeom prst="rect">
            <a:avLst/>
          </a:prstGeom>
          <a:noFill/>
          <a:ln/>
        </p:spPr>
        <p:txBody>
          <a:bodyPr wrap="square" lIns="0" tIns="0" rIns="0" bIns="0" rtlCol="0" anchor="ctr"/>
          <a:lstStyle/>
          <a:p>
            <a:pPr algn="l" indent="0" marL="0">
              <a:buNone/>
            </a:pPr>
            <a:r>
              <a:rPr lang="en-US" sz="3000" b="1" dirty="0">
                <a:solidFill>
                  <a:schemeClr val="tx1"/>
                </a:solidFill>
              </a:rPr>
              <a:t>Fund flow model</a:t>
            </a:r>
            <a:endParaRPr lang="en-US" sz="3000" dirty="0"/>
          </a:p>
        </p:txBody>
      </p:sp>
      <p:sp>
        <p:nvSpPr>
          <p:cNvPr id="3" name="draft-tag"/>
          <p:cNvSpPr/>
          <p:nvPr/>
        </p:nvSpPr>
        <p:spPr>
          <a:xfrm>
            <a:off x="6675120" y="411480"/>
            <a:ext cx="5029200" cy="548640"/>
          </a:xfrm>
          <a:prstGeom prst="roundRect">
            <a:avLst>
              <a:gd name="adj" fmla="val 13333"/>
            </a:avLst>
          </a:prstGeom>
          <a:solidFill>
            <a:schemeClr val="accent6">
              <a:alpha val="15000"/>
            </a:schemeClr>
          </a:solidFill>
          <a:ln w="19050">
            <a:solidFill>
              <a:schemeClr val="accent6"/>
            </a:solidFill>
            <a:prstDash val="solid"/>
          </a:ln>
        </p:spPr>
      </p:sp>
      <p:sp>
        <p:nvSpPr>
          <p:cNvPr id="4" name="Text 2"/>
          <p:cNvSpPr txBox="1"/>
          <p:nvPr/>
        </p:nvSpPr>
        <p:spPr>
          <a:xfrm>
            <a:off x="6675120" y="411480"/>
            <a:ext cx="5029200" cy="548640"/>
          </a:xfrm>
          <a:prstGeom prst="rect">
            <a:avLst/>
          </a:prstGeom>
          <a:noFill/>
          <a:ln/>
        </p:spPr>
        <p:txBody>
          <a:bodyPr wrap="square" lIns="1016" tIns="1016" rIns="1016" bIns="1016" rtlCol="0" anchor="ctr"/>
          <a:lstStyle/>
          <a:p>
            <a:pPr algn="ctr" indent="0" marL="0">
              <a:buNone/>
            </a:pPr>
            <a:r>
              <a:rPr lang="en-US" sz="1300" b="1" dirty="0">
                <a:solidFill>
                  <a:schemeClr val="accent6"/>
                </a:solidFill>
              </a:rPr>
              <a:t>DRAFT — keep only the model chosen before submission</a:t>
            </a:r>
            <a:endParaRPr lang="en-US" sz="1300" dirty="0"/>
          </a:p>
        </p:txBody>
      </p:sp>
      <p:sp>
        <p:nvSpPr>
          <p:cNvPr id="5" name="Text 3"/>
          <p:cNvSpPr txBox="1"/>
          <p:nvPr/>
        </p:nvSpPr>
        <p:spPr>
          <a:xfrm>
            <a:off x="457200" y="1188720"/>
            <a:ext cx="5577840" cy="365760"/>
          </a:xfrm>
          <a:prstGeom prst="rect">
            <a:avLst/>
          </a:prstGeom>
          <a:noFill/>
          <a:ln/>
        </p:spPr>
        <p:txBody>
          <a:bodyPr wrap="square" lIns="0" tIns="0" rIns="0" bIns="0" rtlCol="0" anchor="t"/>
          <a:lstStyle/>
          <a:p>
            <a:pPr algn="l" indent="0" marL="0">
              <a:buNone/>
            </a:pPr>
            <a:r>
              <a:rPr lang="en-US" sz="1600" b="1" dirty="0">
                <a:solidFill>
                  <a:schemeClr val="accent2"/>
                </a:solidFill>
              </a:rPr>
              <a:t>A · Gateway: merchants are paid by the acquirer</a:t>
            </a:r>
            <a:endParaRPr lang="en-US" sz="1600" dirty="0"/>
          </a:p>
        </p:txBody>
      </p:sp>
      <p:sp>
        <p:nvSpPr>
          <p:cNvPr id="6" name="a1"/>
          <p:cNvSpPr/>
          <p:nvPr/>
        </p:nvSpPr>
        <p:spPr>
          <a:xfrm>
            <a:off x="457200" y="1783080"/>
            <a:ext cx="1645920" cy="685800"/>
          </a:xfrm>
          <a:prstGeom prst="roundRect">
            <a:avLst>
              <a:gd name="adj" fmla="val 10667"/>
            </a:avLst>
          </a:prstGeom>
          <a:solidFill>
            <a:schemeClr val="bg2"/>
          </a:solidFill>
          <a:ln w="9525">
            <a:solidFill>
              <a:srgbClr val="C9D3DE"/>
            </a:solidFill>
            <a:prstDash val="solid"/>
          </a:ln>
        </p:spPr>
      </p:sp>
      <p:sp>
        <p:nvSpPr>
          <p:cNvPr id="7" name="Text 5"/>
          <p:cNvSpPr txBox="1"/>
          <p:nvPr/>
        </p:nvSpPr>
        <p:spPr>
          <a:xfrm>
            <a:off x="457200" y="1783080"/>
            <a:ext cx="1645920" cy="685800"/>
          </a:xfrm>
          <a:prstGeom prst="rect">
            <a:avLst/>
          </a:prstGeom>
          <a:noFill/>
          <a:ln/>
        </p:spPr>
        <p:txBody>
          <a:bodyPr wrap="square" lIns="1016" tIns="1016" rIns="1016" bIns="1016" rtlCol="0" anchor="ctr"/>
          <a:lstStyle/>
          <a:p>
            <a:pPr algn="ctr" indent="0" marL="0">
              <a:buNone/>
            </a:pPr>
            <a:r>
              <a:rPr lang="en-US" sz="1300" dirty="0">
                <a:solidFill>
                  <a:schemeClr val="tx1"/>
                </a:solidFill>
              </a:rPr>
              <a:t>Payer</a:t>
            </a:r>
            <a:endParaRPr lang="en-US" sz="1300" dirty="0"/>
          </a:p>
        </p:txBody>
      </p:sp>
      <p:sp>
        <p:nvSpPr>
          <p:cNvPr id="8" name="a2"/>
          <p:cNvSpPr/>
          <p:nvPr/>
        </p:nvSpPr>
        <p:spPr>
          <a:xfrm>
            <a:off x="2468880" y="1783080"/>
            <a:ext cx="1645920" cy="685800"/>
          </a:xfrm>
          <a:prstGeom prst="roundRect">
            <a:avLst>
              <a:gd name="adj" fmla="val 10667"/>
            </a:avLst>
          </a:prstGeom>
          <a:solidFill>
            <a:schemeClr val="bg2"/>
          </a:solidFill>
          <a:ln w="9525">
            <a:solidFill>
              <a:srgbClr val="C9D3DE"/>
            </a:solidFill>
            <a:prstDash val="solid"/>
          </a:ln>
        </p:spPr>
      </p:sp>
      <p:sp>
        <p:nvSpPr>
          <p:cNvPr id="9" name="Text 7"/>
          <p:cNvSpPr txBox="1"/>
          <p:nvPr/>
        </p:nvSpPr>
        <p:spPr>
          <a:xfrm>
            <a:off x="2468880" y="1783080"/>
            <a:ext cx="1645920" cy="685800"/>
          </a:xfrm>
          <a:prstGeom prst="rect">
            <a:avLst/>
          </a:prstGeom>
          <a:noFill/>
          <a:ln/>
        </p:spPr>
        <p:txBody>
          <a:bodyPr wrap="square" lIns="1016" tIns="1016" rIns="1016" bIns="1016" rtlCol="0" anchor="ctr"/>
          <a:lstStyle/>
          <a:p>
            <a:pPr algn="ctr" indent="0" marL="0">
              <a:buNone/>
            </a:pPr>
            <a:r>
              <a:rPr lang="en-US" sz="1300" dirty="0">
                <a:solidFill>
                  <a:schemeClr val="tx1"/>
                </a:solidFill>
              </a:rPr>
              <a:t>Acquirer</a:t>
            </a:r>
            <a:endParaRPr lang="en-US" sz="1300" dirty="0"/>
          </a:p>
        </p:txBody>
      </p:sp>
      <p:sp>
        <p:nvSpPr>
          <p:cNvPr id="10" name="a3"/>
          <p:cNvSpPr/>
          <p:nvPr/>
        </p:nvSpPr>
        <p:spPr>
          <a:xfrm>
            <a:off x="4480560" y="1783080"/>
            <a:ext cx="1645920" cy="685800"/>
          </a:xfrm>
          <a:prstGeom prst="roundRect">
            <a:avLst>
              <a:gd name="adj" fmla="val 10667"/>
            </a:avLst>
          </a:prstGeom>
          <a:solidFill>
            <a:schemeClr val="accent3">
              <a:alpha val="15000"/>
            </a:schemeClr>
          </a:solidFill>
          <a:ln w="9525">
            <a:solidFill>
              <a:schemeClr val="accent3"/>
            </a:solidFill>
            <a:prstDash val="solid"/>
          </a:ln>
        </p:spPr>
      </p:sp>
      <p:sp>
        <p:nvSpPr>
          <p:cNvPr id="11" name="Text 9"/>
          <p:cNvSpPr txBox="1"/>
          <p:nvPr/>
        </p:nvSpPr>
        <p:spPr>
          <a:xfrm>
            <a:off x="4480560" y="1783080"/>
            <a:ext cx="1645920" cy="685800"/>
          </a:xfrm>
          <a:prstGeom prst="rect">
            <a:avLst/>
          </a:prstGeom>
          <a:noFill/>
          <a:ln/>
        </p:spPr>
        <p:txBody>
          <a:bodyPr wrap="square" lIns="1016" tIns="1016" rIns="1016" bIns="1016" rtlCol="0" anchor="ctr"/>
          <a:lstStyle/>
          <a:p>
            <a:pPr algn="ctr" indent="0" marL="0">
              <a:buNone/>
            </a:pPr>
            <a:r>
              <a:rPr lang="en-US" sz="1300" dirty="0">
                <a:solidFill>
                  <a:schemeClr val="tx1"/>
                </a:solidFill>
              </a:rPr>
              <a:t>Merchant</a:t>
            </a:r>
            <a:endParaRPr lang="en-US" sz="1300" dirty="0"/>
          </a:p>
        </p:txBody>
      </p:sp>
      <p:sp>
        <p:nvSpPr>
          <p:cNvPr id="12" name="a4"/>
          <p:cNvSpPr/>
          <p:nvPr/>
        </p:nvSpPr>
        <p:spPr>
          <a:xfrm>
            <a:off x="2468880" y="3154680"/>
            <a:ext cx="1645920" cy="685800"/>
          </a:xfrm>
          <a:prstGeom prst="roundRect">
            <a:avLst>
              <a:gd name="adj" fmla="val 10667"/>
            </a:avLst>
          </a:prstGeom>
          <a:solidFill>
            <a:schemeClr val="accent2">
              <a:alpha val="15000"/>
            </a:schemeClr>
          </a:solidFill>
          <a:ln w="9525">
            <a:solidFill>
              <a:schemeClr val="accent2"/>
            </a:solidFill>
            <a:prstDash val="solid"/>
          </a:ln>
        </p:spPr>
      </p:sp>
      <p:sp>
        <p:nvSpPr>
          <p:cNvPr id="13" name="Text 11"/>
          <p:cNvSpPr txBox="1"/>
          <p:nvPr/>
        </p:nvSpPr>
        <p:spPr>
          <a:xfrm>
            <a:off x="2468880" y="3154680"/>
            <a:ext cx="1645920" cy="685800"/>
          </a:xfrm>
          <a:prstGeom prst="rect">
            <a:avLst/>
          </a:prstGeom>
          <a:noFill/>
          <a:ln/>
        </p:spPr>
        <p:txBody>
          <a:bodyPr wrap="square" lIns="1016" tIns="1016" rIns="1016" bIns="1016" rtlCol="0" anchor="ctr"/>
          <a:lstStyle/>
          <a:p>
            <a:pPr algn="ctr" indent="0" marL="0">
              <a:buNone/>
            </a:pPr>
            <a:r>
              <a:rPr lang="en-US" sz="1300" dirty="0">
                <a:solidFill>
                  <a:schemeClr val="tx1"/>
                </a:solidFill>
              </a:rPr>
              <a:t>MIPS</a:t>
            </a:r>
            <a:endParaRPr lang="en-US" sz="1300" dirty="0"/>
          </a:p>
          <a:p>
            <a:pPr algn="ctr" indent="0" marL="0">
              <a:buNone/>
            </a:pPr>
            <a:r>
              <a:rPr lang="en-US" sz="1300" dirty="0">
                <a:solidFill>
                  <a:schemeClr val="tx1"/>
                </a:solidFill>
              </a:rPr>
              <a:t>gateway</a:t>
            </a:r>
            <a:endParaRPr lang="en-US" sz="1300" dirty="0"/>
          </a:p>
        </p:txBody>
      </p:sp>
      <p:sp>
        <p:nvSpPr>
          <p:cNvPr id="14" name="Shape 12"/>
          <p:cNvSpPr/>
          <p:nvPr/>
        </p:nvSpPr>
        <p:spPr>
          <a:xfrm>
            <a:off x="2121408" y="2121408"/>
            <a:ext cx="329184" cy="0"/>
          </a:xfrm>
          <a:prstGeom prst="line">
            <a:avLst/>
          </a:prstGeom>
          <a:noFill/>
          <a:ln w="19050">
            <a:solidFill>
              <a:schemeClr val="tx2"/>
            </a:solidFill>
            <a:prstDash val="solid"/>
            <a:tailEnd type="triangle"/>
          </a:ln>
        </p:spPr>
      </p:sp>
      <p:sp>
        <p:nvSpPr>
          <p:cNvPr id="15" name="Shape 13"/>
          <p:cNvSpPr/>
          <p:nvPr/>
        </p:nvSpPr>
        <p:spPr>
          <a:xfrm>
            <a:off x="4133088" y="2121408"/>
            <a:ext cx="329184" cy="0"/>
          </a:xfrm>
          <a:prstGeom prst="line">
            <a:avLst/>
          </a:prstGeom>
          <a:noFill/>
          <a:ln w="19050">
            <a:solidFill>
              <a:schemeClr val="tx2"/>
            </a:solidFill>
            <a:prstDash val="solid"/>
            <a:tailEnd type="triangle"/>
          </a:ln>
        </p:spPr>
      </p:sp>
      <p:sp>
        <p:nvSpPr>
          <p:cNvPr id="16" name="Shape 14"/>
          <p:cNvSpPr/>
          <p:nvPr/>
        </p:nvSpPr>
        <p:spPr>
          <a:xfrm>
            <a:off x="3291840" y="2487168"/>
            <a:ext cx="0" cy="649224"/>
          </a:xfrm>
          <a:prstGeom prst="line">
            <a:avLst/>
          </a:prstGeom>
          <a:noFill/>
          <a:ln w="19050">
            <a:solidFill>
              <a:schemeClr val="tx2"/>
            </a:solidFill>
            <a:prstDash val="dash"/>
            <a:tailEnd type="triangle"/>
          </a:ln>
        </p:spPr>
      </p:sp>
      <p:sp>
        <p:nvSpPr>
          <p:cNvPr id="17" name="Text 15"/>
          <p:cNvSpPr txBox="1"/>
          <p:nvPr/>
        </p:nvSpPr>
        <p:spPr>
          <a:xfrm>
            <a:off x="3337560" y="2697480"/>
            <a:ext cx="914400" cy="274320"/>
          </a:xfrm>
          <a:prstGeom prst="rect">
            <a:avLst/>
          </a:prstGeom>
          <a:noFill/>
          <a:ln/>
        </p:spPr>
        <p:txBody>
          <a:bodyPr wrap="square" lIns="0" tIns="0" rIns="0" bIns="0" rtlCol="0" anchor="t"/>
          <a:lstStyle/>
          <a:p>
            <a:pPr algn="l" indent="0" marL="0">
              <a:buNone/>
            </a:pPr>
            <a:r>
              <a:rPr lang="en-US" sz="1100" dirty="0">
                <a:solidFill>
                  <a:schemeClr val="tx2"/>
                </a:solidFill>
              </a:rPr>
              <a:t>technical</a:t>
            </a:r>
            <a:endParaRPr lang="en-US" sz="1100" dirty="0"/>
          </a:p>
        </p:txBody>
      </p:sp>
      <p:sp>
        <p:nvSpPr>
          <p:cNvPr id="18" name="Shape 16"/>
          <p:cNvSpPr/>
          <p:nvPr/>
        </p:nvSpPr>
        <p:spPr>
          <a:xfrm flipV="1">
            <a:off x="4133088" y="2487168"/>
            <a:ext cx="1170432" cy="1005840"/>
          </a:xfrm>
          <a:prstGeom prst="line">
            <a:avLst/>
          </a:prstGeom>
          <a:noFill/>
          <a:ln w="19050">
            <a:solidFill>
              <a:schemeClr val="tx2"/>
            </a:solidFill>
            <a:prstDash val="solid"/>
            <a:tailEnd type="triangle"/>
          </a:ln>
        </p:spPr>
      </p:sp>
      <p:sp>
        <p:nvSpPr>
          <p:cNvPr id="19" name="Text 17"/>
          <p:cNvSpPr txBox="1"/>
          <p:nvPr/>
        </p:nvSpPr>
        <p:spPr>
          <a:xfrm>
            <a:off x="4480560" y="3154680"/>
            <a:ext cx="1737360" cy="274320"/>
          </a:xfrm>
          <a:prstGeom prst="rect">
            <a:avLst/>
          </a:prstGeom>
          <a:noFill/>
          <a:ln/>
        </p:spPr>
        <p:txBody>
          <a:bodyPr wrap="square" lIns="0" tIns="0" rIns="0" bIns="0" rtlCol="0" anchor="t"/>
          <a:lstStyle/>
          <a:p>
            <a:pPr algn="ctr" indent="0" marL="0">
              <a:buNone/>
            </a:pPr>
            <a:r>
              <a:rPr lang="en-US" sz="1100" dirty="0">
                <a:solidFill>
                  <a:schemeClr val="tx2"/>
                </a:solidFill>
              </a:rPr>
              <a:t>monthly invoice</a:t>
            </a:r>
            <a:endParaRPr lang="en-US" sz="1100" dirty="0"/>
          </a:p>
        </p:txBody>
      </p:sp>
      <p:sp>
        <p:nvSpPr>
          <p:cNvPr id="20" name="Text 18"/>
          <p:cNvSpPr txBox="1"/>
          <p:nvPr/>
        </p:nvSpPr>
        <p:spPr>
          <a:xfrm>
            <a:off x="457200" y="4069080"/>
            <a:ext cx="5486400" cy="1463040"/>
          </a:xfrm>
          <a:prstGeom prst="rect">
            <a:avLst/>
          </a:prstGeom>
          <a:noFill/>
          <a:ln/>
        </p:spPr>
        <p:txBody>
          <a:bodyPr wrap="square" lIns="635" tIns="635" rIns="635" bIns="635" rtlCol="0" anchor="ctr"/>
          <a:lstStyle/>
          <a:p>
            <a:pPr marL="342900" indent="-342900">
              <a:spcAft>
                <a:spcPts val="600"/>
              </a:spcAft>
              <a:buSzPct val="100000"/>
              <a:buChar char="•"/>
            </a:pPr>
            <a:r>
              <a:rPr lang="en-US" sz="1300" dirty="0">
                <a:solidFill>
                  <a:schemeClr val="tx1"/>
                </a:solidFill>
              </a:rPr>
              <a:t>No merchant funds held</a:t>
            </a:r>
            <a:endParaRPr lang="en-US" sz="1300" dirty="0"/>
          </a:p>
          <a:p>
            <a:pPr marL="342900" indent="-342900">
              <a:spcAft>
                <a:spcPts val="600"/>
              </a:spcAft>
              <a:buSzPct val="100000"/>
              <a:buChar char="•"/>
            </a:pPr>
            <a:r>
              <a:rPr lang="en-US" sz="1300" dirty="0">
                <a:solidFill>
                  <a:schemeClr val="tx1"/>
                </a:solidFill>
              </a:rPr>
              <a:t>One acquirer agreement per merchant</a:t>
            </a:r>
            <a:endParaRPr lang="en-US" sz="1300" dirty="0"/>
          </a:p>
          <a:p>
            <a:pPr marL="342900" indent="-342900">
              <a:spcAft>
                <a:spcPts val="600"/>
              </a:spcAft>
              <a:buSzPct val="100000"/>
              <a:buChar char="•"/>
            </a:pPr>
            <a:r>
              <a:rPr lang="en-US" sz="1300" dirty="0">
                <a:solidFill>
                  <a:schemeClr val="tx1"/>
                </a:solidFill>
              </a:rPr>
              <a:t>Fees invoiced monthly</a:t>
            </a:r>
            <a:endParaRPr lang="en-US" sz="1300" dirty="0"/>
          </a:p>
        </p:txBody>
      </p:sp>
      <p:sp>
        <p:nvSpPr>
          <p:cNvPr id="21" name="Text 19"/>
          <p:cNvSpPr txBox="1"/>
          <p:nvPr/>
        </p:nvSpPr>
        <p:spPr>
          <a:xfrm>
            <a:off x="6309360" y="1188720"/>
            <a:ext cx="5486400" cy="365760"/>
          </a:xfrm>
          <a:prstGeom prst="rect">
            <a:avLst/>
          </a:prstGeom>
          <a:noFill/>
          <a:ln/>
        </p:spPr>
        <p:txBody>
          <a:bodyPr wrap="square" lIns="0" tIns="0" rIns="0" bIns="0" rtlCol="0" anchor="t"/>
          <a:lstStyle/>
          <a:p>
            <a:pPr algn="l" indent="0" marL="0">
              <a:buNone/>
            </a:pPr>
            <a:r>
              <a:rPr lang="en-US" sz="1600" b="1" dirty="0">
                <a:solidFill>
                  <a:schemeClr val="accent5"/>
                </a:solidFill>
              </a:rPr>
              <a:t>B · Collection on behalf of merchants</a:t>
            </a:r>
            <a:endParaRPr lang="en-US" sz="1600" dirty="0"/>
          </a:p>
        </p:txBody>
      </p:sp>
      <p:sp>
        <p:nvSpPr>
          <p:cNvPr id="22" name="b1"/>
          <p:cNvSpPr/>
          <p:nvPr/>
        </p:nvSpPr>
        <p:spPr>
          <a:xfrm>
            <a:off x="6309360" y="1783080"/>
            <a:ext cx="1645920" cy="685800"/>
          </a:xfrm>
          <a:prstGeom prst="roundRect">
            <a:avLst>
              <a:gd name="adj" fmla="val 10667"/>
            </a:avLst>
          </a:prstGeom>
          <a:solidFill>
            <a:schemeClr val="bg2"/>
          </a:solidFill>
          <a:ln w="9525">
            <a:solidFill>
              <a:srgbClr val="C9D3DE"/>
            </a:solidFill>
            <a:prstDash val="solid"/>
          </a:ln>
        </p:spPr>
      </p:sp>
      <p:sp>
        <p:nvSpPr>
          <p:cNvPr id="23" name="Text 21"/>
          <p:cNvSpPr txBox="1"/>
          <p:nvPr/>
        </p:nvSpPr>
        <p:spPr>
          <a:xfrm>
            <a:off x="6309360" y="1783080"/>
            <a:ext cx="1645920" cy="685800"/>
          </a:xfrm>
          <a:prstGeom prst="rect">
            <a:avLst/>
          </a:prstGeom>
          <a:noFill/>
          <a:ln/>
        </p:spPr>
        <p:txBody>
          <a:bodyPr wrap="square" lIns="1016" tIns="1016" rIns="1016" bIns="1016" rtlCol="0" anchor="ctr"/>
          <a:lstStyle/>
          <a:p>
            <a:pPr algn="ctr" indent="0" marL="0">
              <a:buNone/>
            </a:pPr>
            <a:r>
              <a:rPr lang="en-US" sz="1300" dirty="0">
                <a:solidFill>
                  <a:schemeClr val="tx1"/>
                </a:solidFill>
              </a:rPr>
              <a:t>Acquirer</a:t>
            </a:r>
            <a:endParaRPr lang="en-US" sz="1300" dirty="0"/>
          </a:p>
        </p:txBody>
      </p:sp>
      <p:sp>
        <p:nvSpPr>
          <p:cNvPr id="24" name="b2"/>
          <p:cNvSpPr/>
          <p:nvPr/>
        </p:nvSpPr>
        <p:spPr>
          <a:xfrm>
            <a:off x="8229600" y="1783080"/>
            <a:ext cx="1645920" cy="685800"/>
          </a:xfrm>
          <a:prstGeom prst="roundRect">
            <a:avLst>
              <a:gd name="adj" fmla="val 10667"/>
            </a:avLst>
          </a:prstGeom>
          <a:solidFill>
            <a:schemeClr val="accent5">
              <a:alpha val="20000"/>
            </a:schemeClr>
          </a:solidFill>
          <a:ln w="9525">
            <a:solidFill>
              <a:schemeClr val="accent5"/>
            </a:solidFill>
            <a:prstDash val="solid"/>
          </a:ln>
        </p:spPr>
      </p:sp>
      <p:sp>
        <p:nvSpPr>
          <p:cNvPr id="25" name="Text 23"/>
          <p:cNvSpPr txBox="1"/>
          <p:nvPr/>
        </p:nvSpPr>
        <p:spPr>
          <a:xfrm>
            <a:off x="8229600" y="1783080"/>
            <a:ext cx="1645920" cy="685800"/>
          </a:xfrm>
          <a:prstGeom prst="rect">
            <a:avLst/>
          </a:prstGeom>
          <a:noFill/>
          <a:ln/>
        </p:spPr>
        <p:txBody>
          <a:bodyPr wrap="square" lIns="1016" tIns="1016" rIns="1016" bIns="1016" rtlCol="0" anchor="ctr"/>
          <a:lstStyle/>
          <a:p>
            <a:pPr algn="ctr" indent="0" marL="0">
              <a:buNone/>
            </a:pPr>
            <a:r>
              <a:rPr lang="en-US" sz="1300" dirty="0">
                <a:solidFill>
                  <a:schemeClr val="tx1"/>
                </a:solidFill>
              </a:rPr>
              <a:t>Trust account</a:t>
            </a:r>
            <a:endParaRPr lang="en-US" sz="1300" dirty="0"/>
          </a:p>
          <a:p>
            <a:pPr algn="ctr" indent="0" marL="0">
              <a:buNone/>
            </a:pPr>
            <a:r>
              <a:rPr lang="en-US" sz="1300" dirty="0">
                <a:solidFill>
                  <a:schemeClr val="tx1"/>
                </a:solidFill>
              </a:rPr>
              <a:t>MUR</a:t>
            </a:r>
            <a:endParaRPr lang="en-US" sz="1300" dirty="0"/>
          </a:p>
        </p:txBody>
      </p:sp>
      <p:sp>
        <p:nvSpPr>
          <p:cNvPr id="26" name="b3"/>
          <p:cNvSpPr/>
          <p:nvPr/>
        </p:nvSpPr>
        <p:spPr>
          <a:xfrm>
            <a:off x="10149840" y="1783080"/>
            <a:ext cx="1645920" cy="685800"/>
          </a:xfrm>
          <a:prstGeom prst="roundRect">
            <a:avLst>
              <a:gd name="adj" fmla="val 10667"/>
            </a:avLst>
          </a:prstGeom>
          <a:solidFill>
            <a:schemeClr val="accent3">
              <a:alpha val="15000"/>
            </a:schemeClr>
          </a:solidFill>
          <a:ln w="9525">
            <a:solidFill>
              <a:schemeClr val="accent3"/>
            </a:solidFill>
            <a:prstDash val="solid"/>
          </a:ln>
        </p:spPr>
      </p:sp>
      <p:sp>
        <p:nvSpPr>
          <p:cNvPr id="27" name="Text 25"/>
          <p:cNvSpPr txBox="1"/>
          <p:nvPr/>
        </p:nvSpPr>
        <p:spPr>
          <a:xfrm>
            <a:off x="10149840" y="1783080"/>
            <a:ext cx="1645920" cy="685800"/>
          </a:xfrm>
          <a:prstGeom prst="rect">
            <a:avLst/>
          </a:prstGeom>
          <a:noFill/>
          <a:ln/>
        </p:spPr>
        <p:txBody>
          <a:bodyPr wrap="square" lIns="1016" tIns="1016" rIns="1016" bIns="1016" rtlCol="0" anchor="ctr"/>
          <a:lstStyle/>
          <a:p>
            <a:pPr algn="ctr" indent="0" marL="0">
              <a:buNone/>
            </a:pPr>
            <a:r>
              <a:rPr lang="en-US" sz="1300" dirty="0">
                <a:solidFill>
                  <a:schemeClr val="tx1"/>
                </a:solidFill>
              </a:rPr>
              <a:t>Merchants</a:t>
            </a:r>
            <a:endParaRPr lang="en-US" sz="1300" dirty="0"/>
          </a:p>
        </p:txBody>
      </p:sp>
      <p:sp>
        <p:nvSpPr>
          <p:cNvPr id="28" name="b4"/>
          <p:cNvSpPr/>
          <p:nvPr/>
        </p:nvSpPr>
        <p:spPr>
          <a:xfrm>
            <a:off x="8229600" y="3154680"/>
            <a:ext cx="1645920" cy="685800"/>
          </a:xfrm>
          <a:prstGeom prst="roundRect">
            <a:avLst>
              <a:gd name="adj" fmla="val 10667"/>
            </a:avLst>
          </a:prstGeom>
          <a:solidFill>
            <a:schemeClr val="accent2">
              <a:alpha val="15000"/>
            </a:schemeClr>
          </a:solidFill>
          <a:ln w="9525">
            <a:solidFill>
              <a:schemeClr val="accent2"/>
            </a:solidFill>
            <a:prstDash val="solid"/>
          </a:ln>
        </p:spPr>
      </p:sp>
      <p:sp>
        <p:nvSpPr>
          <p:cNvPr id="29" name="Text 27"/>
          <p:cNvSpPr txBox="1"/>
          <p:nvPr/>
        </p:nvSpPr>
        <p:spPr>
          <a:xfrm>
            <a:off x="8229600" y="3154680"/>
            <a:ext cx="1645920" cy="685800"/>
          </a:xfrm>
          <a:prstGeom prst="rect">
            <a:avLst/>
          </a:prstGeom>
          <a:noFill/>
          <a:ln/>
        </p:spPr>
        <p:txBody>
          <a:bodyPr wrap="square" lIns="1016" tIns="1016" rIns="1016" bIns="1016" rtlCol="0" anchor="ctr"/>
          <a:lstStyle/>
          <a:p>
            <a:pPr algn="ctr" indent="0" marL="0">
              <a:buNone/>
            </a:pPr>
            <a:r>
              <a:rPr lang="en-US" sz="1300" dirty="0">
                <a:solidFill>
                  <a:schemeClr val="tx1"/>
                </a:solidFill>
              </a:rPr>
              <a:t>Operating</a:t>
            </a:r>
            <a:endParaRPr lang="en-US" sz="1300" dirty="0"/>
          </a:p>
          <a:p>
            <a:pPr algn="ctr" indent="0" marL="0">
              <a:buNone/>
            </a:pPr>
            <a:r>
              <a:rPr lang="en-US" sz="1300" dirty="0">
                <a:solidFill>
                  <a:schemeClr val="tx1"/>
                </a:solidFill>
              </a:rPr>
              <a:t>account</a:t>
            </a:r>
            <a:endParaRPr lang="en-US" sz="1300" dirty="0"/>
          </a:p>
        </p:txBody>
      </p:sp>
      <p:sp>
        <p:nvSpPr>
          <p:cNvPr id="30" name="Shape 28"/>
          <p:cNvSpPr/>
          <p:nvPr/>
        </p:nvSpPr>
        <p:spPr>
          <a:xfrm>
            <a:off x="7973568" y="2121408"/>
            <a:ext cx="237744" cy="0"/>
          </a:xfrm>
          <a:prstGeom prst="line">
            <a:avLst/>
          </a:prstGeom>
          <a:noFill/>
          <a:ln w="19050">
            <a:solidFill>
              <a:schemeClr val="tx2"/>
            </a:solidFill>
            <a:prstDash val="solid"/>
            <a:tailEnd type="triangle"/>
          </a:ln>
        </p:spPr>
      </p:sp>
      <p:sp>
        <p:nvSpPr>
          <p:cNvPr id="31" name="Text 29"/>
          <p:cNvSpPr txBox="1"/>
          <p:nvPr/>
        </p:nvSpPr>
        <p:spPr>
          <a:xfrm>
            <a:off x="7589520" y="1508760"/>
            <a:ext cx="1005840" cy="274320"/>
          </a:xfrm>
          <a:prstGeom prst="rect">
            <a:avLst/>
          </a:prstGeom>
          <a:noFill/>
          <a:ln/>
        </p:spPr>
        <p:txBody>
          <a:bodyPr wrap="square" lIns="0" tIns="0" rIns="0" bIns="0" rtlCol="0" anchor="t"/>
          <a:lstStyle/>
          <a:p>
            <a:pPr algn="ctr" indent="0" marL="0">
              <a:buNone/>
            </a:pPr>
            <a:r>
              <a:rPr lang="en-US" sz="1100" dirty="0">
                <a:solidFill>
                  <a:schemeClr val="tx2"/>
                </a:solidFill>
              </a:rPr>
              <a:t>gross, D+1</a:t>
            </a:r>
            <a:endParaRPr lang="en-US" sz="1100" dirty="0"/>
          </a:p>
        </p:txBody>
      </p:sp>
      <p:sp>
        <p:nvSpPr>
          <p:cNvPr id="32" name="Shape 30"/>
          <p:cNvSpPr/>
          <p:nvPr/>
        </p:nvSpPr>
        <p:spPr>
          <a:xfrm>
            <a:off x="9893808" y="2121408"/>
            <a:ext cx="237744" cy="0"/>
          </a:xfrm>
          <a:prstGeom prst="line">
            <a:avLst/>
          </a:prstGeom>
          <a:noFill/>
          <a:ln w="19050">
            <a:solidFill>
              <a:schemeClr val="tx2"/>
            </a:solidFill>
            <a:prstDash val="solid"/>
            <a:tailEnd type="triangle"/>
          </a:ln>
        </p:spPr>
      </p:sp>
      <p:sp>
        <p:nvSpPr>
          <p:cNvPr id="33" name="Text 31"/>
          <p:cNvSpPr txBox="1"/>
          <p:nvPr/>
        </p:nvSpPr>
        <p:spPr>
          <a:xfrm>
            <a:off x="9509760" y="1508760"/>
            <a:ext cx="1005840" cy="274320"/>
          </a:xfrm>
          <a:prstGeom prst="rect">
            <a:avLst/>
          </a:prstGeom>
          <a:noFill/>
          <a:ln/>
        </p:spPr>
        <p:txBody>
          <a:bodyPr wrap="square" lIns="0" tIns="0" rIns="0" bIns="0" rtlCol="0" anchor="t"/>
          <a:lstStyle/>
          <a:p>
            <a:pPr algn="ctr" indent="0" marL="0">
              <a:buNone/>
            </a:pPr>
            <a:r>
              <a:rPr lang="en-US" sz="1100" dirty="0">
                <a:solidFill>
                  <a:schemeClr val="tx2"/>
                </a:solidFill>
              </a:rPr>
              <a:t>net, D+1</a:t>
            </a:r>
            <a:endParaRPr lang="en-US" sz="1100" dirty="0"/>
          </a:p>
        </p:txBody>
      </p:sp>
      <p:sp>
        <p:nvSpPr>
          <p:cNvPr id="34" name="Shape 32"/>
          <p:cNvSpPr/>
          <p:nvPr/>
        </p:nvSpPr>
        <p:spPr>
          <a:xfrm>
            <a:off x="8778240" y="2487168"/>
            <a:ext cx="0" cy="649224"/>
          </a:xfrm>
          <a:prstGeom prst="line">
            <a:avLst/>
          </a:prstGeom>
          <a:noFill/>
          <a:ln w="19050">
            <a:solidFill>
              <a:schemeClr val="tx2"/>
            </a:solidFill>
            <a:prstDash val="solid"/>
            <a:tailEnd type="triangle"/>
          </a:ln>
        </p:spPr>
      </p:sp>
      <p:sp>
        <p:nvSpPr>
          <p:cNvPr id="35" name="Text 33"/>
          <p:cNvSpPr txBox="1"/>
          <p:nvPr/>
        </p:nvSpPr>
        <p:spPr>
          <a:xfrm>
            <a:off x="7680960" y="2697480"/>
            <a:ext cx="1051560" cy="274320"/>
          </a:xfrm>
          <a:prstGeom prst="rect">
            <a:avLst/>
          </a:prstGeom>
          <a:noFill/>
          <a:ln/>
        </p:spPr>
        <p:txBody>
          <a:bodyPr wrap="square" lIns="0" tIns="0" rIns="0" bIns="0" rtlCol="0" anchor="t"/>
          <a:lstStyle/>
          <a:p>
            <a:pPr algn="r" indent="0" marL="0">
              <a:buNone/>
            </a:pPr>
            <a:r>
              <a:rPr lang="en-US" sz="1100" dirty="0">
                <a:solidFill>
                  <a:schemeClr val="tx2"/>
                </a:solidFill>
              </a:rPr>
              <a:t>fees</a:t>
            </a:r>
            <a:endParaRPr lang="en-US" sz="1100" dirty="0"/>
          </a:p>
        </p:txBody>
      </p:sp>
      <p:sp>
        <p:nvSpPr>
          <p:cNvPr id="36" name="Shape 34"/>
          <p:cNvSpPr/>
          <p:nvPr/>
        </p:nvSpPr>
        <p:spPr>
          <a:xfrm flipV="1">
            <a:off x="9326880" y="2487168"/>
            <a:ext cx="0" cy="649224"/>
          </a:xfrm>
          <a:prstGeom prst="line">
            <a:avLst/>
          </a:prstGeom>
          <a:noFill/>
          <a:ln w="19050">
            <a:solidFill>
              <a:schemeClr val="tx2"/>
            </a:solidFill>
            <a:prstDash val="dash"/>
            <a:tailEnd type="triangle"/>
          </a:ln>
        </p:spPr>
      </p:sp>
      <p:sp>
        <p:nvSpPr>
          <p:cNvPr id="37" name="Text 35"/>
          <p:cNvSpPr txBox="1"/>
          <p:nvPr/>
        </p:nvSpPr>
        <p:spPr>
          <a:xfrm>
            <a:off x="9372600" y="2697480"/>
            <a:ext cx="1280160" cy="274320"/>
          </a:xfrm>
          <a:prstGeom prst="rect">
            <a:avLst/>
          </a:prstGeom>
          <a:noFill/>
          <a:ln/>
        </p:spPr>
        <p:txBody>
          <a:bodyPr wrap="square" lIns="0" tIns="0" rIns="0" bIns="0" rtlCol="0" anchor="t"/>
          <a:lstStyle/>
          <a:p>
            <a:pPr algn="l" indent="0" marL="0">
              <a:buNone/>
            </a:pPr>
            <a:r>
              <a:rPr lang="en-US" sz="1100" dirty="0">
                <a:solidFill>
                  <a:schemeClr val="tx2"/>
                </a:solidFill>
              </a:rPr>
              <a:t>shortfall cover</a:t>
            </a:r>
            <a:endParaRPr lang="en-US" sz="1100" dirty="0"/>
          </a:p>
        </p:txBody>
      </p:sp>
      <p:sp>
        <p:nvSpPr>
          <p:cNvPr id="38" name="Text 36"/>
          <p:cNvSpPr txBox="1"/>
          <p:nvPr/>
        </p:nvSpPr>
        <p:spPr>
          <a:xfrm>
            <a:off x="6309360" y="4069080"/>
            <a:ext cx="5486400" cy="1463040"/>
          </a:xfrm>
          <a:prstGeom prst="rect">
            <a:avLst/>
          </a:prstGeom>
          <a:noFill/>
          <a:ln/>
        </p:spPr>
        <p:txBody>
          <a:bodyPr wrap="square" lIns="635" tIns="635" rIns="635" bIns="635" rtlCol="0" anchor="ctr"/>
          <a:lstStyle/>
          <a:p>
            <a:pPr marL="342900" indent="-342900">
              <a:spcAft>
                <a:spcPts val="600"/>
              </a:spcAft>
              <a:buSzPct val="100000"/>
              <a:buChar char="•"/>
            </a:pPr>
            <a:r>
              <a:rPr lang="en-US" sz="1300" dirty="0">
                <a:solidFill>
                  <a:schemeClr val="tx1"/>
                </a:solidFill>
              </a:rPr>
              <a:t>Merchant funds held in a segregated trust account</a:t>
            </a:r>
            <a:endParaRPr lang="en-US" sz="1300" dirty="0"/>
          </a:p>
          <a:p>
            <a:pPr marL="342900" indent="-342900">
              <a:spcAft>
                <a:spcPts val="600"/>
              </a:spcAft>
              <a:buSzPct val="100000"/>
              <a:buChar char="•"/>
            </a:pPr>
            <a:r>
              <a:rPr lang="en-US" sz="1300" dirty="0">
                <a:solidFill>
                  <a:schemeClr val="tx1"/>
                </a:solidFill>
              </a:rPr>
              <a:t>Daily safeguarding reconciliation, four-eyes sign-off</a:t>
            </a:r>
            <a:endParaRPr lang="en-US" sz="1300" dirty="0"/>
          </a:p>
          <a:p>
            <a:pPr marL="342900" indent="-342900">
              <a:spcAft>
                <a:spcPts val="600"/>
              </a:spcAft>
              <a:buSzPct val="100000"/>
              <a:buChar char="•"/>
            </a:pPr>
            <a:r>
              <a:rPr lang="en-US" sz="1300" dirty="0">
                <a:solidFill>
                  <a:schemeClr val="tx1"/>
                </a:solidFill>
              </a:rPr>
              <a:t>Requires aggregation agreements with acquirers</a:t>
            </a:r>
            <a:endParaRPr lang="en-US" sz="1300" dirty="0"/>
          </a:p>
        </p:txBody>
      </p:sp>
      <p:sp>
        <p:nvSpPr>
          <p:cNvPr id="39" name="Shape 37"/>
          <p:cNvSpPr/>
          <p:nvPr/>
        </p:nvSpPr>
        <p:spPr>
          <a:xfrm>
            <a:off x="6080760" y="1234440"/>
            <a:ext cx="0" cy="4389120"/>
          </a:xfrm>
          <a:prstGeom prst="line">
            <a:avLst/>
          </a:prstGeom>
          <a:noFill/>
          <a:ln w="12700">
            <a:solidFill>
              <a:srgbClr val="D5DDE7"/>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47120" cy="731520"/>
          </a:xfrm>
          <a:prstGeom prst="rect">
            <a:avLst/>
          </a:prstGeom>
          <a:noFill/>
          <a:ln/>
        </p:spPr>
        <p:txBody>
          <a:bodyPr wrap="square" lIns="0" tIns="0" rIns="0" bIns="0" rtlCol="0" anchor="ctr"/>
          <a:lstStyle/>
          <a:p>
            <a:pPr algn="l" indent="0" marL="0">
              <a:buNone/>
            </a:pPr>
            <a:r>
              <a:rPr lang="en-US" sz="3000" b="1" dirty="0">
                <a:solidFill>
                  <a:schemeClr val="tx1"/>
                </a:solidFill>
              </a:rPr>
              <a:t>Evidence map: requested views and their status</a:t>
            </a:r>
            <a:endParaRPr lang="en-US" sz="3000" dirty="0"/>
          </a:p>
        </p:txBody>
      </p:sp>
      <p:graphicFrame>
        <p:nvGraphicFramePr>
          <p:cNvPr id="9" name="evidence-table"/>
          <p:cNvGraphicFramePr>
            <a:graphicFrameLocks noGrp="1"/>
          </p:cNvGraphicFramePr>
          <p:nvPr>
            <p:extLst>
              <p:ext uri="{D42A27DB-BD31-4B8C-83A1-F6EECF244321}">
                <p14:modId xmlns:p14="http://schemas.microsoft.com/office/powerpoint/2010/main" val="1579011935"/>
              </p:ext>
            </p:extLst>
          </p:nvPr>
        </p:nvGraphicFramePr>
        <p:xfrm>
          <a:off x="457200" y="1234440"/>
          <a:ext cx="11247120" cy="914400"/>
        </p:xfrm>
        <a:graphic>
          <a:graphicData uri="http://schemas.openxmlformats.org/drawingml/2006/table">
            <a:tbl>
              <a:tblPr/>
              <a:tblGrid>
                <a:gridCol w="3474720"/>
                <a:gridCol w="1371600"/>
                <a:gridCol w="1463040"/>
                <a:gridCol w="4937760"/>
              </a:tblGrid>
              <a:tr h="457200">
                <a:tc>
                  <a:txBody>
                    <a:bodyPr/>
                    <a:lstStyle/>
                    <a:p>
                      <a:pPr indent="0" marL="0">
                        <a:buNone/>
                      </a:pPr>
                      <a:r>
                        <a:rPr lang="en-US" sz="1200" b="1" dirty="0">
                          <a:solidFill>
                            <a:schemeClr val="tx2"/>
                          </a:solidFill>
                        </a:rPr>
                        <a:t>View</a:t>
                      </a:r>
                      <a:endParaRPr lang="en-US" sz="12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solidFill>
                      <a:schemeClr val="bg2"/>
                    </a:solidFill>
                  </a:tcPr>
                </a:tc>
                <a:tc>
                  <a:txBody>
                    <a:bodyPr/>
                    <a:lstStyle/>
                    <a:p>
                      <a:pPr indent="0" marL="0">
                        <a:buNone/>
                      </a:pPr>
                      <a:r>
                        <a:rPr lang="en-US" sz="1200" b="1" dirty="0">
                          <a:solidFill>
                            <a:schemeClr val="tx2"/>
                          </a:solidFill>
                        </a:rPr>
                        <a:t>Status</a:t>
                      </a:r>
                      <a:endParaRPr lang="en-US" sz="12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solidFill>
                      <a:schemeClr val="bg2"/>
                    </a:solidFill>
                  </a:tcPr>
                </a:tc>
                <a:tc>
                  <a:txBody>
                    <a:bodyPr/>
                    <a:lstStyle/>
                    <a:p>
                      <a:pPr indent="0" marL="0">
                        <a:buNone/>
                      </a:pPr>
                      <a:r>
                        <a:rPr lang="en-US" sz="1200" b="1" dirty="0">
                          <a:solidFill>
                            <a:schemeClr val="tx2"/>
                          </a:solidFill>
                        </a:rPr>
                        <a:t>Screenshots</a:t>
                      </a:r>
                      <a:endParaRPr lang="en-US" sz="12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solidFill>
                      <a:schemeClr val="bg2"/>
                    </a:solidFill>
                  </a:tcPr>
                </a:tc>
                <a:tc>
                  <a:txBody>
                    <a:bodyPr/>
                    <a:lstStyle/>
                    <a:p>
                      <a:pPr indent="0" marL="0">
                        <a:buNone/>
                      </a:pPr>
                      <a:r>
                        <a:rPr lang="en-US" sz="1200" b="1" dirty="0">
                          <a:solidFill>
                            <a:schemeClr val="tx2"/>
                          </a:solidFill>
                        </a:rPr>
                        <a:t>Main limitation</a:t>
                      </a:r>
                      <a:endParaRPr lang="en-US" sz="12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solidFill>
                      <a:schemeClr val="bg2"/>
                    </a:solidFill>
                  </a:tcPr>
                </a:tc>
              </a:tr>
              <a:tr h="457200">
                <a:tc>
                  <a:txBody>
                    <a:bodyPr/>
                    <a:lstStyle/>
                    <a:p>
                      <a:pPr indent="0" marL="0">
                        <a:buNone/>
                      </a:pPr>
                      <a:r>
                        <a:rPr lang="en-US" sz="1300" dirty="0">
                          <a:solidFill>
                            <a:schemeClr val="tx1"/>
                          </a:solidFill>
                        </a:rPr>
                        <a:t>S01 Sign-in and terms acceptance</a:t>
                      </a:r>
                      <a:endParaRPr lang="en-US" sz="13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tcPr>
                </a:tc>
                <a:tc>
                  <a:txBody>
                    <a:bodyPr/>
                    <a:lstStyle/>
                    <a:p>
                      <a:pPr indent="0" marL="0">
                        <a:buNone/>
                      </a:pPr>
                      <a:r>
                        <a:rPr lang="en-US" sz="1300" b="1" dirty="0">
                          <a:solidFill>
                            <a:schemeClr val="accent4"/>
                          </a:solidFill>
                        </a:rPr>
                        <a:t>Shown</a:t>
                      </a:r>
                      <a:endParaRPr lang="en-US" sz="13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tcPr>
                </a:tc>
                <a:tc>
                  <a:txBody>
                    <a:bodyPr/>
                    <a:lstStyle/>
                    <a:p>
                      <a:pPr indent="0" marL="0">
                        <a:buNone/>
                      </a:pPr>
                      <a:r>
                        <a:rPr lang="en-US" sz="1300" dirty="0">
                          <a:solidFill>
                            <a:schemeClr val="tx1"/>
                          </a:solidFill>
                        </a:rPr>
                        <a:t>S01a–f</a:t>
                      </a:r>
                      <a:endParaRPr lang="en-US" sz="13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tcPr>
                </a:tc>
                <a:tc>
                  <a:txBody>
                    <a:bodyPr/>
                    <a:lstStyle/>
                    <a:p>
                      <a:pPr indent="0" marL="0">
                        <a:buNone/>
                      </a:pPr>
                      <a:r>
                        <a:rPr lang="en-US" sz="1300" dirty="0">
                          <a:solidFill>
                            <a:schemeClr val="tx1"/>
                          </a:solidFill>
                        </a:rPr>
                        <a:t>Terms text is a placeholder</a:t>
                      </a:r>
                      <a:endParaRPr lang="en-US" sz="13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tcPr>
                </a:tc>
              </a:tr>
              <a:tr h="457200">
                <a:tc>
                  <a:txBody>
                    <a:bodyPr/>
                    <a:lstStyle/>
                    <a:p>
                      <a:pPr indent="0" marL="0">
                        <a:buNone/>
                      </a:pPr>
                      <a:r>
                        <a:rPr lang="en-US" sz="1300" dirty="0">
                          <a:solidFill>
                            <a:schemeClr val="tx1"/>
                          </a:solidFill>
                        </a:rPr>
                        <a:t>S02 Onboarding roadmap</a:t>
                      </a:r>
                      <a:endParaRPr lang="en-US" sz="13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tcPr>
                </a:tc>
                <a:tc>
                  <a:txBody>
                    <a:bodyPr/>
                    <a:lstStyle/>
                    <a:p>
                      <a:pPr indent="0" marL="0">
                        <a:buNone/>
                      </a:pPr>
                      <a:r>
                        <a:rPr lang="en-US" sz="1300" b="1" dirty="0">
                          <a:solidFill>
                            <a:schemeClr val="accent4"/>
                          </a:solidFill>
                        </a:rPr>
                        <a:t>Shown</a:t>
                      </a:r>
                      <a:endParaRPr lang="en-US" sz="13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tcPr>
                </a:tc>
                <a:tc>
                  <a:txBody>
                    <a:bodyPr/>
                    <a:lstStyle/>
                    <a:p>
                      <a:pPr indent="0" marL="0">
                        <a:buNone/>
                      </a:pPr>
                      <a:r>
                        <a:rPr lang="en-US" sz="1300" dirty="0">
                          <a:solidFill>
                            <a:schemeClr val="tx1"/>
                          </a:solidFill>
                        </a:rPr>
                        <a:t>S02a–d</a:t>
                      </a:r>
                      <a:endParaRPr lang="en-US" sz="13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tcPr>
                </a:tc>
                <a:tc>
                  <a:txBody>
                    <a:bodyPr/>
                    <a:lstStyle/>
                    <a:p>
                      <a:pPr indent="0" marL="0">
                        <a:buNone/>
                      </a:pPr>
                      <a:r>
                        <a:rPr lang="en-US" sz="1300" dirty="0">
                          <a:solidFill>
                            <a:schemeClr val="tx1"/>
                          </a:solidFill>
                        </a:rPr>
                        <a:t>Final decision not shown on the merchant side</a:t>
                      </a:r>
                      <a:endParaRPr lang="en-US" sz="13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tcPr>
                </a:tc>
              </a:tr>
              <a:tr h="457200">
                <a:tc>
                  <a:txBody>
                    <a:bodyPr/>
                    <a:lstStyle/>
                    <a:p>
                      <a:pPr indent="0" marL="0">
                        <a:buNone/>
                      </a:pPr>
                      <a:r>
                        <a:rPr lang="en-US" sz="1300" dirty="0">
                          <a:solidFill>
                            <a:schemeClr val="tx1"/>
                          </a:solidFill>
                        </a:rPr>
                        <a:t>S03 Pre-qualification form</a:t>
                      </a:r>
                      <a:endParaRPr lang="en-US" sz="13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tcPr>
                </a:tc>
                <a:tc>
                  <a:txBody>
                    <a:bodyPr/>
                    <a:lstStyle/>
                    <a:p>
                      <a:pPr indent="0" marL="0">
                        <a:buNone/>
                      </a:pPr>
                      <a:r>
                        <a:rPr lang="en-US" sz="1300" b="1" dirty="0">
                          <a:solidFill>
                            <a:schemeClr val="accent4"/>
                          </a:solidFill>
                        </a:rPr>
                        <a:t>Shown</a:t>
                      </a:r>
                      <a:endParaRPr lang="en-US" sz="13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tcPr>
                </a:tc>
                <a:tc>
                  <a:txBody>
                    <a:bodyPr/>
                    <a:lstStyle/>
                    <a:p>
                      <a:pPr indent="0" marL="0">
                        <a:buNone/>
                      </a:pPr>
                      <a:r>
                        <a:rPr lang="en-US" sz="1300" dirty="0">
                          <a:solidFill>
                            <a:schemeClr val="tx1"/>
                          </a:solidFill>
                        </a:rPr>
                        <a:t>S03a–b</a:t>
                      </a:r>
                      <a:endParaRPr lang="en-US" sz="13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tcPr>
                </a:tc>
                <a:tc>
                  <a:txBody>
                    <a:bodyPr/>
                    <a:lstStyle/>
                    <a:p>
                      <a:pPr indent="0" marL="0">
                        <a:buNone/>
                      </a:pPr>
                      <a:r>
                        <a:rPr lang="en-US" sz="1300" dirty="0">
                          <a:solidFill>
                            <a:schemeClr val="tx1"/>
                          </a:solidFill>
                        </a:rPr>
                        <a:t>Risk indicators pending compliance validation</a:t>
                      </a:r>
                      <a:endParaRPr lang="en-US" sz="13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tcPr>
                </a:tc>
              </a:tr>
              <a:tr h="457200">
                <a:tc>
                  <a:txBody>
                    <a:bodyPr/>
                    <a:lstStyle/>
                    <a:p>
                      <a:pPr indent="0" marL="0">
                        <a:buNone/>
                      </a:pPr>
                      <a:r>
                        <a:rPr lang="en-US" sz="1300" dirty="0">
                          <a:solidFill>
                            <a:schemeClr val="tx1"/>
                          </a:solidFill>
                        </a:rPr>
                        <a:t>S04 KYB document collection</a:t>
                      </a:r>
                      <a:endParaRPr lang="en-US" sz="13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tcPr>
                </a:tc>
                <a:tc>
                  <a:txBody>
                    <a:bodyPr/>
                    <a:lstStyle/>
                    <a:p>
                      <a:pPr indent="0" marL="0">
                        <a:buNone/>
                      </a:pPr>
                      <a:r>
                        <a:rPr lang="en-US" sz="1300" b="1" dirty="0">
                          <a:solidFill>
                            <a:schemeClr val="accent4"/>
                          </a:solidFill>
                        </a:rPr>
                        <a:t>Shown</a:t>
                      </a:r>
                      <a:endParaRPr lang="en-US" sz="13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tcPr>
                </a:tc>
                <a:tc>
                  <a:txBody>
                    <a:bodyPr/>
                    <a:lstStyle/>
                    <a:p>
                      <a:pPr indent="0" marL="0">
                        <a:buNone/>
                      </a:pPr>
                      <a:r>
                        <a:rPr lang="en-US" sz="1300" dirty="0">
                          <a:solidFill>
                            <a:schemeClr val="tx1"/>
                          </a:solidFill>
                        </a:rPr>
                        <a:t>S04a–d</a:t>
                      </a:r>
                      <a:endParaRPr lang="en-US" sz="13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tcPr>
                </a:tc>
                <a:tc>
                  <a:txBody>
                    <a:bodyPr/>
                    <a:lstStyle/>
                    <a:p>
                      <a:pPr indent="0" marL="0">
                        <a:buNone/>
                      </a:pPr>
                      <a:r>
                        <a:rPr lang="en-US" sz="1300" dirty="0">
                          <a:solidFill>
                            <a:schemeClr val="tx1"/>
                          </a:solidFill>
                        </a:rPr>
                        <a:t>Antivirus not installed in the demo</a:t>
                      </a:r>
                      <a:endParaRPr lang="en-US" sz="13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tcPr>
                </a:tc>
              </a:tr>
              <a:tr h="457200">
                <a:tc>
                  <a:txBody>
                    <a:bodyPr/>
                    <a:lstStyle/>
                    <a:p>
                      <a:pPr indent="0" marL="0">
                        <a:buNone/>
                      </a:pPr>
                      <a:r>
                        <a:rPr lang="en-US" sz="1300" dirty="0">
                          <a:solidFill>
                            <a:schemeClr val="tx1"/>
                          </a:solidFill>
                        </a:rPr>
                        <a:t>S05 Merchant portal</a:t>
                      </a:r>
                      <a:endParaRPr lang="en-US" sz="13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tcPr>
                </a:tc>
                <a:tc>
                  <a:txBody>
                    <a:bodyPr/>
                    <a:lstStyle/>
                    <a:p>
                      <a:pPr indent="0" marL="0">
                        <a:buNone/>
                      </a:pPr>
                      <a:r>
                        <a:rPr lang="en-US" sz="1300" b="1" dirty="0">
                          <a:solidFill>
                            <a:schemeClr val="accent5"/>
                          </a:solidFill>
                        </a:rPr>
                        <a:t>Partial</a:t>
                      </a:r>
                      <a:endParaRPr lang="en-US" sz="13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tcPr>
                </a:tc>
                <a:tc>
                  <a:txBody>
                    <a:bodyPr/>
                    <a:lstStyle/>
                    <a:p>
                      <a:pPr indent="0" marL="0">
                        <a:buNone/>
                      </a:pPr>
                      <a:r>
                        <a:rPr lang="en-US" sz="1300" dirty="0">
                          <a:solidFill>
                            <a:schemeClr val="tx1"/>
                          </a:solidFill>
                        </a:rPr>
                        <a:t>S05, S05b</a:t>
                      </a:r>
                      <a:endParaRPr lang="en-US" sz="13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tcPr>
                </a:tc>
                <a:tc>
                  <a:txBody>
                    <a:bodyPr/>
                    <a:lstStyle/>
                    <a:p>
                      <a:pPr indent="0" marL="0">
                        <a:buNone/>
                      </a:pPr>
                      <a:r>
                        <a:rPr lang="en-US" sz="1300" dirty="0">
                          <a:solidFill>
                            <a:schemeClr val="tx1"/>
                          </a:solidFill>
                        </a:rPr>
                        <a:t>Onboarding only, no active-merchant area</a:t>
                      </a:r>
                      <a:endParaRPr lang="en-US" sz="13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tcPr>
                </a:tc>
              </a:tr>
              <a:tr h="457200">
                <a:tc>
                  <a:txBody>
                    <a:bodyPr/>
                    <a:lstStyle/>
                    <a:p>
                      <a:pPr indent="0" marL="0">
                        <a:buNone/>
                      </a:pPr>
                      <a:r>
                        <a:rPr lang="en-US" sz="1300" dirty="0">
                          <a:solidFill>
                            <a:schemeClr val="tx1"/>
                          </a:solidFill>
                        </a:rPr>
                        <a:t>S06 Merchant dashboard</a:t>
                      </a:r>
                      <a:endParaRPr lang="en-US" sz="13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tcPr>
                </a:tc>
                <a:tc>
                  <a:txBody>
                    <a:bodyPr/>
                    <a:lstStyle/>
                    <a:p>
                      <a:pPr indent="0" marL="0">
                        <a:buNone/>
                      </a:pPr>
                      <a:r>
                        <a:rPr lang="en-US" sz="1300" b="1" dirty="0">
                          <a:solidFill>
                            <a:schemeClr val="accent5"/>
                          </a:solidFill>
                        </a:rPr>
                        <a:t>Substitute</a:t>
                      </a:r>
                      <a:endParaRPr lang="en-US" sz="13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tcPr>
                </a:tc>
                <a:tc>
                  <a:txBody>
                    <a:bodyPr/>
                    <a:lstStyle/>
                    <a:p>
                      <a:pPr indent="0" marL="0">
                        <a:buNone/>
                      </a:pPr>
                      <a:r>
                        <a:rPr lang="en-US" sz="1300" dirty="0">
                          <a:solidFill>
                            <a:schemeClr val="tx1"/>
                          </a:solidFill>
                        </a:rPr>
                        <a:t>S06</a:t>
                      </a:r>
                      <a:endParaRPr lang="en-US" sz="13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tcPr>
                </a:tc>
                <a:tc>
                  <a:txBody>
                    <a:bodyPr/>
                    <a:lstStyle/>
                    <a:p>
                      <a:pPr indent="0" marL="0">
                        <a:buNone/>
                      </a:pPr>
                      <a:r>
                        <a:rPr lang="en-US" sz="1300" dirty="0">
                          <a:solidFill>
                            <a:schemeClr val="tx1"/>
                          </a:solidFill>
                        </a:rPr>
                        <a:t>Internal volume report, not funds</a:t>
                      </a:r>
                      <a:endParaRPr lang="en-US" sz="13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tcPr>
                </a:tc>
              </a:tr>
              <a:tr h="457200">
                <a:tc>
                  <a:txBody>
                    <a:bodyPr/>
                    <a:lstStyle/>
                    <a:p>
                      <a:pPr indent="0" marL="0">
                        <a:buNone/>
                      </a:pPr>
                      <a:r>
                        <a:rPr lang="en-US" sz="1300" dirty="0">
                          <a:solidFill>
                            <a:schemeClr val="tx1"/>
                          </a:solidFill>
                        </a:rPr>
                        <a:t>S07 Settlement tracking</a:t>
                      </a:r>
                      <a:endParaRPr lang="en-US" sz="13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tcPr>
                </a:tc>
                <a:tc>
                  <a:txBody>
                    <a:bodyPr/>
                    <a:lstStyle/>
                    <a:p>
                      <a:pPr indent="0" marL="0">
                        <a:buNone/>
                      </a:pPr>
                      <a:r>
                        <a:rPr lang="en-US" sz="1300" b="1" dirty="0">
                          <a:solidFill>
                            <a:schemeClr val="accent5"/>
                          </a:solidFill>
                        </a:rPr>
                        <a:t>Partial</a:t>
                      </a:r>
                      <a:endParaRPr lang="en-US" sz="13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tcPr>
                </a:tc>
                <a:tc>
                  <a:txBody>
                    <a:bodyPr/>
                    <a:lstStyle/>
                    <a:p>
                      <a:pPr indent="0" marL="0">
                        <a:buNone/>
                      </a:pPr>
                      <a:r>
                        <a:rPr lang="en-US" sz="1300" dirty="0">
                          <a:solidFill>
                            <a:schemeClr val="tx1"/>
                          </a:solidFill>
                        </a:rPr>
                        <a:t>S07</a:t>
                      </a:r>
                      <a:endParaRPr lang="en-US" sz="13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tcPr>
                </a:tc>
                <a:tc>
                  <a:txBody>
                    <a:bodyPr/>
                    <a:lstStyle/>
                    <a:p>
                      <a:pPr indent="0" marL="0">
                        <a:buNone/>
                      </a:pPr>
                      <a:r>
                        <a:rPr lang="en-US" sz="1300" dirty="0">
                          <a:solidFill>
                            <a:schemeClr val="tx1"/>
                          </a:solidFill>
                        </a:rPr>
                        <a:t>Acquirer reconciliation, not trust</a:t>
                      </a:r>
                      <a:endParaRPr lang="en-US" sz="13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tcPr>
                </a:tc>
              </a:tr>
              <a:tr h="457200">
                <a:tc>
                  <a:txBody>
                    <a:bodyPr/>
                    <a:lstStyle/>
                    <a:p>
                      <a:pPr indent="0" marL="0">
                        <a:buNone/>
                      </a:pPr>
                      <a:r>
                        <a:rPr lang="en-US" sz="1300" dirty="0">
                          <a:solidFill>
                            <a:schemeClr val="tx1"/>
                          </a:solidFill>
                        </a:rPr>
                        <a:t>Controls (roles, audit, four-eyes, terms)</a:t>
                      </a:r>
                      <a:endParaRPr lang="en-US" sz="13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tcPr>
                </a:tc>
                <a:tc>
                  <a:txBody>
                    <a:bodyPr/>
                    <a:lstStyle/>
                    <a:p>
                      <a:pPr indent="0" marL="0">
                        <a:buNone/>
                      </a:pPr>
                      <a:r>
                        <a:rPr lang="en-US" sz="1300" b="1" dirty="0">
                          <a:solidFill>
                            <a:schemeClr val="accent4"/>
                          </a:solidFill>
                        </a:rPr>
                        <a:t>Shown</a:t>
                      </a:r>
                      <a:endParaRPr lang="en-US" sz="13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tcPr>
                </a:tc>
                <a:tc>
                  <a:txBody>
                    <a:bodyPr/>
                    <a:lstStyle/>
                    <a:p>
                      <a:pPr indent="0" marL="0">
                        <a:buNone/>
                      </a:pPr>
                      <a:r>
                        <a:rPr lang="en-US" sz="1300" dirty="0">
                          <a:solidFill>
                            <a:schemeClr val="tx1"/>
                          </a:solidFill>
                        </a:rPr>
                        <a:t>C01–C05</a:t>
                      </a:r>
                      <a:endParaRPr lang="en-US" sz="13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tcPr>
                </a:tc>
                <a:tc>
                  <a:txBody>
                    <a:bodyPr/>
                    <a:lstStyle/>
                    <a:p>
                      <a:pPr indent="0" marL="0">
                        <a:buNone/>
                      </a:pPr>
                      <a:r>
                        <a:rPr lang="en-US" sz="1300" dirty="0">
                          <a:solidFill>
                            <a:schemeClr val="tx1"/>
                          </a:solidFill>
                        </a:rPr>
                        <a:t>Three staff roles</a:t>
                      </a:r>
                      <a:endParaRPr lang="en-US" sz="13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tcPr>
                </a:tc>
              </a:tr>
            </a:tbl>
          </a:graphicData>
        </a:graphic>
      </p:graphicFrame>
      <p:sp>
        <p:nvSpPr>
          <p:cNvPr id="4" name="Text 1"/>
          <p:cNvSpPr txBox="1"/>
          <p:nvPr/>
        </p:nvSpPr>
        <p:spPr>
          <a:xfrm>
            <a:off x="457200" y="5623560"/>
            <a:ext cx="11247120" cy="365760"/>
          </a:xfrm>
          <a:prstGeom prst="rect">
            <a:avLst/>
          </a:prstGeom>
          <a:noFill/>
          <a:ln/>
        </p:spPr>
        <p:txBody>
          <a:bodyPr wrap="square" lIns="0" tIns="0" rIns="0" bIns="0" rtlCol="0" anchor="t"/>
          <a:lstStyle/>
          <a:p>
            <a:pPr algn="l" indent="0" marL="0">
              <a:buNone/>
            </a:pPr>
            <a:r>
              <a:rPr lang="en-US" sz="1300" i="1" dirty="0">
                <a:solidFill>
                  <a:schemeClr val="tx2"/>
                </a:solidFill>
              </a:rPr>
              <a:t>All screenshots: development prototype, fictitious data, red DEMONSTRATION ENVIRONMENT banner.</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47120" cy="731520"/>
          </a:xfrm>
          <a:prstGeom prst="rect">
            <a:avLst/>
          </a:prstGeom>
          <a:noFill/>
          <a:ln/>
        </p:spPr>
        <p:txBody>
          <a:bodyPr wrap="square" lIns="0" tIns="0" rIns="0" bIns="0" rtlCol="0" anchor="ctr"/>
          <a:lstStyle/>
          <a:p>
            <a:pPr algn="l" indent="0" marL="0">
              <a:buNone/>
            </a:pPr>
            <a:r>
              <a:rPr lang="en-US" sz="3000" b="1" dirty="0">
                <a:solidFill>
                  <a:schemeClr val="tx1"/>
                </a:solidFill>
              </a:rPr>
              <a:t>How the controls are tested</a:t>
            </a:r>
            <a:endParaRPr lang="en-US" sz="3000" dirty="0"/>
          </a:p>
        </p:txBody>
      </p:sp>
      <p:graphicFrame>
        <p:nvGraphicFramePr>
          <p:cNvPr id="10" name="tests-table"/>
          <p:cNvGraphicFramePr>
            <a:graphicFrameLocks noGrp="1"/>
          </p:cNvGraphicFramePr>
          <p:nvPr>
            <p:extLst>
              <p:ext uri="{D42A27DB-BD31-4B8C-83A1-F6EECF244321}">
                <p14:modId xmlns:p14="http://schemas.microsoft.com/office/powerpoint/2010/main" val="1579011935"/>
              </p:ext>
            </p:extLst>
          </p:nvPr>
        </p:nvGraphicFramePr>
        <p:xfrm>
          <a:off x="457200" y="1234440"/>
          <a:ext cx="6675120" cy="914400"/>
        </p:xfrm>
        <a:graphic>
          <a:graphicData uri="http://schemas.openxmlformats.org/drawingml/2006/table">
            <a:tbl>
              <a:tblPr/>
              <a:tblGrid>
                <a:gridCol w="5669280"/>
                <a:gridCol w="1005840"/>
              </a:tblGrid>
              <a:tr h="393192">
                <a:tc>
                  <a:txBody>
                    <a:bodyPr/>
                    <a:lstStyle/>
                    <a:p>
                      <a:pPr indent="0" marL="0">
                        <a:buNone/>
                      </a:pPr>
                      <a:r>
                        <a:rPr lang="en-US" sz="1200" b="1" dirty="0">
                          <a:solidFill>
                            <a:schemeClr val="tx2"/>
                          </a:solidFill>
                        </a:rPr>
                        <a:t>Area tested</a:t>
                      </a:r>
                      <a:endParaRPr lang="en-US" sz="12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solidFill>
                      <a:schemeClr val="bg2"/>
                    </a:solidFill>
                  </a:tcPr>
                </a:tc>
                <a:tc>
                  <a:txBody>
                    <a:bodyPr/>
                    <a:lstStyle/>
                    <a:p>
                      <a:pPr algn="r" indent="0" marL="0">
                        <a:buNone/>
                      </a:pPr>
                      <a:r>
                        <a:rPr lang="en-US" sz="1200" b="1" dirty="0">
                          <a:solidFill>
                            <a:schemeClr val="tx2"/>
                          </a:solidFill>
                        </a:rPr>
                        <a:t>Checks</a:t>
                      </a:r>
                      <a:endParaRPr lang="en-US" sz="12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solidFill>
                      <a:schemeClr val="bg2"/>
                    </a:solidFill>
                  </a:tcPr>
                </a:tc>
              </a:tr>
              <a:tr h="393192">
                <a:tc>
                  <a:txBody>
                    <a:bodyPr/>
                    <a:lstStyle/>
                    <a:p>
                      <a:pPr indent="0" marL="0">
                        <a:buNone/>
                      </a:pPr>
                      <a:r>
                        <a:rPr lang="en-US" sz="1300" dirty="0">
                          <a:solidFill>
                            <a:schemeClr val="tx1"/>
                          </a:solidFill>
                        </a:rPr>
                        <a:t>Merchant portal: accounts, 2FA, terms, segregation between merchants</a:t>
                      </a:r>
                      <a:endParaRPr lang="en-US" sz="13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tcPr>
                </a:tc>
                <a:tc>
                  <a:txBody>
                    <a:bodyPr/>
                    <a:lstStyle/>
                    <a:p>
                      <a:pPr algn="r" indent="0" marL="0">
                        <a:buNone/>
                      </a:pPr>
                      <a:r>
                        <a:rPr lang="en-US" sz="1300" dirty="0">
                          <a:solidFill>
                            <a:schemeClr val="tx1"/>
                          </a:solidFill>
                        </a:rPr>
                        <a:t>113</a:t>
                      </a:r>
                      <a:endParaRPr lang="en-US" sz="13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tcPr>
                </a:tc>
              </a:tr>
              <a:tr h="393192">
                <a:tc>
                  <a:txBody>
                    <a:bodyPr/>
                    <a:lstStyle/>
                    <a:p>
                      <a:pPr indent="0" marL="0">
                        <a:buNone/>
                      </a:pPr>
                      <a:r>
                        <a:rPr lang="en-US" sz="1300" dirty="0">
                          <a:solidFill>
                            <a:schemeClr val="tx1"/>
                          </a:solidFill>
                        </a:rPr>
                        <a:t>Staff document review and four-eyes</a:t>
                      </a:r>
                      <a:endParaRPr lang="en-US" sz="13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tcPr>
                </a:tc>
                <a:tc>
                  <a:txBody>
                    <a:bodyPr/>
                    <a:lstStyle/>
                    <a:p>
                      <a:pPr algn="r" indent="0" marL="0">
                        <a:buNone/>
                      </a:pPr>
                      <a:r>
                        <a:rPr lang="en-US" sz="1300" dirty="0">
                          <a:solidFill>
                            <a:schemeClr val="tx1"/>
                          </a:solidFill>
                        </a:rPr>
                        <a:t>11</a:t>
                      </a:r>
                      <a:endParaRPr lang="en-US" sz="13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tcPr>
                </a:tc>
              </a:tr>
              <a:tr h="393192">
                <a:tc>
                  <a:txBody>
                    <a:bodyPr/>
                    <a:lstStyle/>
                    <a:p>
                      <a:pPr indent="0" marL="0">
                        <a:buNone/>
                      </a:pPr>
                      <a:r>
                        <a:rPr lang="en-US" sz="1300" dirty="0">
                          <a:solidFill>
                            <a:schemeClr val="tx1"/>
                          </a:solidFill>
                        </a:rPr>
                        <a:t>Case approval: each blocker, approver role, four-eyes decision</a:t>
                      </a:r>
                      <a:endParaRPr lang="en-US" sz="13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tcPr>
                </a:tc>
                <a:tc>
                  <a:txBody>
                    <a:bodyPr/>
                    <a:lstStyle/>
                    <a:p>
                      <a:pPr algn="r" indent="0" marL="0">
                        <a:buNone/>
                      </a:pPr>
                      <a:r>
                        <a:rPr lang="en-US" sz="1300" dirty="0">
                          <a:solidFill>
                            <a:schemeClr val="tx1"/>
                          </a:solidFill>
                        </a:rPr>
                        <a:t>78</a:t>
                      </a:r>
                      <a:endParaRPr lang="en-US" sz="13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tcPr>
                </a:tc>
              </a:tr>
              <a:tr h="393192">
                <a:tc>
                  <a:txBody>
                    <a:bodyPr/>
                    <a:lstStyle/>
                    <a:p>
                      <a:pPr indent="0" marL="0">
                        <a:buNone/>
                      </a:pPr>
                      <a:r>
                        <a:rPr lang="en-US" sz="1300" dirty="0">
                          <a:solidFill>
                            <a:schemeClr val="tx1"/>
                          </a:solidFill>
                        </a:rPr>
                        <a:t>Monthly reporting: cleaning rules, report lines, exports</a:t>
                      </a:r>
                      <a:endParaRPr lang="en-US" sz="13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tcPr>
                </a:tc>
                <a:tc>
                  <a:txBody>
                    <a:bodyPr/>
                    <a:lstStyle/>
                    <a:p>
                      <a:pPr algn="r" indent="0" marL="0">
                        <a:buNone/>
                      </a:pPr>
                      <a:r>
                        <a:rPr lang="en-US" sz="1300" dirty="0">
                          <a:solidFill>
                            <a:schemeClr val="tx1"/>
                          </a:solidFill>
                        </a:rPr>
                        <a:t>65</a:t>
                      </a:r>
                      <a:endParaRPr lang="en-US" sz="13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tcPr>
                </a:tc>
              </a:tr>
              <a:tr h="393192">
                <a:tc>
                  <a:txBody>
                    <a:bodyPr/>
                    <a:lstStyle/>
                    <a:p>
                      <a:pPr indent="0" marL="0">
                        <a:buNone/>
                      </a:pPr>
                      <a:r>
                        <a:rPr lang="en-US" sz="1300" dirty="0">
                          <a:solidFill>
                            <a:schemeClr val="tx1"/>
                          </a:solidFill>
                        </a:rPr>
                        <a:t>Billing: fee rules, VAT, invoice lifecycle</a:t>
                      </a:r>
                      <a:endParaRPr lang="en-US" sz="13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tcPr>
                </a:tc>
                <a:tc>
                  <a:txBody>
                    <a:bodyPr/>
                    <a:lstStyle/>
                    <a:p>
                      <a:pPr algn="r" indent="0" marL="0">
                        <a:buNone/>
                      </a:pPr>
                      <a:r>
                        <a:rPr lang="en-US" sz="1300" dirty="0">
                          <a:solidFill>
                            <a:schemeClr val="tx1"/>
                          </a:solidFill>
                        </a:rPr>
                        <a:t>47</a:t>
                      </a:r>
                      <a:endParaRPr lang="en-US" sz="13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tcPr>
                </a:tc>
              </a:tr>
              <a:tr h="393192">
                <a:tc>
                  <a:txBody>
                    <a:bodyPr/>
                    <a:lstStyle/>
                    <a:p>
                      <a:pPr indent="0" marL="0">
                        <a:buNone/>
                      </a:pPr>
                      <a:r>
                        <a:rPr lang="en-US" sz="1300" dirty="0">
                          <a:solidFill>
                            <a:schemeClr val="tx1"/>
                          </a:solidFill>
                        </a:rPr>
                        <a:t>Acquirer reconciliation: gap categories to the cent</a:t>
                      </a:r>
                      <a:endParaRPr lang="en-US" sz="13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tcPr>
                </a:tc>
                <a:tc>
                  <a:txBody>
                    <a:bodyPr/>
                    <a:lstStyle/>
                    <a:p>
                      <a:pPr algn="r" indent="0" marL="0">
                        <a:buNone/>
                      </a:pPr>
                      <a:r>
                        <a:rPr lang="en-US" sz="1300" dirty="0">
                          <a:solidFill>
                            <a:schemeClr val="tx1"/>
                          </a:solidFill>
                        </a:rPr>
                        <a:t>55</a:t>
                      </a:r>
                      <a:endParaRPr lang="en-US" sz="13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tcPr>
                </a:tc>
              </a:tr>
              <a:tr h="393192">
                <a:tc>
                  <a:txBody>
                    <a:bodyPr/>
                    <a:lstStyle/>
                    <a:p>
                      <a:pPr indent="0" marL="0">
                        <a:buNone/>
                      </a:pPr>
                      <a:r>
                        <a:rPr lang="en-US" sz="1300" dirty="0">
                          <a:solidFill>
                            <a:schemeClr val="tx1"/>
                          </a:solidFill>
                        </a:rPr>
                        <a:t>Direct data import (simulated source)</a:t>
                      </a:r>
                      <a:endParaRPr lang="en-US" sz="13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tcPr>
                </a:tc>
                <a:tc>
                  <a:txBody>
                    <a:bodyPr/>
                    <a:lstStyle/>
                    <a:p>
                      <a:pPr algn="r" indent="0" marL="0">
                        <a:buNone/>
                      </a:pPr>
                      <a:r>
                        <a:rPr lang="en-US" sz="1300" dirty="0">
                          <a:solidFill>
                            <a:schemeClr val="tx1"/>
                          </a:solidFill>
                        </a:rPr>
                        <a:t>23</a:t>
                      </a:r>
                      <a:endParaRPr lang="en-US" sz="13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tcPr>
                </a:tc>
              </a:tr>
              <a:tr h="393192">
                <a:tc>
                  <a:txBody>
                    <a:bodyPr/>
                    <a:lstStyle/>
                    <a:p>
                      <a:pPr indent="0" marL="0">
                        <a:buNone/>
                      </a:pPr>
                      <a:r>
                        <a:rPr lang="en-US" sz="1300" dirty="0">
                          <a:solidFill>
                            <a:schemeClr val="tx1"/>
                          </a:solidFill>
                        </a:rPr>
                        <a:t>Merchant records: contacts, identifiers, contracts</a:t>
                      </a:r>
                      <a:endParaRPr lang="en-US" sz="13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tcPr>
                </a:tc>
                <a:tc>
                  <a:txBody>
                    <a:bodyPr/>
                    <a:lstStyle/>
                    <a:p>
                      <a:pPr algn="r" indent="0" marL="0">
                        <a:buNone/>
                      </a:pPr>
                      <a:r>
                        <a:rPr lang="en-US" sz="1300" dirty="0">
                          <a:solidFill>
                            <a:schemeClr val="tx1"/>
                          </a:solidFill>
                        </a:rPr>
                        <a:t>71</a:t>
                      </a:r>
                      <a:endParaRPr lang="en-US" sz="13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tcPr>
                </a:tc>
              </a:tr>
              <a:tr h="393192">
                <a:tc>
                  <a:txBody>
                    <a:bodyPr/>
                    <a:lstStyle/>
                    <a:p>
                      <a:pPr indent="0" marL="0">
                        <a:buNone/>
                      </a:pPr>
                      <a:r>
                        <a:rPr lang="en-US" sz="1300" dirty="0">
                          <a:solidFill>
                            <a:schemeClr val="tx1"/>
                          </a:solidFill>
                        </a:rPr>
                        <a:t>Mandatory two-factor authentication for staff</a:t>
                      </a:r>
                      <a:endParaRPr lang="en-US" sz="13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tcPr>
                </a:tc>
                <a:tc>
                  <a:txBody>
                    <a:bodyPr/>
                    <a:lstStyle/>
                    <a:p>
                      <a:pPr algn="r" indent="0" marL="0">
                        <a:buNone/>
                      </a:pPr>
                      <a:r>
                        <a:rPr lang="en-US" sz="1300" dirty="0">
                          <a:solidFill>
                            <a:schemeClr val="tx1"/>
                          </a:solidFill>
                        </a:rPr>
                        <a:t>23</a:t>
                      </a:r>
                      <a:endParaRPr lang="en-US" sz="13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tcPr>
                </a:tc>
              </a:tr>
              <a:tr h="393192">
                <a:tc>
                  <a:txBody>
                    <a:bodyPr/>
                    <a:lstStyle/>
                    <a:p>
                      <a:pPr indent="0" marL="0">
                        <a:buNone/>
                      </a:pPr>
                      <a:r>
                        <a:rPr lang="en-US" sz="1300" dirty="0">
                          <a:solidFill>
                            <a:schemeClr val="tx1"/>
                          </a:solidFill>
                        </a:rPr>
                        <a:t>Staff accounts, roles, 2FA, audit log, sign-in lockout</a:t>
                      </a:r>
                      <a:endParaRPr lang="en-US" sz="13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tcPr>
                </a:tc>
                <a:tc>
                  <a:txBody>
                    <a:bodyPr/>
                    <a:lstStyle/>
                    <a:p>
                      <a:pPr algn="r" indent="0" marL="0">
                        <a:buNone/>
                      </a:pPr>
                      <a:r>
                        <a:rPr lang="en-US" sz="1300" dirty="0">
                          <a:solidFill>
                            <a:schemeClr val="tx1"/>
                          </a:solidFill>
                        </a:rPr>
                        <a:t>93</a:t>
                      </a:r>
                      <a:endParaRPr lang="en-US" sz="13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tcPr>
                </a:tc>
              </a:tr>
            </a:tbl>
          </a:graphicData>
        </a:graphic>
      </p:graphicFrame>
      <p:sp>
        <p:nvSpPr>
          <p:cNvPr id="4" name="Text 1"/>
          <p:cNvSpPr txBox="1"/>
          <p:nvPr/>
        </p:nvSpPr>
        <p:spPr>
          <a:xfrm>
            <a:off x="7498080" y="1234440"/>
            <a:ext cx="4206240" cy="411480"/>
          </a:xfrm>
          <a:prstGeom prst="rect">
            <a:avLst/>
          </a:prstGeom>
          <a:noFill/>
          <a:ln/>
        </p:spPr>
        <p:txBody>
          <a:bodyPr wrap="square" lIns="0" tIns="0" rIns="0" bIns="0" rtlCol="0" anchor="t"/>
          <a:lstStyle/>
          <a:p>
            <a:pPr algn="l" indent="0" marL="0">
              <a:buNone/>
            </a:pPr>
            <a:r>
              <a:rPr lang="en-US" sz="1800" b="1" dirty="0">
                <a:solidFill>
                  <a:schemeClr val="accent4"/>
                </a:solidFill>
                <a:latin typeface="Cambria" pitchFamily="34" charset="0"/>
                <a:ea typeface="Cambria" pitchFamily="34" charset="-122"/>
                <a:cs typeface="Cambria" pitchFamily="34" charset="-120"/>
              </a:rPr>
              <a:t>What the tests show</a:t>
            </a:r>
            <a:endParaRPr lang="en-US" sz="1800" dirty="0"/>
          </a:p>
        </p:txBody>
      </p:sp>
      <p:sp>
        <p:nvSpPr>
          <p:cNvPr id="5" name="Text 2"/>
          <p:cNvSpPr txBox="1"/>
          <p:nvPr/>
        </p:nvSpPr>
        <p:spPr>
          <a:xfrm>
            <a:off x="7498080" y="1691640"/>
            <a:ext cx="4206240" cy="2286000"/>
          </a:xfrm>
          <a:prstGeom prst="rect">
            <a:avLst/>
          </a:prstGeom>
          <a:noFill/>
          <a:ln/>
        </p:spPr>
        <p:txBody>
          <a:bodyPr wrap="square" lIns="635" tIns="635" rIns="635" bIns="635" rtlCol="0" anchor="t"/>
          <a:lstStyle/>
          <a:p>
            <a:pPr marL="342900" indent="-342900">
              <a:spcAft>
                <a:spcPts val="600"/>
              </a:spcAft>
              <a:buSzPct val="100000"/>
              <a:buChar char="•"/>
            </a:pPr>
            <a:r>
              <a:rPr lang="en-US" sz="1300" dirty="0">
                <a:solidFill>
                  <a:schemeClr val="tx1"/>
                </a:solidFill>
              </a:rPr>
              <a:t>Each control is exercised through the application interface, as a user would</a:t>
            </a:r>
            <a:endParaRPr lang="en-US" sz="1300" dirty="0"/>
          </a:p>
          <a:p>
            <a:pPr marL="342900" indent="-342900">
              <a:spcAft>
                <a:spcPts val="600"/>
              </a:spcAft>
              <a:buSzPct val="100000"/>
              <a:buChar char="•"/>
            </a:pPr>
            <a:r>
              <a:rPr lang="en-US" sz="1300" dirty="0">
                <a:solidFill>
                  <a:schemeClr val="tx1"/>
                </a:solidFill>
              </a:rPr>
              <a:t>Refusals are checked as well as successes: wrong role, other merchant's case, own document, missing approval blockers</a:t>
            </a:r>
            <a:endParaRPr lang="en-US" sz="1300" dirty="0"/>
          </a:p>
          <a:p>
            <a:pPr marL="342900" indent="-342900">
              <a:spcAft>
                <a:spcPts val="600"/>
              </a:spcAft>
              <a:buSzPct val="100000"/>
              <a:buChar char="•"/>
            </a:pPr>
            <a:r>
              <a:rPr lang="en-US" sz="1300" dirty="0">
                <a:solidFill>
                  <a:schemeClr val="tx1"/>
                </a:solidFill>
              </a:rPr>
              <a:t>Expected figures are computed by hand from fictitious data</a:t>
            </a:r>
            <a:endParaRPr lang="en-US" sz="1300" dirty="0"/>
          </a:p>
        </p:txBody>
      </p:sp>
      <p:sp>
        <p:nvSpPr>
          <p:cNvPr id="6" name="Text 3"/>
          <p:cNvSpPr txBox="1"/>
          <p:nvPr/>
        </p:nvSpPr>
        <p:spPr>
          <a:xfrm>
            <a:off x="7498080" y="3977640"/>
            <a:ext cx="4206240" cy="411480"/>
          </a:xfrm>
          <a:prstGeom prst="rect">
            <a:avLst/>
          </a:prstGeom>
          <a:noFill/>
          <a:ln/>
        </p:spPr>
        <p:txBody>
          <a:bodyPr wrap="square" lIns="0" tIns="0" rIns="0" bIns="0" rtlCol="0" anchor="t"/>
          <a:lstStyle/>
          <a:p>
            <a:pPr algn="l" indent="0" marL="0">
              <a:buNone/>
            </a:pPr>
            <a:r>
              <a:rPr lang="en-US" sz="1800" b="1" dirty="0">
                <a:solidFill>
                  <a:schemeClr val="accent6"/>
                </a:solidFill>
                <a:latin typeface="Cambria" pitchFamily="34" charset="0"/>
                <a:ea typeface="Cambria" pitchFamily="34" charset="-122"/>
                <a:cs typeface="Cambria" pitchFamily="34" charset="-120"/>
              </a:rPr>
              <a:t>What they do not show</a:t>
            </a:r>
            <a:endParaRPr lang="en-US" sz="1800" dirty="0"/>
          </a:p>
        </p:txBody>
      </p:sp>
      <p:sp>
        <p:nvSpPr>
          <p:cNvPr id="7" name="Text 4"/>
          <p:cNvSpPr txBox="1"/>
          <p:nvPr/>
        </p:nvSpPr>
        <p:spPr>
          <a:xfrm>
            <a:off x="7498080" y="4434840"/>
            <a:ext cx="4206240" cy="1371600"/>
          </a:xfrm>
          <a:prstGeom prst="rect">
            <a:avLst/>
          </a:prstGeom>
          <a:noFill/>
          <a:ln/>
        </p:spPr>
        <p:txBody>
          <a:bodyPr wrap="square" lIns="635" tIns="635" rIns="635" bIns="635" rtlCol="0" anchor="t"/>
          <a:lstStyle/>
          <a:p>
            <a:pPr marL="342900" indent="-342900">
              <a:spcAft>
                <a:spcPts val="600"/>
              </a:spcAft>
              <a:buSzPct val="100000"/>
              <a:buChar char="•"/>
            </a:pPr>
            <a:r>
              <a:rPr lang="en-US" sz="1300" dirty="0">
                <a:solidFill>
                  <a:schemeClr val="tx1"/>
                </a:solidFill>
              </a:rPr>
              <a:t>Behaviour of a production system or on real data</a:t>
            </a:r>
            <a:endParaRPr lang="en-US" sz="1300" dirty="0"/>
          </a:p>
          <a:p>
            <a:pPr marL="342900" indent="-342900">
              <a:spcAft>
                <a:spcPts val="600"/>
              </a:spcAft>
              <a:buSzPct val="100000"/>
              <a:buChar char="•"/>
            </a:pPr>
            <a:r>
              <a:rPr lang="en-US" sz="1300" dirty="0">
                <a:solidFill>
                  <a:schemeClr val="tx1"/>
                </a:solidFill>
              </a:rPr>
              <a:t>That business rules (amount units, VAT treatment) are confirmed</a:t>
            </a:r>
            <a:endParaRPr lang="en-US" sz="1300" dirty="0"/>
          </a:p>
        </p:txBody>
      </p:sp>
      <p:sp>
        <p:nvSpPr>
          <p:cNvPr id="8" name="Text 5"/>
          <p:cNvSpPr txBox="1"/>
          <p:nvPr/>
        </p:nvSpPr>
        <p:spPr>
          <a:xfrm>
            <a:off x="457200" y="5897880"/>
            <a:ext cx="11247120" cy="365760"/>
          </a:xfrm>
          <a:prstGeom prst="rect">
            <a:avLst/>
          </a:prstGeom>
          <a:noFill/>
          <a:ln/>
        </p:spPr>
        <p:txBody>
          <a:bodyPr wrap="square" lIns="0" tIns="0" rIns="0" bIns="0" rtlCol="0" anchor="t"/>
          <a:lstStyle/>
          <a:p>
            <a:pPr algn="l" indent="0" marL="0">
              <a:buNone/>
            </a:pPr>
            <a:r>
              <a:rPr lang="en-US" sz="1300" i="1" dirty="0">
                <a:solidFill>
                  <a:schemeClr val="tx2"/>
                </a:solidFill>
              </a:rPr>
              <a:t>Development prototype. Tests run on a disposable database; they do not replace testing of the production system.</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47120" cy="731520"/>
          </a:xfrm>
          <a:prstGeom prst="rect">
            <a:avLst/>
          </a:prstGeom>
          <a:noFill/>
          <a:ln/>
        </p:spPr>
        <p:txBody>
          <a:bodyPr wrap="square" lIns="0" tIns="0" rIns="0" bIns="0" rtlCol="0" anchor="ctr"/>
          <a:lstStyle/>
          <a:p>
            <a:pPr algn="l" indent="0" marL="0">
              <a:buNone/>
            </a:pPr>
            <a:r>
              <a:rPr lang="en-US" sz="3000" b="1" dirty="0">
                <a:solidFill>
                  <a:schemeClr val="tx1"/>
                </a:solidFill>
              </a:rPr>
              <a:t>Not yet in place</a:t>
            </a:r>
            <a:endParaRPr lang="en-US" sz="3000" dirty="0"/>
          </a:p>
        </p:txBody>
      </p:sp>
      <p:sp>
        <p:nvSpPr>
          <p:cNvPr id="3" name="gap-0"/>
          <p:cNvSpPr/>
          <p:nvPr/>
        </p:nvSpPr>
        <p:spPr>
          <a:xfrm>
            <a:off x="457200" y="1280160"/>
            <a:ext cx="5440680" cy="1325880"/>
          </a:xfrm>
          <a:prstGeom prst="roundRect">
            <a:avLst>
              <a:gd name="adj" fmla="val 5517"/>
            </a:avLst>
          </a:prstGeom>
          <a:solidFill>
            <a:schemeClr val="bg2"/>
          </a:solidFill>
          <a:ln w="9525">
            <a:solidFill>
              <a:schemeClr val="bg2"/>
            </a:solidFill>
            <a:prstDash val="solid"/>
          </a:ln>
        </p:spPr>
      </p:sp>
      <p:sp>
        <p:nvSpPr>
          <p:cNvPr id="4" name="gdot-0"/>
          <p:cNvSpPr/>
          <p:nvPr/>
        </p:nvSpPr>
        <p:spPr>
          <a:xfrm>
            <a:off x="685800" y="1554480"/>
            <a:ext cx="292608" cy="292608"/>
          </a:xfrm>
          <a:prstGeom prst="ellipse">
            <a:avLst/>
          </a:prstGeom>
          <a:solidFill>
            <a:schemeClr val="accent5"/>
          </a:solidFill>
          <a:ln w="12700">
            <a:solidFill>
              <a:schemeClr val="accent5"/>
            </a:solidFill>
            <a:prstDash val="solid"/>
          </a:ln>
        </p:spPr>
      </p:sp>
      <p:sp>
        <p:nvSpPr>
          <p:cNvPr id="5" name="Text 3"/>
          <p:cNvSpPr txBox="1"/>
          <p:nvPr/>
        </p:nvSpPr>
        <p:spPr>
          <a:xfrm>
            <a:off x="1097280" y="1444752"/>
            <a:ext cx="4663440" cy="457200"/>
          </a:xfrm>
          <a:prstGeom prst="rect">
            <a:avLst/>
          </a:prstGeom>
          <a:noFill/>
          <a:ln/>
        </p:spPr>
        <p:txBody>
          <a:bodyPr wrap="square" lIns="1016" tIns="1016" rIns="1016" bIns="1016" rtlCol="0" anchor="t"/>
          <a:lstStyle/>
          <a:p>
            <a:pPr algn="l" indent="0" marL="0">
              <a:buNone/>
            </a:pPr>
            <a:r>
              <a:rPr lang="en-US" sz="1700" b="1" dirty="0">
                <a:solidFill>
                  <a:schemeClr val="tx1"/>
                </a:solidFill>
              </a:rPr>
              <a:t>Safeguarding reconciliation</a:t>
            </a:r>
            <a:endParaRPr lang="en-US" sz="1700" dirty="0"/>
          </a:p>
        </p:txBody>
      </p:sp>
      <p:sp>
        <p:nvSpPr>
          <p:cNvPr id="6" name="Text 4"/>
          <p:cNvSpPr txBox="1"/>
          <p:nvPr/>
        </p:nvSpPr>
        <p:spPr>
          <a:xfrm>
            <a:off x="1097280" y="1920240"/>
            <a:ext cx="4663440" cy="640080"/>
          </a:xfrm>
          <a:prstGeom prst="rect">
            <a:avLst/>
          </a:prstGeom>
          <a:noFill/>
          <a:ln/>
        </p:spPr>
        <p:txBody>
          <a:bodyPr wrap="square" lIns="1016" tIns="1016" rIns="1016" bIns="1016" rtlCol="0" anchor="t"/>
          <a:lstStyle/>
          <a:p>
            <a:pPr algn="l" indent="0" marL="0">
              <a:buNone/>
            </a:pPr>
            <a:r>
              <a:rPr lang="en-US" sz="1300" dirty="0">
                <a:solidFill>
                  <a:schemeClr val="tx1"/>
                </a:solidFill>
              </a:rPr>
              <a:t>Daily bank-to-ledger-to-merchant-funds reconciliation, needed only if merchant funds are collected (model B).</a:t>
            </a:r>
            <a:endParaRPr lang="en-US" sz="1300" dirty="0"/>
          </a:p>
        </p:txBody>
      </p:sp>
      <p:sp>
        <p:nvSpPr>
          <p:cNvPr id="7" name="gap-1"/>
          <p:cNvSpPr/>
          <p:nvPr/>
        </p:nvSpPr>
        <p:spPr>
          <a:xfrm>
            <a:off x="6126480" y="1280160"/>
            <a:ext cx="5440680" cy="1325880"/>
          </a:xfrm>
          <a:prstGeom prst="roundRect">
            <a:avLst>
              <a:gd name="adj" fmla="val 5517"/>
            </a:avLst>
          </a:prstGeom>
          <a:solidFill>
            <a:schemeClr val="bg2"/>
          </a:solidFill>
          <a:ln w="9525">
            <a:solidFill>
              <a:schemeClr val="bg2"/>
            </a:solidFill>
            <a:prstDash val="solid"/>
          </a:ln>
        </p:spPr>
      </p:sp>
      <p:sp>
        <p:nvSpPr>
          <p:cNvPr id="8" name="gdot-1"/>
          <p:cNvSpPr/>
          <p:nvPr/>
        </p:nvSpPr>
        <p:spPr>
          <a:xfrm>
            <a:off x="6355080" y="1554480"/>
            <a:ext cx="292608" cy="292608"/>
          </a:xfrm>
          <a:prstGeom prst="ellipse">
            <a:avLst/>
          </a:prstGeom>
          <a:solidFill>
            <a:schemeClr val="accent5"/>
          </a:solidFill>
          <a:ln w="12700">
            <a:solidFill>
              <a:schemeClr val="accent5"/>
            </a:solidFill>
            <a:prstDash val="solid"/>
          </a:ln>
        </p:spPr>
      </p:sp>
      <p:sp>
        <p:nvSpPr>
          <p:cNvPr id="9" name="Text 7"/>
          <p:cNvSpPr txBox="1"/>
          <p:nvPr/>
        </p:nvSpPr>
        <p:spPr>
          <a:xfrm>
            <a:off x="6766560" y="1444752"/>
            <a:ext cx="4663440" cy="457200"/>
          </a:xfrm>
          <a:prstGeom prst="rect">
            <a:avLst/>
          </a:prstGeom>
          <a:noFill/>
          <a:ln/>
        </p:spPr>
        <p:txBody>
          <a:bodyPr wrap="square" lIns="1016" tIns="1016" rIns="1016" bIns="1016" rtlCol="0" anchor="t"/>
          <a:lstStyle/>
          <a:p>
            <a:pPr algn="l" indent="0" marL="0">
              <a:buNone/>
            </a:pPr>
            <a:r>
              <a:rPr lang="en-US" sz="1700" b="1" dirty="0">
                <a:solidFill>
                  <a:schemeClr val="tx1"/>
                </a:solidFill>
              </a:rPr>
              <a:t>Transaction monitoring</a:t>
            </a:r>
            <a:endParaRPr lang="en-US" sz="1700" dirty="0"/>
          </a:p>
        </p:txBody>
      </p:sp>
      <p:sp>
        <p:nvSpPr>
          <p:cNvPr id="10" name="Text 8"/>
          <p:cNvSpPr txBox="1"/>
          <p:nvPr/>
        </p:nvSpPr>
        <p:spPr>
          <a:xfrm>
            <a:off x="6766560" y="1920240"/>
            <a:ext cx="4663440" cy="640080"/>
          </a:xfrm>
          <a:prstGeom prst="rect">
            <a:avLst/>
          </a:prstGeom>
          <a:noFill/>
          <a:ln/>
        </p:spPr>
        <p:txBody>
          <a:bodyPr wrap="square" lIns="1016" tIns="1016" rIns="1016" bIns="1016" rtlCol="0" anchor="t"/>
          <a:lstStyle/>
          <a:p>
            <a:pPr algn="l" indent="0" marL="0">
              <a:buNone/>
            </a:pPr>
            <a:r>
              <a:rPr lang="en-US" sz="1300" dirty="0">
                <a:solidFill>
                  <a:schemeClr val="tx1"/>
                </a:solidFill>
              </a:rPr>
              <a:t>Rules, alerts and case investigation for AML and fraud.</a:t>
            </a:r>
            <a:endParaRPr lang="en-US" sz="1300" dirty="0"/>
          </a:p>
        </p:txBody>
      </p:sp>
      <p:sp>
        <p:nvSpPr>
          <p:cNvPr id="11" name="gap-2"/>
          <p:cNvSpPr/>
          <p:nvPr/>
        </p:nvSpPr>
        <p:spPr>
          <a:xfrm>
            <a:off x="457200" y="2834640"/>
            <a:ext cx="5440680" cy="1325880"/>
          </a:xfrm>
          <a:prstGeom prst="roundRect">
            <a:avLst>
              <a:gd name="adj" fmla="val 5517"/>
            </a:avLst>
          </a:prstGeom>
          <a:solidFill>
            <a:schemeClr val="bg2"/>
          </a:solidFill>
          <a:ln w="9525">
            <a:solidFill>
              <a:schemeClr val="bg2"/>
            </a:solidFill>
            <a:prstDash val="solid"/>
          </a:ln>
        </p:spPr>
      </p:sp>
      <p:sp>
        <p:nvSpPr>
          <p:cNvPr id="12" name="gdot-2"/>
          <p:cNvSpPr/>
          <p:nvPr/>
        </p:nvSpPr>
        <p:spPr>
          <a:xfrm>
            <a:off x="685800" y="3108960"/>
            <a:ext cx="292608" cy="292608"/>
          </a:xfrm>
          <a:prstGeom prst="ellipse">
            <a:avLst/>
          </a:prstGeom>
          <a:solidFill>
            <a:schemeClr val="accent5"/>
          </a:solidFill>
          <a:ln w="12700">
            <a:solidFill>
              <a:schemeClr val="accent5"/>
            </a:solidFill>
            <a:prstDash val="solid"/>
          </a:ln>
        </p:spPr>
      </p:sp>
      <p:sp>
        <p:nvSpPr>
          <p:cNvPr id="13" name="Text 11"/>
          <p:cNvSpPr txBox="1"/>
          <p:nvPr/>
        </p:nvSpPr>
        <p:spPr>
          <a:xfrm>
            <a:off x="1097280" y="2999232"/>
            <a:ext cx="4663440" cy="457200"/>
          </a:xfrm>
          <a:prstGeom prst="rect">
            <a:avLst/>
          </a:prstGeom>
          <a:noFill/>
          <a:ln/>
        </p:spPr>
        <p:txBody>
          <a:bodyPr wrap="square" lIns="1016" tIns="1016" rIns="1016" bIns="1016" rtlCol="0" anchor="t"/>
          <a:lstStyle/>
          <a:p>
            <a:pPr algn="l" indent="0" marL="0">
              <a:buNone/>
            </a:pPr>
            <a:r>
              <a:rPr lang="en-US" sz="1700" b="1" dirty="0">
                <a:solidFill>
                  <a:schemeClr val="tx1"/>
                </a:solidFill>
              </a:rPr>
              <a:t>Refunds, chargebacks, disputes</a:t>
            </a:r>
            <a:endParaRPr lang="en-US" sz="1700" dirty="0"/>
          </a:p>
        </p:txBody>
      </p:sp>
      <p:sp>
        <p:nvSpPr>
          <p:cNvPr id="14" name="Text 12"/>
          <p:cNvSpPr txBox="1"/>
          <p:nvPr/>
        </p:nvSpPr>
        <p:spPr>
          <a:xfrm>
            <a:off x="1097280" y="3474720"/>
            <a:ext cx="4663440" cy="640080"/>
          </a:xfrm>
          <a:prstGeom prst="rect">
            <a:avLst/>
          </a:prstGeom>
          <a:noFill/>
          <a:ln/>
        </p:spPr>
        <p:txBody>
          <a:bodyPr wrap="square" lIns="1016" tIns="1016" rIns="1016" bIns="1016" rtlCol="0" anchor="t"/>
          <a:lstStyle/>
          <a:p>
            <a:pPr algn="l" indent="0" marL="0">
              <a:buNone/>
            </a:pPr>
            <a:r>
              <a:rPr lang="en-US" sz="1300" dirty="0">
                <a:solidFill>
                  <a:schemeClr val="tx1"/>
                </a:solidFill>
              </a:rPr>
              <a:t>Registers, statuses and deadlines.</a:t>
            </a:r>
            <a:endParaRPr lang="en-US" sz="1300" dirty="0"/>
          </a:p>
        </p:txBody>
      </p:sp>
      <p:sp>
        <p:nvSpPr>
          <p:cNvPr id="15" name="gap-3"/>
          <p:cNvSpPr/>
          <p:nvPr/>
        </p:nvSpPr>
        <p:spPr>
          <a:xfrm>
            <a:off x="6126480" y="2834640"/>
            <a:ext cx="5440680" cy="1325880"/>
          </a:xfrm>
          <a:prstGeom prst="roundRect">
            <a:avLst>
              <a:gd name="adj" fmla="val 5517"/>
            </a:avLst>
          </a:prstGeom>
          <a:solidFill>
            <a:schemeClr val="bg2"/>
          </a:solidFill>
          <a:ln w="9525">
            <a:solidFill>
              <a:schemeClr val="bg2"/>
            </a:solidFill>
            <a:prstDash val="solid"/>
          </a:ln>
        </p:spPr>
      </p:sp>
      <p:sp>
        <p:nvSpPr>
          <p:cNvPr id="16" name="gdot-3"/>
          <p:cNvSpPr/>
          <p:nvPr/>
        </p:nvSpPr>
        <p:spPr>
          <a:xfrm>
            <a:off x="6355080" y="3108960"/>
            <a:ext cx="292608" cy="292608"/>
          </a:xfrm>
          <a:prstGeom prst="ellipse">
            <a:avLst/>
          </a:prstGeom>
          <a:solidFill>
            <a:schemeClr val="accent5"/>
          </a:solidFill>
          <a:ln w="12700">
            <a:solidFill>
              <a:schemeClr val="accent5"/>
            </a:solidFill>
            <a:prstDash val="solid"/>
          </a:ln>
        </p:spPr>
      </p:sp>
      <p:sp>
        <p:nvSpPr>
          <p:cNvPr id="17" name="Text 15"/>
          <p:cNvSpPr txBox="1"/>
          <p:nvPr/>
        </p:nvSpPr>
        <p:spPr>
          <a:xfrm>
            <a:off x="6766560" y="2999232"/>
            <a:ext cx="4663440" cy="457200"/>
          </a:xfrm>
          <a:prstGeom prst="rect">
            <a:avLst/>
          </a:prstGeom>
          <a:noFill/>
          <a:ln/>
        </p:spPr>
        <p:txBody>
          <a:bodyPr wrap="square" lIns="1016" tIns="1016" rIns="1016" bIns="1016" rtlCol="0" anchor="t"/>
          <a:lstStyle/>
          <a:p>
            <a:pPr algn="l" indent="0" marL="0">
              <a:buNone/>
            </a:pPr>
            <a:r>
              <a:rPr lang="en-US" sz="1700" b="1" dirty="0">
                <a:solidFill>
                  <a:schemeClr val="tx1"/>
                </a:solidFill>
              </a:rPr>
              <a:t>Complaints handling</a:t>
            </a:r>
            <a:endParaRPr lang="en-US" sz="1700" dirty="0"/>
          </a:p>
        </p:txBody>
      </p:sp>
      <p:sp>
        <p:nvSpPr>
          <p:cNvPr id="18" name="Text 16"/>
          <p:cNvSpPr txBox="1"/>
          <p:nvPr/>
        </p:nvSpPr>
        <p:spPr>
          <a:xfrm>
            <a:off x="6766560" y="3474720"/>
            <a:ext cx="4663440" cy="640080"/>
          </a:xfrm>
          <a:prstGeom prst="rect">
            <a:avLst/>
          </a:prstGeom>
          <a:noFill/>
          <a:ln/>
        </p:spPr>
        <p:txBody>
          <a:bodyPr wrap="square" lIns="1016" tIns="1016" rIns="1016" bIns="1016" rtlCol="0" anchor="t"/>
          <a:lstStyle/>
          <a:p>
            <a:pPr algn="l" indent="0" marL="0">
              <a:buNone/>
            </a:pPr>
            <a:r>
              <a:rPr lang="en-US" sz="1300" dirty="0">
                <a:solidFill>
                  <a:schemeClr val="tx1"/>
                </a:solidFill>
              </a:rPr>
              <a:t>Register, response times, escalation.</a:t>
            </a:r>
            <a:endParaRPr lang="en-US" sz="1300" dirty="0"/>
          </a:p>
        </p:txBody>
      </p:sp>
      <p:sp>
        <p:nvSpPr>
          <p:cNvPr id="19" name="gap-4"/>
          <p:cNvSpPr/>
          <p:nvPr/>
        </p:nvSpPr>
        <p:spPr>
          <a:xfrm>
            <a:off x="457200" y="4389120"/>
            <a:ext cx="5440680" cy="1325880"/>
          </a:xfrm>
          <a:prstGeom prst="roundRect">
            <a:avLst>
              <a:gd name="adj" fmla="val 5517"/>
            </a:avLst>
          </a:prstGeom>
          <a:solidFill>
            <a:schemeClr val="bg2"/>
          </a:solidFill>
          <a:ln w="9525">
            <a:solidFill>
              <a:schemeClr val="bg2"/>
            </a:solidFill>
            <a:prstDash val="solid"/>
          </a:ln>
        </p:spPr>
      </p:sp>
      <p:sp>
        <p:nvSpPr>
          <p:cNvPr id="20" name="gdot-4"/>
          <p:cNvSpPr/>
          <p:nvPr/>
        </p:nvSpPr>
        <p:spPr>
          <a:xfrm>
            <a:off x="685800" y="4663440"/>
            <a:ext cx="292608" cy="292608"/>
          </a:xfrm>
          <a:prstGeom prst="ellipse">
            <a:avLst/>
          </a:prstGeom>
          <a:solidFill>
            <a:schemeClr val="accent5"/>
          </a:solidFill>
          <a:ln w="12700">
            <a:solidFill>
              <a:schemeClr val="accent5"/>
            </a:solidFill>
            <a:prstDash val="solid"/>
          </a:ln>
        </p:spPr>
      </p:sp>
      <p:sp>
        <p:nvSpPr>
          <p:cNvPr id="21" name="Text 19"/>
          <p:cNvSpPr txBox="1"/>
          <p:nvPr/>
        </p:nvSpPr>
        <p:spPr>
          <a:xfrm>
            <a:off x="1097280" y="4553712"/>
            <a:ext cx="4663440" cy="457200"/>
          </a:xfrm>
          <a:prstGeom prst="rect">
            <a:avLst/>
          </a:prstGeom>
          <a:noFill/>
          <a:ln/>
        </p:spPr>
        <p:txBody>
          <a:bodyPr wrap="square" lIns="1016" tIns="1016" rIns="1016" bIns="1016" rtlCol="0" anchor="t"/>
          <a:lstStyle/>
          <a:p>
            <a:pPr algn="l" indent="0" marL="0">
              <a:buNone/>
            </a:pPr>
            <a:r>
              <a:rPr lang="en-US" sz="1700" b="1" dirty="0">
                <a:solidFill>
                  <a:schemeClr val="tx1"/>
                </a:solidFill>
              </a:rPr>
              <a:t>Automated sanctions / PEP screening</a:t>
            </a:r>
            <a:endParaRPr lang="en-US" sz="1700" dirty="0"/>
          </a:p>
        </p:txBody>
      </p:sp>
      <p:sp>
        <p:nvSpPr>
          <p:cNvPr id="22" name="Text 20"/>
          <p:cNvSpPr txBox="1"/>
          <p:nvPr/>
        </p:nvSpPr>
        <p:spPr>
          <a:xfrm>
            <a:off x="1097280" y="5029200"/>
            <a:ext cx="4663440" cy="640080"/>
          </a:xfrm>
          <a:prstGeom prst="rect">
            <a:avLst/>
          </a:prstGeom>
          <a:noFill/>
          <a:ln/>
        </p:spPr>
        <p:txBody>
          <a:bodyPr wrap="square" lIns="1016" tIns="1016" rIns="1016" bIns="1016" rtlCol="0" anchor="t"/>
          <a:lstStyle/>
          <a:p>
            <a:pPr algn="l" indent="0" marL="0">
              <a:buNone/>
            </a:pPr>
            <a:r>
              <a:rPr lang="en-US" sz="1300" dirty="0">
                <a:solidFill>
                  <a:schemeClr val="tx1"/>
                </a:solidFill>
              </a:rPr>
              <a:t>Provider integration, adverse media, ongoing re-screening.</a:t>
            </a:r>
            <a:endParaRPr lang="en-US" sz="1300" dirty="0"/>
          </a:p>
        </p:txBody>
      </p:sp>
      <p:sp>
        <p:nvSpPr>
          <p:cNvPr id="23" name="gap-5"/>
          <p:cNvSpPr/>
          <p:nvPr/>
        </p:nvSpPr>
        <p:spPr>
          <a:xfrm>
            <a:off x="6126480" y="4389120"/>
            <a:ext cx="5440680" cy="1325880"/>
          </a:xfrm>
          <a:prstGeom prst="roundRect">
            <a:avLst>
              <a:gd name="adj" fmla="val 5517"/>
            </a:avLst>
          </a:prstGeom>
          <a:solidFill>
            <a:schemeClr val="bg2"/>
          </a:solidFill>
          <a:ln w="9525">
            <a:solidFill>
              <a:schemeClr val="bg2"/>
            </a:solidFill>
            <a:prstDash val="solid"/>
          </a:ln>
        </p:spPr>
      </p:sp>
      <p:sp>
        <p:nvSpPr>
          <p:cNvPr id="24" name="gdot-5"/>
          <p:cNvSpPr/>
          <p:nvPr/>
        </p:nvSpPr>
        <p:spPr>
          <a:xfrm>
            <a:off x="6355080" y="4663440"/>
            <a:ext cx="292608" cy="292608"/>
          </a:xfrm>
          <a:prstGeom prst="ellipse">
            <a:avLst/>
          </a:prstGeom>
          <a:solidFill>
            <a:schemeClr val="accent5"/>
          </a:solidFill>
          <a:ln w="12700">
            <a:solidFill>
              <a:schemeClr val="accent5"/>
            </a:solidFill>
            <a:prstDash val="solid"/>
          </a:ln>
        </p:spPr>
      </p:sp>
      <p:sp>
        <p:nvSpPr>
          <p:cNvPr id="25" name="Text 23"/>
          <p:cNvSpPr txBox="1"/>
          <p:nvPr/>
        </p:nvSpPr>
        <p:spPr>
          <a:xfrm>
            <a:off x="6766560" y="4553712"/>
            <a:ext cx="4663440" cy="457200"/>
          </a:xfrm>
          <a:prstGeom prst="rect">
            <a:avLst/>
          </a:prstGeom>
          <a:noFill/>
          <a:ln/>
        </p:spPr>
        <p:txBody>
          <a:bodyPr wrap="square" lIns="1016" tIns="1016" rIns="1016" bIns="1016" rtlCol="0" anchor="t"/>
          <a:lstStyle/>
          <a:p>
            <a:pPr algn="l" indent="0" marL="0">
              <a:buNone/>
            </a:pPr>
            <a:r>
              <a:rPr lang="en-US" sz="1700" b="1" dirty="0">
                <a:solidFill>
                  <a:schemeClr val="tx1"/>
                </a:solidFill>
              </a:rPr>
              <a:t>Production antivirus</a:t>
            </a:r>
            <a:endParaRPr lang="en-US" sz="1700" dirty="0"/>
          </a:p>
        </p:txBody>
      </p:sp>
      <p:sp>
        <p:nvSpPr>
          <p:cNvPr id="26" name="Text 24"/>
          <p:cNvSpPr txBox="1"/>
          <p:nvPr/>
        </p:nvSpPr>
        <p:spPr>
          <a:xfrm>
            <a:off x="6766560" y="5029200"/>
            <a:ext cx="4663440" cy="640080"/>
          </a:xfrm>
          <a:prstGeom prst="rect">
            <a:avLst/>
          </a:prstGeom>
          <a:noFill/>
          <a:ln/>
        </p:spPr>
        <p:txBody>
          <a:bodyPr wrap="square" lIns="1016" tIns="1016" rIns="1016" bIns="1016" rtlCol="0" anchor="t"/>
          <a:lstStyle/>
          <a:p>
            <a:pPr algn="l" indent="0" marL="0">
              <a:buNone/>
            </a:pPr>
            <a:r>
              <a:rPr lang="en-US" sz="1300" dirty="0">
                <a:solidFill>
                  <a:schemeClr val="tx1"/>
                </a:solidFill>
              </a:rPr>
              <a:t>Scanning of every merchant upload, mandatory before go-live.</a:t>
            </a:r>
            <a:endParaRPr lang="en-US" sz="1300" dirty="0"/>
          </a:p>
        </p:txBody>
      </p:sp>
      <p:sp>
        <p:nvSpPr>
          <p:cNvPr id="27" name="Text 25"/>
          <p:cNvSpPr txBox="1"/>
          <p:nvPr/>
        </p:nvSpPr>
        <p:spPr>
          <a:xfrm>
            <a:off x="457200" y="5943600"/>
            <a:ext cx="11247120" cy="365760"/>
          </a:xfrm>
          <a:prstGeom prst="rect">
            <a:avLst/>
          </a:prstGeom>
          <a:noFill/>
          <a:ln/>
        </p:spPr>
        <p:txBody>
          <a:bodyPr wrap="square" lIns="0" tIns="0" rIns="0" bIns="0" rtlCol="0" anchor="t"/>
          <a:lstStyle/>
          <a:p>
            <a:pPr algn="l" indent="0" marL="0">
              <a:buNone/>
            </a:pPr>
            <a:r>
              <a:rPr lang="en-US" sz="1300" i="1" dirty="0">
                <a:solidFill>
                  <a:schemeClr val="tx2"/>
                </a:solidFill>
              </a:rPr>
              <a:t>These items are specified or identified, not built. No timeline is committed in this draft.</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Merchant Platform">
  <a:themeElements>
    <a:clrScheme name="Merchant Platform">
      <a:dk1>
        <a:srgbClr val="12233A"/>
      </a:dk1>
      <a:lt1>
        <a:srgbClr val="FFFFFF"/>
      </a:lt1>
      <a:dk2>
        <a:srgbClr val="5A6B80"/>
      </a:dk2>
      <a:lt2>
        <a:srgbClr val="F1F4F7"/>
      </a:lt2>
      <a:accent1>
        <a:srgbClr val="0F7C8C"/>
      </a:accent1>
      <a:accent2>
        <a:srgbClr val="2F5FA7"/>
      </a:accent2>
      <a:accent3>
        <a:srgbClr val="9A5B13"/>
      </a:accent3>
      <a:accent4>
        <a:srgbClr val="1D7A46"/>
      </a:accent4>
      <a:accent5>
        <a:srgbClr val="B07D00"/>
      </a:accent5>
      <a:accent6>
        <a:srgbClr val="B3261E"/>
      </a:accent6>
      <a:hlink>
        <a:srgbClr val="0F7C8C"/>
      </a:hlink>
      <a:folHlink>
        <a:srgbClr val="5A6B80"/>
      </a:folHlink>
    </a:clrScheme>
    <a:fontScheme name="Merchant Platform">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Merchant platform — development prototype</dc:title>
  <dc:subject>PptxGenJS Presentation</dc:subject>
  <dc:creator>MIPS</dc:creator>
  <cp:lastModifiedBy>MIPS</cp:lastModifiedBy>
  <cp:revision>1</cp:revision>
  <dcterms:created xsi:type="dcterms:W3CDTF">2026-10-30T14:32:38Z</dcterms:created>
  <dcterms:modified xsi:type="dcterms:W3CDTF">2026-10-30T14:32:38Z</dcterms:modified>
</cp:coreProperties>
</file>