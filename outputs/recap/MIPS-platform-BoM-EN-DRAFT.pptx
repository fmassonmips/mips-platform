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ed75ec3a-d44b-1c88-d2b2-f114100526bf}">
          <p14:sldIdLst>
            <p14:sldId id="256"/>
            <p14:sldId id="257"/>
          </p14:sldIdLst>
        </p14:section>
        <p14:section name="Platform" id="{6ab2b659-8630-46c6-a0b5-0cc4dfe556c3}">
          <p14:sldIdLst>
            <p14:sldId id="258"/>
            <p14:sldId id="259"/>
            <p14:sldId id="260"/>
            <p14:sldId id="261"/>
          </p14:sldIdLst>
        </p14:section>
        <p14:section name="Funds and evidence" id="{4c672e53-bb45-4d42-2654-898f8b7a2628}">
          <p14:sldIdLst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Internal draft. Before submission: confirm the entity names (SPIN DIGITAL / MIPS / MIPS INTERNATIONAL) against B01 and G01, and settle the fund-flow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screenshot carries a red DEMONSTRATION ENVIRONMENT banner with the build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Approval requires: every required document accepted, at least one director and one beneficial owner, shareholders above the threshold recorded as beneficial owners, every person screened clear, a risk rating (high if a PEP is involved), legal name and BRN. Thresholds are default values pending compliance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INTERNAL — do not present as is. Model A matches current evidence (no intermediate account, fees invoiced, per-merchant acquirer agreements) but must be confirmed by Finance. Model B is not built. Keep one model on this slide, and check it against the safeguarding requirements of the Bank of Mauritius before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Commit to dates only once the fund-flow model and the resources are decided.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375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Development prototype · demonstration data only · DRAFT for internal review before submission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Merchant onboarding and back-office platform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375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Development prototype — supporting material for the SPIN DIGITAL application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DRAFT for internal review · October 2026 · not deployed · demonstration data only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this material shows, and what it does not</a:t>
            </a:r>
            <a:endParaRPr lang="en-US" sz="3000" dirty="0"/>
          </a:p>
        </p:txBody>
      </p:sp>
      <p:sp>
        <p:nvSpPr>
          <p:cNvPr id="3" name="stat-0"/>
          <p:cNvSpPr/>
          <p:nvPr/>
        </p:nvSpPr>
        <p:spPr>
          <a:xfrm>
            <a:off x="457200" y="1325880"/>
            <a:ext cx="35661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32004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32004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functional modules built</a:t>
            </a:r>
            <a:endParaRPr lang="en-US" sz="1400" dirty="0"/>
          </a:p>
        </p:txBody>
      </p:sp>
      <p:sp>
        <p:nvSpPr>
          <p:cNvPr id="6" name="stat-1"/>
          <p:cNvSpPr/>
          <p:nvPr/>
        </p:nvSpPr>
        <p:spPr>
          <a:xfrm>
            <a:off x="4251960" y="1325880"/>
            <a:ext cx="35661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34840" y="1371600"/>
            <a:ext cx="32004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500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2194560"/>
            <a:ext cx="32004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screens captured</a:t>
            </a:r>
            <a:endParaRPr lang="en-US" sz="1400" dirty="0"/>
          </a:p>
        </p:txBody>
      </p:sp>
      <p:sp>
        <p:nvSpPr>
          <p:cNvPr id="9" name="stat-2"/>
          <p:cNvSpPr/>
          <p:nvPr/>
        </p:nvSpPr>
        <p:spPr>
          <a:xfrm>
            <a:off x="8046720" y="1325880"/>
            <a:ext cx="35661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0" y="1371600"/>
            <a:ext cx="32004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194560"/>
            <a:ext cx="32004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user populations kept apart: staff and merchants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108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shows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611880"/>
            <a:ext cx="548640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How merchants are onboarded and verified (KYC/KYB)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internal controls built into each step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How transaction data is reported, billed and reconciled with the acquirer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Which requested views are covered, and which are not yet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3108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does not show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611880"/>
            <a:ext cx="548640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system in production or an operational, authorised service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Real merchants, people, transactions or bank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Safeguarding (trust) reconciliation, transaction monitoring, disputes or complaints handling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Final legal texts: the terms of use shown are a placeholder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Nine modules between data sources and outputs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SOURCES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971800" y="11887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MODULES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9264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OUTPUTS</a:t>
            </a:r>
            <a:endParaRPr lang="en-US" sz="1100" dirty="0"/>
          </a:p>
        </p:txBody>
      </p:sp>
      <p:sp>
        <p:nvSpPr>
          <p:cNvPr id="6" name="src-0"/>
          <p:cNvSpPr/>
          <p:nvPr/>
        </p:nvSpPr>
        <p:spPr>
          <a:xfrm>
            <a:off x="457200" y="1554480"/>
            <a:ext cx="20116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554480"/>
            <a:ext cx="192024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Monthly transaction export</a:t>
            </a:r>
            <a:endParaRPr lang="en-US" sz="1400" dirty="0"/>
          </a:p>
        </p:txBody>
      </p:sp>
      <p:sp>
        <p:nvSpPr>
          <p:cNvPr id="8" name="src-1"/>
          <p:cNvSpPr/>
          <p:nvPr/>
        </p:nvSpPr>
        <p:spPr>
          <a:xfrm>
            <a:off x="457200" y="2651760"/>
            <a:ext cx="20116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651760"/>
            <a:ext cx="192024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 warehouse (BigQuery)</a:t>
            </a:r>
            <a:endParaRPr lang="en-US" sz="1400" dirty="0"/>
          </a:p>
        </p:txBody>
      </p:sp>
      <p:sp>
        <p:nvSpPr>
          <p:cNvPr id="10" name="src-2"/>
          <p:cNvSpPr/>
          <p:nvPr/>
        </p:nvSpPr>
        <p:spPr>
          <a:xfrm>
            <a:off x="457200" y="3749040"/>
            <a:ext cx="20116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3749040"/>
            <a:ext cx="192024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Acquirer file (MCB)</a:t>
            </a:r>
            <a:endParaRPr lang="en-US" sz="1400" dirty="0"/>
          </a:p>
        </p:txBody>
      </p:sp>
      <p:sp>
        <p:nvSpPr>
          <p:cNvPr id="12" name="src-3"/>
          <p:cNvSpPr/>
          <p:nvPr/>
        </p:nvSpPr>
        <p:spPr>
          <a:xfrm>
            <a:off x="457200" y="4846320"/>
            <a:ext cx="20116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4846320"/>
            <a:ext cx="192024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Applicants (portal)</a:t>
            </a:r>
            <a:endParaRPr lang="en-US" sz="1400" dirty="0"/>
          </a:p>
        </p:txBody>
      </p:sp>
      <p:sp>
        <p:nvSpPr>
          <p:cNvPr id="14" name="mod-0"/>
          <p:cNvSpPr/>
          <p:nvPr/>
        </p:nvSpPr>
        <p:spPr>
          <a:xfrm>
            <a:off x="2971800" y="1554480"/>
            <a:ext cx="1965960" cy="1280160"/>
          </a:xfrm>
          <a:prstGeom prst="roundRect">
            <a:avLst>
              <a:gd name="adj" fmla="val 5714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44952" y="1645920"/>
            <a:ext cx="18288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Monthly reporting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044952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Fixed data rules, trends</a:t>
            </a:r>
            <a:endParaRPr lang="en-US" sz="1200" dirty="0"/>
          </a:p>
        </p:txBody>
      </p:sp>
      <p:sp>
        <p:nvSpPr>
          <p:cNvPr id="17" name="mod-1"/>
          <p:cNvSpPr/>
          <p:nvPr/>
        </p:nvSpPr>
        <p:spPr>
          <a:xfrm>
            <a:off x="5074920" y="1554480"/>
            <a:ext cx="1965960" cy="1280160"/>
          </a:xfrm>
          <a:prstGeom prst="roundRect">
            <a:avLst>
              <a:gd name="adj" fmla="val 5714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48072" y="1645920"/>
            <a:ext cx="18288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Billing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148072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Fee rules, invoices</a:t>
            </a:r>
            <a:endParaRPr lang="en-US" sz="1200" dirty="0"/>
          </a:p>
        </p:txBody>
      </p:sp>
      <p:sp>
        <p:nvSpPr>
          <p:cNvPr id="20" name="mod-2"/>
          <p:cNvSpPr/>
          <p:nvPr/>
        </p:nvSpPr>
        <p:spPr>
          <a:xfrm>
            <a:off x="7178040" y="1554480"/>
            <a:ext cx="1965960" cy="1280160"/>
          </a:xfrm>
          <a:prstGeom prst="roundRect">
            <a:avLst>
              <a:gd name="adj" fmla="val 5714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51192" y="1645920"/>
            <a:ext cx="18288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Acquirer reconciliation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251192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Gaps explained to zero</a:t>
            </a:r>
            <a:endParaRPr lang="en-US" sz="1200" dirty="0"/>
          </a:p>
        </p:txBody>
      </p:sp>
      <p:sp>
        <p:nvSpPr>
          <p:cNvPr id="23" name="mod-3"/>
          <p:cNvSpPr/>
          <p:nvPr/>
        </p:nvSpPr>
        <p:spPr>
          <a:xfrm>
            <a:off x="2971800" y="3017520"/>
            <a:ext cx="1965960" cy="1280160"/>
          </a:xfrm>
          <a:prstGeom prst="roundRect">
            <a:avLst>
              <a:gd name="adj" fmla="val 5714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044952" y="3108960"/>
            <a:ext cx="18288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Merchant records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044952" y="365760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Identity, MIDs, contracts</a:t>
            </a:r>
            <a:endParaRPr lang="en-US" sz="1200" dirty="0"/>
          </a:p>
        </p:txBody>
      </p:sp>
      <p:sp>
        <p:nvSpPr>
          <p:cNvPr id="26" name="mod-4"/>
          <p:cNvSpPr/>
          <p:nvPr/>
        </p:nvSpPr>
        <p:spPr>
          <a:xfrm>
            <a:off x="5074920" y="3017520"/>
            <a:ext cx="1965960" cy="1280160"/>
          </a:xfrm>
          <a:prstGeom prst="roundRect">
            <a:avLst>
              <a:gd name="adj" fmla="val 5714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48072" y="3108960"/>
            <a:ext cx="18288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Onboarding &amp; KYC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148072" y="365760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Documents, four-eyes</a:t>
            </a:r>
            <a:endParaRPr lang="en-US" sz="1200" dirty="0"/>
          </a:p>
        </p:txBody>
      </p:sp>
      <p:sp>
        <p:nvSpPr>
          <p:cNvPr id="29" name="mod-5"/>
          <p:cNvSpPr/>
          <p:nvPr/>
        </p:nvSpPr>
        <p:spPr>
          <a:xfrm>
            <a:off x="7178040" y="3017520"/>
            <a:ext cx="1965960" cy="1280160"/>
          </a:xfrm>
          <a:prstGeom prst="roundRect">
            <a:avLst>
              <a:gd name="adj" fmla="val 5714"/>
            </a:avLst>
          </a:prstGeom>
          <a:solidFill>
            <a:schemeClr val="accent3">
              <a:alpha val="12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251192" y="3108960"/>
            <a:ext cx="18288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Merchant portal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251192" y="365760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Account, terms, documents</a:t>
            </a:r>
            <a:endParaRPr lang="en-US" sz="1200" dirty="0"/>
          </a:p>
        </p:txBody>
      </p:sp>
      <p:sp>
        <p:nvSpPr>
          <p:cNvPr id="32" name="mod-6"/>
          <p:cNvSpPr/>
          <p:nvPr/>
        </p:nvSpPr>
        <p:spPr>
          <a:xfrm>
            <a:off x="2971800" y="4480560"/>
            <a:ext cx="1965960" cy="1280160"/>
          </a:xfrm>
          <a:prstGeom prst="roundRect">
            <a:avLst>
              <a:gd name="adj" fmla="val 5714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044952" y="4572000"/>
            <a:ext cx="18288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User administration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044952" y="512064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Roles, two-factor</a:t>
            </a:r>
            <a:endParaRPr lang="en-US" sz="1200" dirty="0"/>
          </a:p>
        </p:txBody>
      </p:sp>
      <p:sp>
        <p:nvSpPr>
          <p:cNvPr id="35" name="mod-7"/>
          <p:cNvSpPr/>
          <p:nvPr/>
        </p:nvSpPr>
        <p:spPr>
          <a:xfrm>
            <a:off x="5074920" y="4480560"/>
            <a:ext cx="1965960" cy="1280160"/>
          </a:xfrm>
          <a:prstGeom prst="roundRect">
            <a:avLst>
              <a:gd name="adj" fmla="val 5714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148072" y="4572000"/>
            <a:ext cx="18288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Audit trail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148072" y="512064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Append-only</a:t>
            </a:r>
            <a:endParaRPr lang="en-US" sz="1200" dirty="0"/>
          </a:p>
        </p:txBody>
      </p:sp>
      <p:sp>
        <p:nvSpPr>
          <p:cNvPr id="38" name="mod-8"/>
          <p:cNvSpPr/>
          <p:nvPr/>
        </p:nvSpPr>
        <p:spPr>
          <a:xfrm>
            <a:off x="7178040" y="4480560"/>
            <a:ext cx="1965960" cy="1280160"/>
          </a:xfrm>
          <a:prstGeom prst="roundRect">
            <a:avLst>
              <a:gd name="adj" fmla="val 5714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251192" y="4572000"/>
            <a:ext cx="18288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Portal terms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7251192" y="512064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Versions, acceptances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2971800" y="58978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Blue: MIPS staff (admin, finance) · ochre: merchants and applicants</a:t>
            </a:r>
            <a:endParaRPr lang="en-US" sz="1200" dirty="0"/>
          </a:p>
        </p:txBody>
      </p:sp>
      <p:sp>
        <p:nvSpPr>
          <p:cNvPr id="42" name="out-0"/>
          <p:cNvSpPr/>
          <p:nvPr/>
        </p:nvSpPr>
        <p:spPr>
          <a:xfrm>
            <a:off x="9692640" y="1554480"/>
            <a:ext cx="20116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738360" y="1554480"/>
            <a:ext cx="192024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Monthly report, Excel</a:t>
            </a:r>
            <a:endParaRPr lang="en-US" sz="1300" dirty="0"/>
          </a:p>
        </p:txBody>
      </p:sp>
      <p:sp>
        <p:nvSpPr>
          <p:cNvPr id="44" name="out-1"/>
          <p:cNvSpPr/>
          <p:nvPr/>
        </p:nvSpPr>
        <p:spPr>
          <a:xfrm>
            <a:off x="9692640" y="2432304"/>
            <a:ext cx="20116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738360" y="2432304"/>
            <a:ext cx="192024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Invoices (VAT 15%)</a:t>
            </a:r>
            <a:endParaRPr lang="en-US" sz="1300" dirty="0"/>
          </a:p>
        </p:txBody>
      </p:sp>
      <p:sp>
        <p:nvSpPr>
          <p:cNvPr id="46" name="out-2"/>
          <p:cNvSpPr/>
          <p:nvPr/>
        </p:nvSpPr>
        <p:spPr>
          <a:xfrm>
            <a:off x="9692640" y="3310128"/>
            <a:ext cx="20116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738360" y="3310128"/>
            <a:ext cx="192024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Acquirer claims</a:t>
            </a:r>
            <a:endParaRPr lang="en-US" sz="1300" dirty="0"/>
          </a:p>
        </p:txBody>
      </p:sp>
      <p:sp>
        <p:nvSpPr>
          <p:cNvPr id="48" name="out-3"/>
          <p:cNvSpPr/>
          <p:nvPr/>
        </p:nvSpPr>
        <p:spPr>
          <a:xfrm>
            <a:off x="9692640" y="4187952"/>
            <a:ext cx="20116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738360" y="4187952"/>
            <a:ext cx="192024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Approved merchant</a:t>
            </a:r>
            <a:endParaRPr lang="en-US" sz="1300" dirty="0"/>
          </a:p>
        </p:txBody>
      </p:sp>
      <p:sp>
        <p:nvSpPr>
          <p:cNvPr id="50" name="out-4"/>
          <p:cNvSpPr/>
          <p:nvPr/>
        </p:nvSpPr>
        <p:spPr>
          <a:xfrm>
            <a:off x="9692640" y="5065776"/>
            <a:ext cx="20116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738360" y="5065776"/>
            <a:ext cx="192024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Audit evidence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2560320" y="3566160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9281160" y="3566160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Merchant onboarding: nine steps, three hard gates</a:t>
            </a:r>
            <a:endParaRPr lang="en-US" sz="3000" dirty="0"/>
          </a:p>
        </p:txBody>
      </p:sp>
      <p:sp>
        <p:nvSpPr>
          <p:cNvPr id="3" name="step-0"/>
          <p:cNvSpPr/>
          <p:nvPr/>
        </p:nvSpPr>
        <p:spPr>
          <a:xfrm>
            <a:off x="457200" y="1463040"/>
            <a:ext cx="2011680" cy="1554480"/>
          </a:xfrm>
          <a:prstGeom prst="roundRect">
            <a:avLst>
              <a:gd name="adj" fmla="val 4706"/>
            </a:avLst>
          </a:prstGeom>
          <a:solidFill>
            <a:schemeClr val="accent3">
              <a:alpha val="10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36192"/>
            <a:ext cx="548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Account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email verified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87168" y="2240280"/>
            <a:ext cx="23774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step-1"/>
          <p:cNvSpPr/>
          <p:nvPr/>
        </p:nvSpPr>
        <p:spPr>
          <a:xfrm>
            <a:off x="2743200" y="1463040"/>
            <a:ext cx="2011680" cy="1554480"/>
          </a:xfrm>
          <a:prstGeom prst="roundRect">
            <a:avLst>
              <a:gd name="adj" fmla="val 4706"/>
            </a:avLst>
          </a:prstGeom>
          <a:solidFill>
            <a:schemeClr val="accent1">
              <a:alpha val="1800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34640" y="1536192"/>
            <a:ext cx="548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Two-factor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mandatory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73168" y="2240280"/>
            <a:ext cx="23774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step-2"/>
          <p:cNvSpPr/>
          <p:nvPr/>
        </p:nvSpPr>
        <p:spPr>
          <a:xfrm>
            <a:off x="5029200" y="1463040"/>
            <a:ext cx="2011680" cy="1554480"/>
          </a:xfrm>
          <a:prstGeom prst="roundRect">
            <a:avLst>
              <a:gd name="adj" fmla="val 4706"/>
            </a:avLst>
          </a:prstGeom>
          <a:solidFill>
            <a:schemeClr val="accent1">
              <a:alpha val="1800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0" y="1536192"/>
            <a:ext cx="548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Terms of use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current version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59168" y="2240280"/>
            <a:ext cx="23774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step-3"/>
          <p:cNvSpPr/>
          <p:nvPr/>
        </p:nvSpPr>
        <p:spPr>
          <a:xfrm>
            <a:off x="7315200" y="1463040"/>
            <a:ext cx="2011680" cy="1554480"/>
          </a:xfrm>
          <a:prstGeom prst="roundRect">
            <a:avLst>
              <a:gd name="adj" fmla="val 4706"/>
            </a:avLst>
          </a:prstGeom>
          <a:solidFill>
            <a:schemeClr val="accent3">
              <a:alpha val="10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06640" y="1536192"/>
            <a:ext cx="548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Pre-qualification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company, volumes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45168" y="2240280"/>
            <a:ext cx="23774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step-4"/>
          <p:cNvSpPr/>
          <p:nvPr/>
        </p:nvSpPr>
        <p:spPr>
          <a:xfrm>
            <a:off x="9601200" y="1463040"/>
            <a:ext cx="2011680" cy="1554480"/>
          </a:xfrm>
          <a:prstGeom prst="roundRect">
            <a:avLst>
              <a:gd name="adj" fmla="val 4706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92640" y="1536192"/>
            <a:ext cx="548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69264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Acceptance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692640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opens the KYC case</a:t>
            </a:r>
            <a:endParaRPr lang="en-US" sz="1200" dirty="0"/>
          </a:p>
        </p:txBody>
      </p:sp>
      <p:sp>
        <p:nvSpPr>
          <p:cNvPr id="27" name="step-5"/>
          <p:cNvSpPr/>
          <p:nvPr/>
        </p:nvSpPr>
        <p:spPr>
          <a:xfrm>
            <a:off x="457200" y="3566160"/>
            <a:ext cx="2011680" cy="1554480"/>
          </a:xfrm>
          <a:prstGeom prst="roundRect">
            <a:avLst>
              <a:gd name="adj" fmla="val 4706"/>
            </a:avLst>
          </a:prstGeom>
          <a:solidFill>
            <a:schemeClr val="accent3">
              <a:alpha val="10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3639312"/>
            <a:ext cx="548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06908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People &amp; documents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57200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directors, UBOs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487168" y="4343400"/>
            <a:ext cx="23774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2" name="step-6"/>
          <p:cNvSpPr/>
          <p:nvPr/>
        </p:nvSpPr>
        <p:spPr>
          <a:xfrm>
            <a:off x="2743200" y="3566160"/>
            <a:ext cx="2011680" cy="1554480"/>
          </a:xfrm>
          <a:prstGeom prst="roundRect">
            <a:avLst>
              <a:gd name="adj" fmla="val 4706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834640" y="3639312"/>
            <a:ext cx="548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2834640" y="406908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Document review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2834640" y="457200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not the uploader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73168" y="4343400"/>
            <a:ext cx="23774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7" name="step-7"/>
          <p:cNvSpPr/>
          <p:nvPr/>
        </p:nvSpPr>
        <p:spPr>
          <a:xfrm>
            <a:off x="5029200" y="3566160"/>
            <a:ext cx="2011680" cy="1554480"/>
          </a:xfrm>
          <a:prstGeom prst="roundRect">
            <a:avLst>
              <a:gd name="adj" fmla="val 4706"/>
            </a:avLst>
          </a:prstGeom>
          <a:solidFill>
            <a:schemeClr val="accent3">
              <a:alpha val="10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120640" y="3639312"/>
            <a:ext cx="548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5120640" y="406908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File submitted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5120640" y="457200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nothing missing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059168" y="4343400"/>
            <a:ext cx="23774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2" name="step-8"/>
          <p:cNvSpPr/>
          <p:nvPr/>
        </p:nvSpPr>
        <p:spPr>
          <a:xfrm>
            <a:off x="7315200" y="3566160"/>
            <a:ext cx="2011680" cy="1554480"/>
          </a:xfrm>
          <a:prstGeom prst="roundRect">
            <a:avLst>
              <a:gd name="adj" fmla="val 4706"/>
            </a:avLst>
          </a:prstGeom>
          <a:solidFill>
            <a:schemeClr val="accent1">
              <a:alpha val="1800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406640" y="3639312"/>
            <a:ext cx="548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7406640" y="406908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Approval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7406640" y="457200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approver ≠ analyst</a:t>
            </a:r>
            <a:endParaRPr lang="en-US" sz="1200" dirty="0"/>
          </a:p>
        </p:txBody>
      </p:sp>
      <p:sp>
        <p:nvSpPr>
          <p:cNvPr id="46" name="leg-0"/>
          <p:cNvSpPr/>
          <p:nvPr/>
        </p:nvSpPr>
        <p:spPr>
          <a:xfrm>
            <a:off x="6949440" y="5669280"/>
            <a:ext cx="274320" cy="274320"/>
          </a:xfrm>
          <a:prstGeom prst="roundRect">
            <a:avLst>
              <a:gd name="adj" fmla="val 26667"/>
            </a:avLst>
          </a:prstGeom>
          <a:solidFill>
            <a:schemeClr val="accent3">
              <a:alpha val="10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315200" y="55961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Merchant</a:t>
            </a:r>
            <a:endParaRPr lang="en-US" sz="1100" dirty="0"/>
          </a:p>
        </p:txBody>
      </p:sp>
      <p:sp>
        <p:nvSpPr>
          <p:cNvPr id="48" name="leg-1"/>
          <p:cNvSpPr/>
          <p:nvPr/>
        </p:nvSpPr>
        <p:spPr>
          <a:xfrm>
            <a:off x="8686800" y="5669280"/>
            <a:ext cx="274320" cy="274320"/>
          </a:xfrm>
          <a:prstGeom prst="roundRect">
            <a:avLst>
              <a:gd name="adj" fmla="val 26667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052560" y="55961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MIPS staff</a:t>
            </a:r>
            <a:endParaRPr lang="en-US" sz="1100" dirty="0"/>
          </a:p>
        </p:txBody>
      </p:sp>
      <p:sp>
        <p:nvSpPr>
          <p:cNvPr id="50" name="leg-2"/>
          <p:cNvSpPr/>
          <p:nvPr/>
        </p:nvSpPr>
        <p:spPr>
          <a:xfrm>
            <a:off x="10424160" y="5669280"/>
            <a:ext cx="274320" cy="274320"/>
          </a:xfrm>
          <a:prstGeom prst="roundRect">
            <a:avLst>
              <a:gd name="adj" fmla="val 26667"/>
            </a:avLst>
          </a:prstGeom>
          <a:solidFill>
            <a:schemeClr val="accent1">
              <a:alpha val="1800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789920" y="55961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Gate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562356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A submitted file is never shown to the merchant as approved.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Controls built into the platform</a:t>
            </a:r>
            <a:endParaRPr lang="en-US" sz="3000" dirty="0"/>
          </a:p>
        </p:txBody>
      </p:sp>
      <p:sp>
        <p:nvSpPr>
          <p:cNvPr id="3" name="ctrl-0"/>
          <p:cNvSpPr/>
          <p:nvPr/>
        </p:nvSpPr>
        <p:spPr>
          <a:xfrm>
            <a:off x="457200" y="1325880"/>
            <a:ext cx="35661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cdot-0"/>
          <p:cNvSpPr/>
          <p:nvPr/>
        </p:nvSpPr>
        <p:spPr>
          <a:xfrm>
            <a:off x="685800" y="160020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508760"/>
            <a:ext cx="27889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Four-eyes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320040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document is accepted by someone other than its uploader. A case is approved by an approver other than the analyst.</a:t>
            </a:r>
            <a:endParaRPr lang="en-US" sz="1300" dirty="0"/>
          </a:p>
        </p:txBody>
      </p:sp>
      <p:sp>
        <p:nvSpPr>
          <p:cNvPr id="7" name="ctrl-1"/>
          <p:cNvSpPr/>
          <p:nvPr/>
        </p:nvSpPr>
        <p:spPr>
          <a:xfrm>
            <a:off x="4251960" y="1325880"/>
            <a:ext cx="35661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cdot-1"/>
          <p:cNvSpPr/>
          <p:nvPr/>
        </p:nvSpPr>
        <p:spPr>
          <a:xfrm>
            <a:off x="4480560" y="160020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508760"/>
            <a:ext cx="27889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Approval blockers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103120"/>
            <a:ext cx="320040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Approval is refused by the server while documents, owners, screening or risk rating are missing.</a:t>
            </a:r>
            <a:endParaRPr lang="en-US" sz="1300" dirty="0"/>
          </a:p>
        </p:txBody>
      </p:sp>
      <p:sp>
        <p:nvSpPr>
          <p:cNvPr id="11" name="ctrl-2"/>
          <p:cNvSpPr/>
          <p:nvPr/>
        </p:nvSpPr>
        <p:spPr>
          <a:xfrm>
            <a:off x="8046720" y="1325880"/>
            <a:ext cx="35661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cdot-2"/>
          <p:cNvSpPr/>
          <p:nvPr/>
        </p:nvSpPr>
        <p:spPr>
          <a:xfrm>
            <a:off x="8275320" y="160020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0" y="1508760"/>
            <a:ext cx="27889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Strong authentication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103120"/>
            <a:ext cx="320040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Two-factor authentication mandatory for finance, admin and every merchant account.</a:t>
            </a:r>
            <a:endParaRPr lang="en-US" sz="1300" dirty="0"/>
          </a:p>
        </p:txBody>
      </p:sp>
      <p:sp>
        <p:nvSpPr>
          <p:cNvPr id="15" name="ctrl-3"/>
          <p:cNvSpPr/>
          <p:nvPr/>
        </p:nvSpPr>
        <p:spPr>
          <a:xfrm>
            <a:off x="457200" y="3566160"/>
            <a:ext cx="35661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cdot-3"/>
          <p:cNvSpPr/>
          <p:nvPr/>
        </p:nvSpPr>
        <p:spPr>
          <a:xfrm>
            <a:off x="685800" y="384048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3749040"/>
            <a:ext cx="27889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Segregated access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343400"/>
            <a:ext cx="320040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Staff and merchants use separate accounts and sessions; a merchant only reaches its own case.</a:t>
            </a:r>
            <a:endParaRPr lang="en-US" sz="1300" dirty="0"/>
          </a:p>
        </p:txBody>
      </p:sp>
      <p:sp>
        <p:nvSpPr>
          <p:cNvPr id="19" name="ctrl-4"/>
          <p:cNvSpPr/>
          <p:nvPr/>
        </p:nvSpPr>
        <p:spPr>
          <a:xfrm>
            <a:off x="4251960" y="3566160"/>
            <a:ext cx="35661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0" name="cdot-4"/>
          <p:cNvSpPr/>
          <p:nvPr/>
        </p:nvSpPr>
        <p:spPr>
          <a:xfrm>
            <a:off x="4480560" y="384048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3749040"/>
            <a:ext cx="27889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Consent record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4343400"/>
            <a:ext cx="320040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Each acceptance of the terms stores the version, date, IP address and a fingerprint of the exact text.</a:t>
            </a:r>
            <a:endParaRPr lang="en-US" sz="1300" dirty="0"/>
          </a:p>
        </p:txBody>
      </p:sp>
      <p:sp>
        <p:nvSpPr>
          <p:cNvPr id="23" name="ctrl-5"/>
          <p:cNvSpPr/>
          <p:nvPr/>
        </p:nvSpPr>
        <p:spPr>
          <a:xfrm>
            <a:off x="8046720" y="3566160"/>
            <a:ext cx="35661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4" name="cdot-5"/>
          <p:cNvSpPr/>
          <p:nvPr/>
        </p:nvSpPr>
        <p:spPr>
          <a:xfrm>
            <a:off x="8275320" y="384048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0" y="3749040"/>
            <a:ext cx="27889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Audit trail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4343400"/>
            <a:ext cx="320040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Append-only log of every action, including document fingerprints and decisions with their notes.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Sanctions and PEP screening is recorded manually per person; no screening provider is connected yet.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Transaction data: reporting, billing, acquirer reconciliation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and billing</a:t>
            </a:r>
            <a:endParaRPr lang="en-US" sz="2000" dirty="0"/>
          </a:p>
        </p:txBody>
      </p:sp>
      <p:sp>
        <p:nvSpPr>
          <p:cNvPr id="4" name="Reporting and billing0"/>
          <p:cNvSpPr/>
          <p:nvPr/>
        </p:nvSpPr>
        <p:spPr>
          <a:xfrm>
            <a:off x="457200" y="1737360"/>
            <a:ext cx="2514600" cy="1097280"/>
          </a:xfrm>
          <a:prstGeom prst="roundRect">
            <a:avLst>
              <a:gd name="adj" fmla="val 6667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1737360"/>
            <a:ext cx="2368296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Transaction export or data warehouse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99232" y="2286000"/>
            <a:ext cx="31089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7" name="Reporting and billing1"/>
          <p:cNvSpPr/>
          <p:nvPr/>
        </p:nvSpPr>
        <p:spPr>
          <a:xfrm>
            <a:off x="3337560" y="1737360"/>
            <a:ext cx="2514600" cy="1097280"/>
          </a:xfrm>
          <a:prstGeom prst="roundRect">
            <a:avLst>
              <a:gd name="adj" fmla="val 6667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10712" y="1737360"/>
            <a:ext cx="2368296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Successful, non-test transactions only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79592" y="2286000"/>
            <a:ext cx="31089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Reporting and billing2"/>
          <p:cNvSpPr/>
          <p:nvPr/>
        </p:nvSpPr>
        <p:spPr>
          <a:xfrm>
            <a:off x="6217920" y="1737360"/>
            <a:ext cx="2514600" cy="1097280"/>
          </a:xfrm>
          <a:prstGeom prst="roundRect">
            <a:avLst>
              <a:gd name="adj" fmla="val 6667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91072" y="1737360"/>
            <a:ext cx="2368296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Monthly report and trends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59952" y="2286000"/>
            <a:ext cx="31089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Reporting and billing3"/>
          <p:cNvSpPr/>
          <p:nvPr/>
        </p:nvSpPr>
        <p:spPr>
          <a:xfrm>
            <a:off x="9098280" y="1737360"/>
            <a:ext cx="2514600" cy="1097280"/>
          </a:xfrm>
          <a:prstGeom prst="roundRect">
            <a:avLst>
              <a:gd name="adj" fmla="val 6667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71432" y="1737360"/>
            <a:ext cx="2368296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Fee invoices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926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A month that has issued invoices cannot be re-imported.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657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Acquirer reconciliation</a:t>
            </a:r>
            <a:endParaRPr lang="en-US" sz="2000" dirty="0"/>
          </a:p>
        </p:txBody>
      </p:sp>
      <p:sp>
        <p:nvSpPr>
          <p:cNvPr id="17" name="Acquirer reconciliation0"/>
          <p:cNvSpPr/>
          <p:nvPr/>
        </p:nvSpPr>
        <p:spPr>
          <a:xfrm>
            <a:off x="457200" y="4206240"/>
            <a:ext cx="2514600" cy="1097280"/>
          </a:xfrm>
          <a:prstGeom prst="roundRect">
            <a:avLst>
              <a:gd name="adj" fmla="val 6667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352" y="4206240"/>
            <a:ext cx="2368296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Acquirer file + platform extract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999232" y="4754880"/>
            <a:ext cx="31089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Acquirer reconciliation1"/>
          <p:cNvSpPr/>
          <p:nvPr/>
        </p:nvSpPr>
        <p:spPr>
          <a:xfrm>
            <a:off x="3337560" y="4206240"/>
            <a:ext cx="2514600" cy="1097280"/>
          </a:xfrm>
          <a:prstGeom prst="roundRect">
            <a:avLst>
              <a:gd name="adj" fmla="val 6667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10712" y="4206240"/>
            <a:ext cx="2368296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Scope checks, MID mapping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79592" y="4754880"/>
            <a:ext cx="31089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Acquirer reconciliation2"/>
          <p:cNvSpPr/>
          <p:nvPr/>
        </p:nvSpPr>
        <p:spPr>
          <a:xfrm>
            <a:off x="6217920" y="4206240"/>
            <a:ext cx="2514600" cy="1097280"/>
          </a:xfrm>
          <a:prstGeom prst="roundRect">
            <a:avLst>
              <a:gd name="adj" fmla="val 6667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91072" y="4206240"/>
            <a:ext cx="2368296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Gap split into 6 categories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759952" y="4754880"/>
            <a:ext cx="31089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6" name="Acquirer reconciliation3"/>
          <p:cNvSpPr/>
          <p:nvPr/>
        </p:nvSpPr>
        <p:spPr>
          <a:xfrm>
            <a:off x="9098280" y="4206240"/>
            <a:ext cx="2514600" cy="1097280"/>
          </a:xfrm>
          <a:prstGeom prst="roundRect">
            <a:avLst>
              <a:gd name="adj" fmla="val 6667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71432" y="4206240"/>
            <a:ext cx="2368296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Unexplained = 0, claims list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5394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This compares transaction volumes. It is not a reconciliation of funds or of a trust account.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Fund flow model</a:t>
            </a:r>
            <a:endParaRPr lang="en-US" sz="3000" dirty="0"/>
          </a:p>
        </p:txBody>
      </p:sp>
      <p:sp>
        <p:nvSpPr>
          <p:cNvPr id="3" name="draft-tag"/>
          <p:cNvSpPr/>
          <p:nvPr/>
        </p:nvSpPr>
        <p:spPr>
          <a:xfrm>
            <a:off x="6675120" y="411480"/>
            <a:ext cx="5029200" cy="548640"/>
          </a:xfrm>
          <a:prstGeom prst="roundRect">
            <a:avLst>
              <a:gd name="adj" fmla="val 13333"/>
            </a:avLst>
          </a:prstGeom>
          <a:solidFill>
            <a:schemeClr val="accent6">
              <a:alpha val="15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675120" y="411480"/>
            <a:ext cx="50292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DRAFT — keep only the model chosen before submission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 · Gateway: merchants are paid by the acquirer</a:t>
            </a:r>
            <a:endParaRPr lang="en-US" sz="1600" dirty="0"/>
          </a:p>
        </p:txBody>
      </p:sp>
      <p:sp>
        <p:nvSpPr>
          <p:cNvPr id="6" name="a1"/>
          <p:cNvSpPr/>
          <p:nvPr/>
        </p:nvSpPr>
        <p:spPr>
          <a:xfrm>
            <a:off x="457200" y="1783080"/>
            <a:ext cx="16459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83080"/>
            <a:ext cx="16459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Payer</a:t>
            </a:r>
            <a:endParaRPr lang="en-US" sz="1300" dirty="0"/>
          </a:p>
        </p:txBody>
      </p:sp>
      <p:sp>
        <p:nvSpPr>
          <p:cNvPr id="8" name="a2"/>
          <p:cNvSpPr/>
          <p:nvPr/>
        </p:nvSpPr>
        <p:spPr>
          <a:xfrm>
            <a:off x="2468880" y="1783080"/>
            <a:ext cx="16459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68880" y="1783080"/>
            <a:ext cx="16459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Acquirer</a:t>
            </a:r>
            <a:endParaRPr lang="en-US" sz="1300" dirty="0"/>
          </a:p>
        </p:txBody>
      </p:sp>
      <p:sp>
        <p:nvSpPr>
          <p:cNvPr id="10" name="a3"/>
          <p:cNvSpPr/>
          <p:nvPr/>
        </p:nvSpPr>
        <p:spPr>
          <a:xfrm>
            <a:off x="4480560" y="1783080"/>
            <a:ext cx="1645920" cy="685800"/>
          </a:xfrm>
          <a:prstGeom prst="roundRect">
            <a:avLst>
              <a:gd name="adj" fmla="val 10667"/>
            </a:avLst>
          </a:prstGeom>
          <a:solidFill>
            <a:schemeClr val="accent3">
              <a:alpha val="15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1783080"/>
            <a:ext cx="16459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Merchant</a:t>
            </a:r>
            <a:endParaRPr lang="en-US" sz="1300" dirty="0"/>
          </a:p>
        </p:txBody>
      </p:sp>
      <p:sp>
        <p:nvSpPr>
          <p:cNvPr id="12" name="a4"/>
          <p:cNvSpPr/>
          <p:nvPr/>
        </p:nvSpPr>
        <p:spPr>
          <a:xfrm>
            <a:off x="2468880" y="3154680"/>
            <a:ext cx="1645920" cy="685800"/>
          </a:xfrm>
          <a:prstGeom prst="roundRect">
            <a:avLst>
              <a:gd name="adj" fmla="val 10667"/>
            </a:avLst>
          </a:prstGeom>
          <a:solidFill>
            <a:schemeClr val="accent2">
              <a:alpha val="15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68880" y="3154680"/>
            <a:ext cx="16459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MIPS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gateway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121408" y="2121408"/>
            <a:ext cx="32918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133088" y="2121408"/>
            <a:ext cx="32918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291840" y="2487168"/>
            <a:ext cx="0" cy="649224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33756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technical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flipV="1">
            <a:off x="4133088" y="2487168"/>
            <a:ext cx="1170432" cy="10058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4480560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monthly invoice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069080"/>
            <a:ext cx="548640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merchant funds held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One acquirer agreement per merchant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Fees invoiced monthly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B · Collection on behalf of merchants</a:t>
            </a:r>
            <a:endParaRPr lang="en-US" sz="1600" dirty="0"/>
          </a:p>
        </p:txBody>
      </p:sp>
      <p:sp>
        <p:nvSpPr>
          <p:cNvPr id="22" name="b1"/>
          <p:cNvSpPr/>
          <p:nvPr/>
        </p:nvSpPr>
        <p:spPr>
          <a:xfrm>
            <a:off x="6309360" y="1783080"/>
            <a:ext cx="16459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09360" y="1783080"/>
            <a:ext cx="16459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Acquirer</a:t>
            </a:r>
            <a:endParaRPr lang="en-US" sz="1300" dirty="0"/>
          </a:p>
        </p:txBody>
      </p:sp>
      <p:sp>
        <p:nvSpPr>
          <p:cNvPr id="24" name="b2"/>
          <p:cNvSpPr/>
          <p:nvPr/>
        </p:nvSpPr>
        <p:spPr>
          <a:xfrm>
            <a:off x="8229600" y="1783080"/>
            <a:ext cx="1645920" cy="685800"/>
          </a:xfrm>
          <a:prstGeom prst="roundRect">
            <a:avLst>
              <a:gd name="adj" fmla="val 10667"/>
            </a:avLst>
          </a:prstGeom>
          <a:solidFill>
            <a:schemeClr val="accent5">
              <a:alpha val="2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0" y="1783080"/>
            <a:ext cx="16459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Trust account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MUR</a:t>
            </a:r>
            <a:endParaRPr lang="en-US" sz="1300" dirty="0"/>
          </a:p>
        </p:txBody>
      </p:sp>
      <p:sp>
        <p:nvSpPr>
          <p:cNvPr id="26" name="b3"/>
          <p:cNvSpPr/>
          <p:nvPr/>
        </p:nvSpPr>
        <p:spPr>
          <a:xfrm>
            <a:off x="10149840" y="1783080"/>
            <a:ext cx="1645920" cy="685800"/>
          </a:xfrm>
          <a:prstGeom prst="roundRect">
            <a:avLst>
              <a:gd name="adj" fmla="val 10667"/>
            </a:avLst>
          </a:prstGeom>
          <a:solidFill>
            <a:schemeClr val="accent3">
              <a:alpha val="15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149840" y="1783080"/>
            <a:ext cx="16459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Merchants</a:t>
            </a:r>
            <a:endParaRPr lang="en-US" sz="1300" dirty="0"/>
          </a:p>
        </p:txBody>
      </p:sp>
      <p:sp>
        <p:nvSpPr>
          <p:cNvPr id="28" name="b4"/>
          <p:cNvSpPr/>
          <p:nvPr/>
        </p:nvSpPr>
        <p:spPr>
          <a:xfrm>
            <a:off x="8229600" y="3154680"/>
            <a:ext cx="1645920" cy="685800"/>
          </a:xfrm>
          <a:prstGeom prst="roundRect">
            <a:avLst>
              <a:gd name="adj" fmla="val 10667"/>
            </a:avLst>
          </a:prstGeom>
          <a:solidFill>
            <a:schemeClr val="accent2">
              <a:alpha val="15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3154680"/>
            <a:ext cx="16459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Operating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account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973568" y="2121408"/>
            <a:ext cx="23774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7589520" y="1508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gross, D+1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893808" y="2121408"/>
            <a:ext cx="23774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9509760" y="1508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net, D+1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778240" y="2487168"/>
            <a:ext cx="0" cy="64922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7680960" y="26974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fees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 flipV="1">
            <a:off x="9326880" y="2487168"/>
            <a:ext cx="0" cy="649224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937260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shortfall cover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309360" y="4069080"/>
            <a:ext cx="548640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Merchant funds held in a segregated trust account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Daily safeguarding reconciliation, four-eyes sign-off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Requires aggregation agreements with acquirers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080760" y="1234440"/>
            <a:ext cx="0" cy="4389120"/>
          </a:xfrm>
          <a:prstGeom prst="line">
            <a:avLst/>
          </a:prstGeom>
          <a:noFill/>
          <a:ln w="12700">
            <a:solidFill>
              <a:srgbClr val="D5DDE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Evidence map: requested views and their status</a:t>
            </a:r>
            <a:endParaRPr lang="en-US" sz="3000" dirty="0"/>
          </a:p>
        </p:txBody>
      </p:sp>
      <p:graphicFrame>
        <p:nvGraphicFramePr>
          <p:cNvPr id="9" name="evide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371600"/>
                <a:gridCol w="1463040"/>
                <a:gridCol w="4937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View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Screenshots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Main limitation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S01 Sign-in and terms acceptance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Shown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S01a–f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Terms text is a placeholder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S02 Onboarding roadmap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Shown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S02a–d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Final decision not shown on the merchant side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S03 Pre-qualification form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Shown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S03a–b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Risk indicators pending compliance validation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S04 KYB document collection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Shown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S04a–d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Antivirus not installed in the demo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S05 Merchant portal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Partial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S05, S05b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Onboarding only, no active-merchant area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S06 Merchant dashboard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Substitute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Internal volume report, not funds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S07 Settlement tracking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Partial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Acquirer reconciliation, not trust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Controls (roles, audit, four-eyes, terms)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Shown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C01–C05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Three staff roles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623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All screenshots: development prototype, fictitious data, red DEMONSTRATION ENVIRONMENT banner.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Not yet in place</a:t>
            </a:r>
            <a:endParaRPr lang="en-US" sz="3000" dirty="0"/>
          </a:p>
        </p:txBody>
      </p:sp>
      <p:sp>
        <p:nvSpPr>
          <p:cNvPr id="3" name="gap-0"/>
          <p:cNvSpPr/>
          <p:nvPr/>
        </p:nvSpPr>
        <p:spPr>
          <a:xfrm>
            <a:off x="457200" y="1280160"/>
            <a:ext cx="5440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gdot-0"/>
          <p:cNvSpPr/>
          <p:nvPr/>
        </p:nvSpPr>
        <p:spPr>
          <a:xfrm>
            <a:off x="685800" y="1554480"/>
            <a:ext cx="292608" cy="29260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444752"/>
            <a:ext cx="46634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Safeguarding reconciliation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920240"/>
            <a:ext cx="46634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Daily bank-to-ledger-to-merchant-funds reconciliation, needed only if merchant funds are collected (model B).</a:t>
            </a:r>
            <a:endParaRPr lang="en-US" sz="1300" dirty="0"/>
          </a:p>
        </p:txBody>
      </p:sp>
      <p:sp>
        <p:nvSpPr>
          <p:cNvPr id="7" name="gap-1"/>
          <p:cNvSpPr/>
          <p:nvPr/>
        </p:nvSpPr>
        <p:spPr>
          <a:xfrm>
            <a:off x="6126480" y="1280160"/>
            <a:ext cx="5440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gdot-1"/>
          <p:cNvSpPr/>
          <p:nvPr/>
        </p:nvSpPr>
        <p:spPr>
          <a:xfrm>
            <a:off x="6355080" y="1554480"/>
            <a:ext cx="292608" cy="29260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0" y="1444752"/>
            <a:ext cx="46634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Transaction monitoring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1920240"/>
            <a:ext cx="46634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Rules, alerts and case investigation for AML and fraud.</a:t>
            </a:r>
            <a:endParaRPr lang="en-US" sz="1300" dirty="0"/>
          </a:p>
        </p:txBody>
      </p:sp>
      <p:sp>
        <p:nvSpPr>
          <p:cNvPr id="11" name="gap-2"/>
          <p:cNvSpPr/>
          <p:nvPr/>
        </p:nvSpPr>
        <p:spPr>
          <a:xfrm>
            <a:off x="457200" y="2834640"/>
            <a:ext cx="5440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gdot-2"/>
          <p:cNvSpPr/>
          <p:nvPr/>
        </p:nvSpPr>
        <p:spPr>
          <a:xfrm>
            <a:off x="685800" y="3108960"/>
            <a:ext cx="292608" cy="29260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2999232"/>
            <a:ext cx="46634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Refunds, chargebacks, disputes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Registers, statuses and deadlines.</a:t>
            </a:r>
            <a:endParaRPr lang="en-US" sz="1300" dirty="0"/>
          </a:p>
        </p:txBody>
      </p:sp>
      <p:sp>
        <p:nvSpPr>
          <p:cNvPr id="15" name="gap-3"/>
          <p:cNvSpPr/>
          <p:nvPr/>
        </p:nvSpPr>
        <p:spPr>
          <a:xfrm>
            <a:off x="6126480" y="2834640"/>
            <a:ext cx="5440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gdot-3"/>
          <p:cNvSpPr/>
          <p:nvPr/>
        </p:nvSpPr>
        <p:spPr>
          <a:xfrm>
            <a:off x="6355080" y="3108960"/>
            <a:ext cx="292608" cy="29260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2999232"/>
            <a:ext cx="46634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Complaints handling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Register, response times, escalation.</a:t>
            </a:r>
            <a:endParaRPr lang="en-US" sz="1300" dirty="0"/>
          </a:p>
        </p:txBody>
      </p:sp>
      <p:sp>
        <p:nvSpPr>
          <p:cNvPr id="19" name="gap-4"/>
          <p:cNvSpPr/>
          <p:nvPr/>
        </p:nvSpPr>
        <p:spPr>
          <a:xfrm>
            <a:off x="457200" y="4389120"/>
            <a:ext cx="5440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0" name="gdot-4"/>
          <p:cNvSpPr/>
          <p:nvPr/>
        </p:nvSpPr>
        <p:spPr>
          <a:xfrm>
            <a:off x="685800" y="4663440"/>
            <a:ext cx="292608" cy="29260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97280" y="4553712"/>
            <a:ext cx="46634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Automated sanctions / PEP screening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5029200"/>
            <a:ext cx="46634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Provider integration, adverse media, ongoing re-screening.</a:t>
            </a:r>
            <a:endParaRPr lang="en-US" sz="1300" dirty="0"/>
          </a:p>
        </p:txBody>
      </p:sp>
      <p:sp>
        <p:nvSpPr>
          <p:cNvPr id="23" name="gap-5"/>
          <p:cNvSpPr/>
          <p:nvPr/>
        </p:nvSpPr>
        <p:spPr>
          <a:xfrm>
            <a:off x="6126480" y="4389120"/>
            <a:ext cx="5440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4" name="gdot-5"/>
          <p:cNvSpPr/>
          <p:nvPr/>
        </p:nvSpPr>
        <p:spPr>
          <a:xfrm>
            <a:off x="6355080" y="4663440"/>
            <a:ext cx="292608" cy="29260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66560" y="4553712"/>
            <a:ext cx="46634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Production antivirus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5029200"/>
            <a:ext cx="46634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Scanning of every merchant upload, mandatory before go-live.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These items are specified or identified, not built. No timeline is committed in this draft.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rchant Platform">
  <a:themeElements>
    <a:clrScheme name="Merchant Platform">
      <a:dk1>
        <a:srgbClr val="12233A"/>
      </a:dk1>
      <a:lt1>
        <a:srgbClr val="FFFFFF"/>
      </a:lt1>
      <a:dk2>
        <a:srgbClr val="5A6B80"/>
      </a:dk2>
      <a:lt2>
        <a:srgbClr val="F1F4F7"/>
      </a:lt2>
      <a:accent1>
        <a:srgbClr val="0F7C8C"/>
      </a:accent1>
      <a:accent2>
        <a:srgbClr val="2F5FA7"/>
      </a:accent2>
      <a:accent3>
        <a:srgbClr val="9A5B13"/>
      </a:accent3>
      <a:accent4>
        <a:srgbClr val="1D7A46"/>
      </a:accent4>
      <a:accent5>
        <a:srgbClr val="B07D00"/>
      </a:accent5>
      <a:accent6>
        <a:srgbClr val="B3261E"/>
      </a:accent6>
      <a:hlink>
        <a:srgbClr val="0F7C8C"/>
      </a:hlink>
      <a:folHlink>
        <a:srgbClr val="5A6B80"/>
      </a:folHlink>
    </a:clrScheme>
    <a:fontScheme name="Merchant Platfor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Merchant platform — development prototype</dc:title>
  <dc:subject>PptxGenJS Presentation</dc:subject>
  <dc:creator>MIPS</dc:creator>
  <cp:lastModifiedBy>MIPS</cp:lastModifiedBy>
  <cp:revision>1</cp:revision>
  <dcterms:created xsi:type="dcterms:W3CDTF">2026-10-30T07:49:52Z</dcterms:created>
  <dcterms:modified xsi:type="dcterms:W3CDTF">2026-10-30T07:49:52Z</dcterms:modified>
</cp:coreProperties>
</file>