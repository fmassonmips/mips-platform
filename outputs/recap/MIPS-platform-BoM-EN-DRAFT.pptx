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5c712321-0696-79dd-b727-b71167c268ae}">
          <p14:sldIdLst>
            <p14:sldId id="256"/>
            <p14:sldId id="257"/>
          </p14:sldIdLst>
        </p14:section>
        <p14:section name="Platform" id="{cb4a3165-a049-fbef-6e57-868e480cd28f}">
          <p14:sldIdLst>
            <p14:sldId id="258"/>
            <p14:sldId id="259"/>
            <p14:sldId id="260"/>
            <p14:sldId id="261"/>
          </p14:sldIdLst>
        </p14:section>
        <p14:section name="Funds and evidence" id="{f47da07f-2fd8-e6d7-2aaa-3a9e0204a45c}">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draft. Before submission: confirm the entity names (SPIN DIGITAL / MIPS / MIPS INTERNATIONAL) against B01 and G01, and settle the fund-flow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carries a red DEMONSTRATION ENVIRONMENT banner with the build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requires: every required document accepted, at least one director and one beneficial owner, shareholders above the threshold recorded as beneficial owners, every person screened clear, a risk rating (high if a PEP is involved), legal name and BRN. Thresholds are default values pending compliance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 do not present as is. Model A matches current evidence (no intermediate account, fees invoiced, per-merchant acquirer agreements) but must be confirmed by Finance. Model B is not built. Keep one model on this slide, and check it against the safeguarding requirements of the Bank of Mauritius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The tests led to three fixes in the prototype: sign-in lockout per account instead of per IP; password-change time stored to the microsecond; four-eyes on case decisions extended to everyone who handled the case (an analyst with approver rights could reassign a case and decide it). They are deliberately not described here: development history, not a control. Mention them only if asked how the tests were used. Thirteen deliberate faults introduced in the code were all detected. The mandatory staff 2FA is tested with the rule switched on, as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to dates only once the fund-flow model and the resources are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lstStyle>
            <a:lvl1pPr indent="0" marL="0">
              <a:buNone/>
              <a:defRPr lang="en-US" sz="4200" b="1" dirty="0">
                <a:solidFill>
                  <a:schemeClr val="bg1"/>
                </a:solidFill>
              </a:defRPr>
            </a:lvl1pPr>
          </a:lstStyle>
          <a:p>
            <a:pPr indent="0" marL="0">
              <a:buNone/>
            </a:pPr>
            <a:endParaRPr lang="en-US" sz="4200" dirty="0"/>
          </a:p>
        </p:txBody>
      </p:sp>
      <p:sp>
        <p:nvSpPr>
          <p:cNvPr id="3" name="Text 0"/>
          <p:cNvSpPr/>
          <p:nvPr>
            <p:ph idx="101" type="body" hasCustomPrompt="1"/>
          </p:nvPr>
        </p:nvSpPr>
        <p:spPr>
          <a:xfrm>
            <a:off x="731520" y="3337560"/>
            <a:ext cx="1069848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9144000" cy="274320"/>
          </a:xfrm>
          <a:prstGeom prst="rect">
            <a:avLst/>
          </a:prstGeom>
          <a:noFill/>
          <a:ln/>
        </p:spPr>
        <p:txBody>
          <a:bodyPr wrap="square" lIns="0" tIns="0" rIns="0" bIns="0" rtlCol="0" anchor="ctr"/>
          <a:lstStyle/>
          <a:p>
            <a:pPr indent="0" marL="0">
              <a:buNone/>
            </a:pPr>
            <a:r>
              <a:rPr lang="en-US" sz="1000" dirty="0">
                <a:solidFill>
                  <a:schemeClr val="tx2"/>
                </a:solidFill>
              </a:rPr>
              <a:t>Development prototype · demonstration data only · DRAFT for internal review before submission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371600"/>
          </a:xfrm>
          <a:prstGeom prst="rect">
            <a:avLst/>
          </a:prstGeom>
          <a:noFill/>
          <a:ln/>
        </p:spPr>
        <p:txBody>
          <a:bodyPr wrap="square" rtlCol="0" anchor="b"/>
          <a:lstStyle/>
          <a:p>
            <a:pPr indent="0" marL="0">
              <a:buNone/>
            </a:pPr>
            <a:r>
              <a:rPr lang="en-US" sz="4200" b="1" dirty="0">
                <a:solidFill>
                  <a:schemeClr val="bg1"/>
                </a:solidFill>
              </a:rPr>
              <a:t>Merchant onboarding and back-office platform</a:t>
            </a:r>
            <a:endParaRPr lang="en-US" sz="4200" dirty="0"/>
          </a:p>
        </p:txBody>
      </p:sp>
      <p:sp>
        <p:nvSpPr>
          <p:cNvPr id="3" name="Text 0"/>
          <p:cNvSpPr/>
          <p:nvPr>
            <p:ph idx="101" type="body" hasCustomPrompt="1"/>
          </p:nvPr>
        </p:nvSpPr>
        <p:spPr>
          <a:xfrm>
            <a:off x="731520" y="3337560"/>
            <a:ext cx="10698480" cy="1097280"/>
          </a:xfrm>
          <a:prstGeom prst="rect">
            <a:avLst/>
          </a:prstGeom>
          <a:noFill/>
          <a:ln/>
        </p:spPr>
        <p:txBody>
          <a:bodyPr wrap="square" rtlCol="0" anchor="t"/>
          <a:lstStyle/>
          <a:p>
            <a:pPr indent="0" marL="0">
              <a:buNone/>
            </a:pPr>
            <a:r>
              <a:rPr lang="en-US" sz="2000" dirty="0">
                <a:solidFill>
                  <a:schemeClr val="bg2"/>
                </a:solidFill>
              </a:rPr>
              <a:t>Development prototype — supporting material for the SPIN DIGITAL application</a:t>
            </a:r>
            <a:endParaRPr lang="en-US" sz="2000" dirty="0"/>
          </a:p>
        </p:txBody>
      </p:sp>
      <p:sp>
        <p:nvSpPr>
          <p:cNvPr id="4" name="Text 2"/>
          <p:cNvSpPr txBox="1"/>
          <p:nvPr/>
        </p:nvSpPr>
        <p:spPr>
          <a:xfrm>
            <a:off x="731520" y="5760720"/>
            <a:ext cx="10698480" cy="365760"/>
          </a:xfrm>
          <a:prstGeom prst="rect">
            <a:avLst/>
          </a:prstGeom>
          <a:noFill/>
          <a:ln/>
        </p:spPr>
        <p:txBody>
          <a:bodyPr wrap="square" lIns="1016" tIns="1016" rIns="1016" bIns="1016" rtlCol="0" anchor="t"/>
          <a:lstStyle/>
          <a:p>
            <a:pPr algn="l" indent="0" marL="0">
              <a:buNone/>
            </a:pPr>
            <a:r>
              <a:rPr lang="en-US" sz="1400" dirty="0">
                <a:solidFill>
                  <a:schemeClr val="accent1"/>
                </a:solidFill>
              </a:rPr>
              <a:t>DRAFT for internal review · October 2026 · not deployed · demonstration data only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What this material shows, and what it does not</a:t>
            </a:r>
            <a:endParaRPr lang="en-US" sz="3000" dirty="0"/>
          </a:p>
        </p:txBody>
      </p:sp>
      <p:sp>
        <p:nvSpPr>
          <p:cNvPr id="3" name="stat-0"/>
          <p:cNvSpPr/>
          <p:nvPr/>
        </p:nvSpPr>
        <p:spPr>
          <a:xfrm>
            <a:off x="457200" y="1325880"/>
            <a:ext cx="2606040" cy="1463040"/>
          </a:xfrm>
          <a:prstGeom prst="roundRect">
            <a:avLst>
              <a:gd name="adj" fmla="val 5000"/>
            </a:avLst>
          </a:prstGeom>
          <a:solidFill>
            <a:schemeClr val="bg2"/>
          </a:solidFill>
          <a:ln w="9525">
            <a:solidFill>
              <a:schemeClr val="bg2"/>
            </a:solidFill>
            <a:prstDash val="solid"/>
          </a:ln>
        </p:spPr>
      </p:sp>
      <p:sp>
        <p:nvSpPr>
          <p:cNvPr id="4" name="Text 2"/>
          <p:cNvSpPr txBox="1"/>
          <p:nvPr/>
        </p:nvSpPr>
        <p:spPr>
          <a:xfrm>
            <a:off x="64008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9</a:t>
            </a:r>
            <a:endParaRPr lang="en-US" sz="5000" dirty="0"/>
          </a:p>
        </p:txBody>
      </p:sp>
      <p:sp>
        <p:nvSpPr>
          <p:cNvPr id="5" name="Text 3"/>
          <p:cNvSpPr txBox="1"/>
          <p:nvPr/>
        </p:nvSpPr>
        <p:spPr>
          <a:xfrm>
            <a:off x="64008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functional modules built</a:t>
            </a:r>
            <a:endParaRPr lang="en-US" sz="1400" dirty="0"/>
          </a:p>
        </p:txBody>
      </p:sp>
      <p:sp>
        <p:nvSpPr>
          <p:cNvPr id="6" name="stat-1"/>
          <p:cNvSpPr/>
          <p:nvPr/>
        </p:nvSpPr>
        <p:spPr>
          <a:xfrm>
            <a:off x="3291840" y="1325880"/>
            <a:ext cx="2606040" cy="1463040"/>
          </a:xfrm>
          <a:prstGeom prst="roundRect">
            <a:avLst>
              <a:gd name="adj" fmla="val 5000"/>
            </a:avLst>
          </a:prstGeom>
          <a:solidFill>
            <a:schemeClr val="bg2"/>
          </a:solidFill>
          <a:ln w="9525">
            <a:solidFill>
              <a:schemeClr val="bg2"/>
            </a:solidFill>
            <a:prstDash val="solid"/>
          </a:ln>
        </p:spPr>
      </p:sp>
      <p:sp>
        <p:nvSpPr>
          <p:cNvPr id="7" name="Text 5"/>
          <p:cNvSpPr txBox="1"/>
          <p:nvPr/>
        </p:nvSpPr>
        <p:spPr>
          <a:xfrm>
            <a:off x="347472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36</a:t>
            </a:r>
            <a:endParaRPr lang="en-US" sz="5000" dirty="0"/>
          </a:p>
        </p:txBody>
      </p:sp>
      <p:sp>
        <p:nvSpPr>
          <p:cNvPr id="8" name="Text 6"/>
          <p:cNvSpPr txBox="1"/>
          <p:nvPr/>
        </p:nvSpPr>
        <p:spPr>
          <a:xfrm>
            <a:off x="347472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screens captured</a:t>
            </a:r>
            <a:endParaRPr lang="en-US" sz="1400" dirty="0"/>
          </a:p>
        </p:txBody>
      </p:sp>
      <p:sp>
        <p:nvSpPr>
          <p:cNvPr id="9" name="stat-2"/>
          <p:cNvSpPr/>
          <p:nvPr/>
        </p:nvSpPr>
        <p:spPr>
          <a:xfrm>
            <a:off x="6126480" y="1325880"/>
            <a:ext cx="2606040" cy="1463040"/>
          </a:xfrm>
          <a:prstGeom prst="roundRect">
            <a:avLst>
              <a:gd name="adj" fmla="val 5000"/>
            </a:avLst>
          </a:prstGeom>
          <a:solidFill>
            <a:schemeClr val="bg2"/>
          </a:solidFill>
          <a:ln w="9525">
            <a:solidFill>
              <a:schemeClr val="bg2"/>
            </a:solidFill>
            <a:prstDash val="solid"/>
          </a:ln>
        </p:spPr>
      </p:sp>
      <p:sp>
        <p:nvSpPr>
          <p:cNvPr id="10" name="Text 8"/>
          <p:cNvSpPr txBox="1"/>
          <p:nvPr/>
        </p:nvSpPr>
        <p:spPr>
          <a:xfrm>
            <a:off x="630936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2</a:t>
            </a:r>
            <a:endParaRPr lang="en-US" sz="5000" dirty="0"/>
          </a:p>
        </p:txBody>
      </p:sp>
      <p:sp>
        <p:nvSpPr>
          <p:cNvPr id="11" name="Text 9"/>
          <p:cNvSpPr txBox="1"/>
          <p:nvPr/>
        </p:nvSpPr>
        <p:spPr>
          <a:xfrm>
            <a:off x="630936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user populations kept apart: staff and merchants</a:t>
            </a:r>
            <a:endParaRPr lang="en-US" sz="1400" dirty="0"/>
          </a:p>
        </p:txBody>
      </p:sp>
      <p:sp>
        <p:nvSpPr>
          <p:cNvPr id="12" name="stat-3"/>
          <p:cNvSpPr/>
          <p:nvPr/>
        </p:nvSpPr>
        <p:spPr>
          <a:xfrm>
            <a:off x="8961120" y="1325880"/>
            <a:ext cx="2606040" cy="1463040"/>
          </a:xfrm>
          <a:prstGeom prst="roundRect">
            <a:avLst>
              <a:gd name="adj" fmla="val 5000"/>
            </a:avLst>
          </a:prstGeom>
          <a:solidFill>
            <a:schemeClr val="bg2"/>
          </a:solidFill>
          <a:ln w="9525">
            <a:solidFill>
              <a:schemeClr val="bg2"/>
            </a:solidFill>
            <a:prstDash val="solid"/>
          </a:ln>
        </p:spPr>
      </p:sp>
      <p:sp>
        <p:nvSpPr>
          <p:cNvPr id="13" name="Text 11"/>
          <p:cNvSpPr txBox="1"/>
          <p:nvPr/>
        </p:nvSpPr>
        <p:spPr>
          <a:xfrm>
            <a:off x="9144000" y="1371600"/>
            <a:ext cx="2286000" cy="822960"/>
          </a:xfrm>
          <a:prstGeom prst="rect">
            <a:avLst/>
          </a:prstGeom>
          <a:noFill/>
          <a:ln/>
        </p:spPr>
        <p:txBody>
          <a:bodyPr wrap="square" lIns="1016" tIns="1016" rIns="1016" bIns="1016" rtlCol="0" anchor="t"/>
          <a:lstStyle/>
          <a:p>
            <a:pPr algn="l" indent="0" marL="0">
              <a:buNone/>
            </a:pPr>
            <a:r>
              <a:rPr lang="en-US" sz="5000" b="1" dirty="0">
                <a:solidFill>
                  <a:schemeClr val="accent1"/>
                </a:solidFill>
                <a:latin typeface="Cambria" pitchFamily="34" charset="0"/>
                <a:ea typeface="Cambria" pitchFamily="34" charset="-122"/>
                <a:cs typeface="Cambria" pitchFamily="34" charset="-120"/>
              </a:rPr>
              <a:t>579</a:t>
            </a:r>
            <a:endParaRPr lang="en-US" sz="5000" dirty="0"/>
          </a:p>
        </p:txBody>
      </p:sp>
      <p:sp>
        <p:nvSpPr>
          <p:cNvPr id="14" name="Text 12"/>
          <p:cNvSpPr txBox="1"/>
          <p:nvPr/>
        </p:nvSpPr>
        <p:spPr>
          <a:xfrm>
            <a:off x="9144000" y="2194560"/>
            <a:ext cx="2286000" cy="548640"/>
          </a:xfrm>
          <a:prstGeom prst="rect">
            <a:avLst/>
          </a:prstGeom>
          <a:noFill/>
          <a:ln/>
        </p:spPr>
        <p:txBody>
          <a:bodyPr wrap="square" lIns="1016" tIns="1016" rIns="1016" bIns="1016" rtlCol="0" anchor="t"/>
          <a:lstStyle/>
          <a:p>
            <a:pPr algn="l" indent="0" marL="0">
              <a:buNone/>
            </a:pPr>
            <a:r>
              <a:rPr lang="en-US" sz="1400" dirty="0">
                <a:solidFill>
                  <a:schemeClr val="tx2"/>
                </a:solidFill>
              </a:rPr>
              <a:t>automated checks, fictitious data</a:t>
            </a:r>
            <a:endParaRPr lang="en-US" sz="1400" dirty="0"/>
          </a:p>
        </p:txBody>
      </p:sp>
      <p:sp>
        <p:nvSpPr>
          <p:cNvPr id="15" name="Text 13"/>
          <p:cNvSpPr txBox="1"/>
          <p:nvPr/>
        </p:nvSpPr>
        <p:spPr>
          <a:xfrm>
            <a:off x="457200" y="3108960"/>
            <a:ext cx="5486400" cy="411480"/>
          </a:xfrm>
          <a:prstGeom prst="rect">
            <a:avLst/>
          </a:prstGeom>
          <a:noFill/>
          <a:ln/>
        </p:spPr>
        <p:txBody>
          <a:bodyPr wrap="square" lIns="0" tIns="0" rIns="0" bIns="0" rtlCol="0" anchor="t"/>
          <a:lstStyle/>
          <a:p>
            <a:pPr algn="l" indent="0" marL="0">
              <a:buNone/>
            </a:pPr>
            <a:r>
              <a:rPr lang="en-US" sz="2000" b="1" dirty="0">
                <a:solidFill>
                  <a:schemeClr val="accent4"/>
                </a:solidFill>
                <a:latin typeface="Cambria" pitchFamily="34" charset="0"/>
                <a:ea typeface="Cambria" pitchFamily="34" charset="-122"/>
                <a:cs typeface="Cambria" pitchFamily="34" charset="-120"/>
              </a:rPr>
              <a:t>It shows</a:t>
            </a:r>
            <a:endParaRPr lang="en-US" sz="2000" dirty="0"/>
          </a:p>
        </p:txBody>
      </p:sp>
      <p:sp>
        <p:nvSpPr>
          <p:cNvPr id="16" name="Text 14"/>
          <p:cNvSpPr txBox="1"/>
          <p:nvPr/>
        </p:nvSpPr>
        <p:spPr>
          <a:xfrm>
            <a:off x="457200" y="3611880"/>
            <a:ext cx="5486400" cy="23774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chemeClr val="tx1"/>
                </a:solidFill>
              </a:rPr>
              <a:t>How merchants are onboarded and verified (KYC/KYB)</a:t>
            </a:r>
            <a:endParaRPr lang="en-US" sz="1400" dirty="0"/>
          </a:p>
          <a:p>
            <a:pPr marL="342900" indent="-342900">
              <a:spcAft>
                <a:spcPts val="600"/>
              </a:spcAft>
              <a:buSzPct val="100000"/>
              <a:buChar char="•"/>
            </a:pPr>
            <a:r>
              <a:rPr lang="en-US" sz="1400" dirty="0">
                <a:solidFill>
                  <a:schemeClr val="tx1"/>
                </a:solidFill>
              </a:rPr>
              <a:t>The internal controls built into each step</a:t>
            </a:r>
            <a:endParaRPr lang="en-US" sz="1400" dirty="0"/>
          </a:p>
          <a:p>
            <a:pPr marL="342900" indent="-342900">
              <a:spcAft>
                <a:spcPts val="600"/>
              </a:spcAft>
              <a:buSzPct val="100000"/>
              <a:buChar char="•"/>
            </a:pPr>
            <a:r>
              <a:rPr lang="en-US" sz="1400" dirty="0">
                <a:solidFill>
                  <a:schemeClr val="tx1"/>
                </a:solidFill>
              </a:rPr>
              <a:t>How transaction data is reported, billed and reconciled with the acquirer</a:t>
            </a:r>
            <a:endParaRPr lang="en-US" sz="1400" dirty="0"/>
          </a:p>
          <a:p>
            <a:pPr marL="342900" indent="-342900">
              <a:spcAft>
                <a:spcPts val="600"/>
              </a:spcAft>
              <a:buSzPct val="100000"/>
              <a:buChar char="•"/>
            </a:pPr>
            <a:r>
              <a:rPr lang="en-US" sz="1400" dirty="0">
                <a:solidFill>
                  <a:schemeClr val="tx1"/>
                </a:solidFill>
              </a:rPr>
              <a:t>Which requested views are covered, and which are not yet</a:t>
            </a:r>
            <a:endParaRPr lang="en-US" sz="1400" dirty="0"/>
          </a:p>
        </p:txBody>
      </p:sp>
      <p:sp>
        <p:nvSpPr>
          <p:cNvPr id="17" name="Text 15"/>
          <p:cNvSpPr txBox="1"/>
          <p:nvPr/>
        </p:nvSpPr>
        <p:spPr>
          <a:xfrm>
            <a:off x="6309360" y="3108960"/>
            <a:ext cx="5486400" cy="411480"/>
          </a:xfrm>
          <a:prstGeom prst="rect">
            <a:avLst/>
          </a:prstGeom>
          <a:noFill/>
          <a:ln/>
        </p:spPr>
        <p:txBody>
          <a:bodyPr wrap="square" lIns="0" tIns="0" rIns="0" bIns="0" rtlCol="0" anchor="t"/>
          <a:lstStyle/>
          <a:p>
            <a:pPr algn="l" indent="0" marL="0">
              <a:buNone/>
            </a:pPr>
            <a:r>
              <a:rPr lang="en-US" sz="2000" b="1" dirty="0">
                <a:solidFill>
                  <a:schemeClr val="accent6"/>
                </a:solidFill>
                <a:latin typeface="Cambria" pitchFamily="34" charset="0"/>
                <a:ea typeface="Cambria" pitchFamily="34" charset="-122"/>
                <a:cs typeface="Cambria" pitchFamily="34" charset="-120"/>
              </a:rPr>
              <a:t>It does not show</a:t>
            </a:r>
            <a:endParaRPr lang="en-US" sz="2000" dirty="0"/>
          </a:p>
        </p:txBody>
      </p:sp>
      <p:sp>
        <p:nvSpPr>
          <p:cNvPr id="18" name="Text 16"/>
          <p:cNvSpPr txBox="1"/>
          <p:nvPr/>
        </p:nvSpPr>
        <p:spPr>
          <a:xfrm>
            <a:off x="6309360" y="3611880"/>
            <a:ext cx="5486400" cy="23774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chemeClr val="tx1"/>
                </a:solidFill>
              </a:rPr>
              <a:t>A system in production or an operational, authorised service</a:t>
            </a:r>
            <a:endParaRPr lang="en-US" sz="1400" dirty="0"/>
          </a:p>
          <a:p>
            <a:pPr marL="342900" indent="-342900">
              <a:spcAft>
                <a:spcPts val="600"/>
              </a:spcAft>
              <a:buSzPct val="100000"/>
              <a:buChar char="•"/>
            </a:pPr>
            <a:r>
              <a:rPr lang="en-US" sz="1400" dirty="0">
                <a:solidFill>
                  <a:schemeClr val="tx1"/>
                </a:solidFill>
              </a:rPr>
              <a:t>Real merchants, people, transactions or bank data</a:t>
            </a:r>
            <a:endParaRPr lang="en-US" sz="1400" dirty="0"/>
          </a:p>
          <a:p>
            <a:pPr marL="342900" indent="-342900">
              <a:spcAft>
                <a:spcPts val="600"/>
              </a:spcAft>
              <a:buSzPct val="100000"/>
              <a:buChar char="•"/>
            </a:pPr>
            <a:r>
              <a:rPr lang="en-US" sz="1400" dirty="0">
                <a:solidFill>
                  <a:schemeClr val="tx1"/>
                </a:solidFill>
              </a:rPr>
              <a:t>Safeguarding (trust) reconciliation, transaction monitoring, disputes or complaints handling</a:t>
            </a:r>
            <a:endParaRPr lang="en-US" sz="1400" dirty="0"/>
          </a:p>
          <a:p>
            <a:pPr marL="342900" indent="-342900">
              <a:spcAft>
                <a:spcPts val="600"/>
              </a:spcAft>
              <a:buSzPct val="100000"/>
              <a:buChar char="•"/>
            </a:pPr>
            <a:r>
              <a:rPr lang="en-US" sz="1400" dirty="0">
                <a:solidFill>
                  <a:schemeClr val="tx1"/>
                </a:solidFill>
              </a:rPr>
              <a:t>Final legal texts: the terms of use shown are a placeholder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Nine modules between data sources and outputs</a:t>
            </a:r>
            <a:endParaRPr lang="en-US" sz="3000" dirty="0"/>
          </a:p>
        </p:txBody>
      </p:sp>
      <p:sp>
        <p:nvSpPr>
          <p:cNvPr id="3" name="Text 1"/>
          <p:cNvSpPr txBox="1"/>
          <p:nvPr/>
        </p:nvSpPr>
        <p:spPr>
          <a:xfrm>
            <a:off x="457200" y="1188720"/>
            <a:ext cx="2011680" cy="274320"/>
          </a:xfrm>
          <a:prstGeom prst="rect">
            <a:avLst/>
          </a:prstGeom>
          <a:noFill/>
          <a:ln/>
        </p:spPr>
        <p:txBody>
          <a:bodyPr wrap="square" lIns="0" tIns="0" rIns="0" bIns="0" rtlCol="0" anchor="t"/>
          <a:lstStyle/>
          <a:p>
            <a:pPr algn="l" indent="0" marL="0">
              <a:buNone/>
            </a:pPr>
            <a:r>
              <a:rPr lang="en-US" sz="1100" b="1" dirty="0">
                <a:solidFill>
                  <a:schemeClr val="tx2"/>
                </a:solidFill>
              </a:rPr>
              <a:t>SOURCES</a:t>
            </a:r>
            <a:endParaRPr lang="en-US" sz="1100" dirty="0"/>
          </a:p>
        </p:txBody>
      </p:sp>
      <p:sp>
        <p:nvSpPr>
          <p:cNvPr id="4" name="Text 2"/>
          <p:cNvSpPr txBox="1"/>
          <p:nvPr/>
        </p:nvSpPr>
        <p:spPr>
          <a:xfrm>
            <a:off x="2971800" y="1188720"/>
            <a:ext cx="6217920" cy="274320"/>
          </a:xfrm>
          <a:prstGeom prst="rect">
            <a:avLst/>
          </a:prstGeom>
          <a:noFill/>
          <a:ln/>
        </p:spPr>
        <p:txBody>
          <a:bodyPr wrap="square" lIns="0" tIns="0" rIns="0" bIns="0" rtlCol="0" anchor="t"/>
          <a:lstStyle/>
          <a:p>
            <a:pPr algn="l" indent="0" marL="0">
              <a:buNone/>
            </a:pPr>
            <a:r>
              <a:rPr lang="en-US" sz="1100" b="1" dirty="0">
                <a:solidFill>
                  <a:schemeClr val="tx2"/>
                </a:solidFill>
              </a:rPr>
              <a:t>MODULES</a:t>
            </a:r>
            <a:endParaRPr lang="en-US" sz="1100" dirty="0"/>
          </a:p>
        </p:txBody>
      </p:sp>
      <p:sp>
        <p:nvSpPr>
          <p:cNvPr id="5" name="Text 3"/>
          <p:cNvSpPr txBox="1"/>
          <p:nvPr/>
        </p:nvSpPr>
        <p:spPr>
          <a:xfrm>
            <a:off x="9692640" y="1188720"/>
            <a:ext cx="2011680" cy="274320"/>
          </a:xfrm>
          <a:prstGeom prst="rect">
            <a:avLst/>
          </a:prstGeom>
          <a:noFill/>
          <a:ln/>
        </p:spPr>
        <p:txBody>
          <a:bodyPr wrap="square" lIns="0" tIns="0" rIns="0" bIns="0" rtlCol="0" anchor="t"/>
          <a:lstStyle/>
          <a:p>
            <a:pPr algn="l" indent="0" marL="0">
              <a:buNone/>
            </a:pPr>
            <a:r>
              <a:rPr lang="en-US" sz="1100" b="1" dirty="0">
                <a:solidFill>
                  <a:schemeClr val="tx2"/>
                </a:solidFill>
              </a:rPr>
              <a:t>OUTPUTS</a:t>
            </a:r>
            <a:endParaRPr lang="en-US" sz="1100" dirty="0"/>
          </a:p>
        </p:txBody>
      </p:sp>
      <p:sp>
        <p:nvSpPr>
          <p:cNvPr id="6" name="src-0"/>
          <p:cNvSpPr/>
          <p:nvPr/>
        </p:nvSpPr>
        <p:spPr>
          <a:xfrm>
            <a:off x="457200" y="1554480"/>
            <a:ext cx="2011680" cy="868680"/>
          </a:xfrm>
          <a:prstGeom prst="roundRect">
            <a:avLst>
              <a:gd name="adj" fmla="val 8421"/>
            </a:avLst>
          </a:prstGeom>
          <a:solidFill>
            <a:schemeClr val="bg2"/>
          </a:solidFill>
          <a:ln w="9525">
            <a:solidFill>
              <a:schemeClr val="bg2"/>
            </a:solidFill>
            <a:prstDash val="solid"/>
          </a:ln>
        </p:spPr>
      </p:sp>
      <p:sp>
        <p:nvSpPr>
          <p:cNvPr id="7" name="Text 5"/>
          <p:cNvSpPr txBox="1"/>
          <p:nvPr/>
        </p:nvSpPr>
        <p:spPr>
          <a:xfrm>
            <a:off x="502920" y="155448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Monthly transaction export</a:t>
            </a:r>
            <a:endParaRPr lang="en-US" sz="1400" dirty="0"/>
          </a:p>
        </p:txBody>
      </p:sp>
      <p:sp>
        <p:nvSpPr>
          <p:cNvPr id="8" name="src-1"/>
          <p:cNvSpPr/>
          <p:nvPr/>
        </p:nvSpPr>
        <p:spPr>
          <a:xfrm>
            <a:off x="457200" y="2651760"/>
            <a:ext cx="2011680" cy="868680"/>
          </a:xfrm>
          <a:prstGeom prst="roundRect">
            <a:avLst>
              <a:gd name="adj" fmla="val 8421"/>
            </a:avLst>
          </a:prstGeom>
          <a:solidFill>
            <a:schemeClr val="bg2"/>
          </a:solidFill>
          <a:ln w="9525">
            <a:solidFill>
              <a:schemeClr val="bg2"/>
            </a:solidFill>
            <a:prstDash val="solid"/>
          </a:ln>
        </p:spPr>
      </p:sp>
      <p:sp>
        <p:nvSpPr>
          <p:cNvPr id="9" name="Text 7"/>
          <p:cNvSpPr txBox="1"/>
          <p:nvPr/>
        </p:nvSpPr>
        <p:spPr>
          <a:xfrm>
            <a:off x="502920" y="265176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Data warehouse (BigQuery)</a:t>
            </a:r>
            <a:endParaRPr lang="en-US" sz="1400" dirty="0"/>
          </a:p>
        </p:txBody>
      </p:sp>
      <p:sp>
        <p:nvSpPr>
          <p:cNvPr id="10" name="src-2"/>
          <p:cNvSpPr/>
          <p:nvPr/>
        </p:nvSpPr>
        <p:spPr>
          <a:xfrm>
            <a:off x="457200" y="3749040"/>
            <a:ext cx="2011680" cy="868680"/>
          </a:xfrm>
          <a:prstGeom prst="roundRect">
            <a:avLst>
              <a:gd name="adj" fmla="val 8421"/>
            </a:avLst>
          </a:prstGeom>
          <a:solidFill>
            <a:schemeClr val="bg2"/>
          </a:solidFill>
          <a:ln w="9525">
            <a:solidFill>
              <a:schemeClr val="bg2"/>
            </a:solidFill>
            <a:prstDash val="solid"/>
          </a:ln>
        </p:spPr>
      </p:sp>
      <p:sp>
        <p:nvSpPr>
          <p:cNvPr id="11" name="Text 9"/>
          <p:cNvSpPr txBox="1"/>
          <p:nvPr/>
        </p:nvSpPr>
        <p:spPr>
          <a:xfrm>
            <a:off x="502920" y="374904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Acquirer file (MCB)</a:t>
            </a:r>
            <a:endParaRPr lang="en-US" sz="1400" dirty="0"/>
          </a:p>
        </p:txBody>
      </p:sp>
      <p:sp>
        <p:nvSpPr>
          <p:cNvPr id="12" name="src-3"/>
          <p:cNvSpPr/>
          <p:nvPr/>
        </p:nvSpPr>
        <p:spPr>
          <a:xfrm>
            <a:off x="457200" y="4846320"/>
            <a:ext cx="2011680" cy="868680"/>
          </a:xfrm>
          <a:prstGeom prst="roundRect">
            <a:avLst>
              <a:gd name="adj" fmla="val 8421"/>
            </a:avLst>
          </a:prstGeom>
          <a:solidFill>
            <a:schemeClr val="bg2"/>
          </a:solidFill>
          <a:ln w="9525">
            <a:solidFill>
              <a:schemeClr val="bg2"/>
            </a:solidFill>
            <a:prstDash val="solid"/>
          </a:ln>
        </p:spPr>
      </p:sp>
      <p:sp>
        <p:nvSpPr>
          <p:cNvPr id="13" name="Text 11"/>
          <p:cNvSpPr txBox="1"/>
          <p:nvPr/>
        </p:nvSpPr>
        <p:spPr>
          <a:xfrm>
            <a:off x="502920" y="4846320"/>
            <a:ext cx="1920240" cy="868680"/>
          </a:xfrm>
          <a:prstGeom prst="rect">
            <a:avLst/>
          </a:prstGeom>
          <a:noFill/>
          <a:ln/>
        </p:spPr>
        <p:txBody>
          <a:bodyPr wrap="square" lIns="1016" tIns="1016" rIns="1016" bIns="1016" rtlCol="0" anchor="ctr"/>
          <a:lstStyle/>
          <a:p>
            <a:pPr algn="l" indent="0" marL="0">
              <a:buNone/>
            </a:pPr>
            <a:r>
              <a:rPr lang="en-US" sz="1400" dirty="0">
                <a:solidFill>
                  <a:schemeClr val="tx1"/>
                </a:solidFill>
              </a:rPr>
              <a:t>Applicants (portal)</a:t>
            </a:r>
            <a:endParaRPr lang="en-US" sz="1400" dirty="0"/>
          </a:p>
        </p:txBody>
      </p:sp>
      <p:sp>
        <p:nvSpPr>
          <p:cNvPr id="14" name="mod-0"/>
          <p:cNvSpPr/>
          <p:nvPr/>
        </p:nvSpPr>
        <p:spPr>
          <a:xfrm>
            <a:off x="297180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15" name="Text 13"/>
          <p:cNvSpPr txBox="1"/>
          <p:nvPr/>
        </p:nvSpPr>
        <p:spPr>
          <a:xfrm>
            <a:off x="304495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Monthly reporting</a:t>
            </a:r>
            <a:endParaRPr lang="en-US" sz="1400" dirty="0"/>
          </a:p>
        </p:txBody>
      </p:sp>
      <p:sp>
        <p:nvSpPr>
          <p:cNvPr id="16" name="Text 14"/>
          <p:cNvSpPr txBox="1"/>
          <p:nvPr/>
        </p:nvSpPr>
        <p:spPr>
          <a:xfrm>
            <a:off x="304495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Fixed data rules, trends</a:t>
            </a:r>
            <a:endParaRPr lang="en-US" sz="1200" dirty="0"/>
          </a:p>
        </p:txBody>
      </p:sp>
      <p:sp>
        <p:nvSpPr>
          <p:cNvPr id="17" name="mod-1"/>
          <p:cNvSpPr/>
          <p:nvPr/>
        </p:nvSpPr>
        <p:spPr>
          <a:xfrm>
            <a:off x="507492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18" name="Text 16"/>
          <p:cNvSpPr txBox="1"/>
          <p:nvPr/>
        </p:nvSpPr>
        <p:spPr>
          <a:xfrm>
            <a:off x="514807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Billing</a:t>
            </a:r>
            <a:endParaRPr lang="en-US" sz="1400" dirty="0"/>
          </a:p>
        </p:txBody>
      </p:sp>
      <p:sp>
        <p:nvSpPr>
          <p:cNvPr id="19" name="Text 17"/>
          <p:cNvSpPr txBox="1"/>
          <p:nvPr/>
        </p:nvSpPr>
        <p:spPr>
          <a:xfrm>
            <a:off x="514807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Fee rules, invoices</a:t>
            </a:r>
            <a:endParaRPr lang="en-US" sz="1200" dirty="0"/>
          </a:p>
        </p:txBody>
      </p:sp>
      <p:sp>
        <p:nvSpPr>
          <p:cNvPr id="20" name="mod-2"/>
          <p:cNvSpPr/>
          <p:nvPr/>
        </p:nvSpPr>
        <p:spPr>
          <a:xfrm>
            <a:off x="7178040" y="155448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1" name="Text 19"/>
          <p:cNvSpPr txBox="1"/>
          <p:nvPr/>
        </p:nvSpPr>
        <p:spPr>
          <a:xfrm>
            <a:off x="7251192" y="164592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Acquirer reconciliation</a:t>
            </a:r>
            <a:endParaRPr lang="en-US" sz="1400" dirty="0"/>
          </a:p>
        </p:txBody>
      </p:sp>
      <p:sp>
        <p:nvSpPr>
          <p:cNvPr id="22" name="Text 20"/>
          <p:cNvSpPr txBox="1"/>
          <p:nvPr/>
        </p:nvSpPr>
        <p:spPr>
          <a:xfrm>
            <a:off x="7251192" y="219456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Gaps explained to zero</a:t>
            </a:r>
            <a:endParaRPr lang="en-US" sz="1200" dirty="0"/>
          </a:p>
        </p:txBody>
      </p:sp>
      <p:sp>
        <p:nvSpPr>
          <p:cNvPr id="23" name="mod-3"/>
          <p:cNvSpPr/>
          <p:nvPr/>
        </p:nvSpPr>
        <p:spPr>
          <a:xfrm>
            <a:off x="2971800" y="301752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4" name="Text 22"/>
          <p:cNvSpPr txBox="1"/>
          <p:nvPr/>
        </p:nvSpPr>
        <p:spPr>
          <a:xfrm>
            <a:off x="304495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Merchant records</a:t>
            </a:r>
            <a:endParaRPr lang="en-US" sz="1400" dirty="0"/>
          </a:p>
        </p:txBody>
      </p:sp>
      <p:sp>
        <p:nvSpPr>
          <p:cNvPr id="25" name="Text 23"/>
          <p:cNvSpPr txBox="1"/>
          <p:nvPr/>
        </p:nvSpPr>
        <p:spPr>
          <a:xfrm>
            <a:off x="304495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Identity, MIDs, contracts</a:t>
            </a:r>
            <a:endParaRPr lang="en-US" sz="1200" dirty="0"/>
          </a:p>
        </p:txBody>
      </p:sp>
      <p:sp>
        <p:nvSpPr>
          <p:cNvPr id="26" name="mod-4"/>
          <p:cNvSpPr/>
          <p:nvPr/>
        </p:nvSpPr>
        <p:spPr>
          <a:xfrm>
            <a:off x="5074920" y="301752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27" name="Text 25"/>
          <p:cNvSpPr txBox="1"/>
          <p:nvPr/>
        </p:nvSpPr>
        <p:spPr>
          <a:xfrm>
            <a:off x="514807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Onboarding &amp; KYC</a:t>
            </a:r>
            <a:endParaRPr lang="en-US" sz="1400" dirty="0"/>
          </a:p>
        </p:txBody>
      </p:sp>
      <p:sp>
        <p:nvSpPr>
          <p:cNvPr id="28" name="Text 26"/>
          <p:cNvSpPr txBox="1"/>
          <p:nvPr/>
        </p:nvSpPr>
        <p:spPr>
          <a:xfrm>
            <a:off x="514807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Documents, four-eyes</a:t>
            </a:r>
            <a:endParaRPr lang="en-US" sz="1200" dirty="0"/>
          </a:p>
        </p:txBody>
      </p:sp>
      <p:sp>
        <p:nvSpPr>
          <p:cNvPr id="29" name="mod-5"/>
          <p:cNvSpPr/>
          <p:nvPr/>
        </p:nvSpPr>
        <p:spPr>
          <a:xfrm>
            <a:off x="7178040" y="3017520"/>
            <a:ext cx="1965960" cy="1280160"/>
          </a:xfrm>
          <a:prstGeom prst="roundRect">
            <a:avLst>
              <a:gd name="adj" fmla="val 5714"/>
            </a:avLst>
          </a:prstGeom>
          <a:solidFill>
            <a:schemeClr val="accent3">
              <a:alpha val="12000"/>
            </a:schemeClr>
          </a:solidFill>
          <a:ln w="9525">
            <a:solidFill>
              <a:schemeClr val="accent3"/>
            </a:solidFill>
            <a:prstDash val="solid"/>
          </a:ln>
        </p:spPr>
      </p:sp>
      <p:sp>
        <p:nvSpPr>
          <p:cNvPr id="30" name="Text 28"/>
          <p:cNvSpPr txBox="1"/>
          <p:nvPr/>
        </p:nvSpPr>
        <p:spPr>
          <a:xfrm>
            <a:off x="7251192" y="310896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Merchant portal</a:t>
            </a:r>
            <a:endParaRPr lang="en-US" sz="1400" dirty="0"/>
          </a:p>
        </p:txBody>
      </p:sp>
      <p:sp>
        <p:nvSpPr>
          <p:cNvPr id="31" name="Text 29"/>
          <p:cNvSpPr txBox="1"/>
          <p:nvPr/>
        </p:nvSpPr>
        <p:spPr>
          <a:xfrm>
            <a:off x="7251192" y="365760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Account, terms, documents</a:t>
            </a:r>
            <a:endParaRPr lang="en-US" sz="1200" dirty="0"/>
          </a:p>
        </p:txBody>
      </p:sp>
      <p:sp>
        <p:nvSpPr>
          <p:cNvPr id="32" name="mod-6"/>
          <p:cNvSpPr/>
          <p:nvPr/>
        </p:nvSpPr>
        <p:spPr>
          <a:xfrm>
            <a:off x="297180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3" name="Text 31"/>
          <p:cNvSpPr txBox="1"/>
          <p:nvPr/>
        </p:nvSpPr>
        <p:spPr>
          <a:xfrm>
            <a:off x="304495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User administration</a:t>
            </a:r>
            <a:endParaRPr lang="en-US" sz="1400" dirty="0"/>
          </a:p>
        </p:txBody>
      </p:sp>
      <p:sp>
        <p:nvSpPr>
          <p:cNvPr id="34" name="Text 32"/>
          <p:cNvSpPr txBox="1"/>
          <p:nvPr/>
        </p:nvSpPr>
        <p:spPr>
          <a:xfrm>
            <a:off x="304495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Roles, two-factor</a:t>
            </a:r>
            <a:endParaRPr lang="en-US" sz="1200" dirty="0"/>
          </a:p>
        </p:txBody>
      </p:sp>
      <p:sp>
        <p:nvSpPr>
          <p:cNvPr id="35" name="mod-7"/>
          <p:cNvSpPr/>
          <p:nvPr/>
        </p:nvSpPr>
        <p:spPr>
          <a:xfrm>
            <a:off x="507492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6" name="Text 34"/>
          <p:cNvSpPr txBox="1"/>
          <p:nvPr/>
        </p:nvSpPr>
        <p:spPr>
          <a:xfrm>
            <a:off x="514807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Audit trail</a:t>
            </a:r>
            <a:endParaRPr lang="en-US" sz="1400" dirty="0"/>
          </a:p>
        </p:txBody>
      </p:sp>
      <p:sp>
        <p:nvSpPr>
          <p:cNvPr id="37" name="Text 35"/>
          <p:cNvSpPr txBox="1"/>
          <p:nvPr/>
        </p:nvSpPr>
        <p:spPr>
          <a:xfrm>
            <a:off x="514807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Append-only</a:t>
            </a:r>
            <a:endParaRPr lang="en-US" sz="1200" dirty="0"/>
          </a:p>
        </p:txBody>
      </p:sp>
      <p:sp>
        <p:nvSpPr>
          <p:cNvPr id="38" name="mod-8"/>
          <p:cNvSpPr/>
          <p:nvPr/>
        </p:nvSpPr>
        <p:spPr>
          <a:xfrm>
            <a:off x="7178040" y="4480560"/>
            <a:ext cx="1965960" cy="1280160"/>
          </a:xfrm>
          <a:prstGeom prst="roundRect">
            <a:avLst>
              <a:gd name="adj" fmla="val 5714"/>
            </a:avLst>
          </a:prstGeom>
          <a:solidFill>
            <a:schemeClr val="accent2">
              <a:alpha val="12000"/>
            </a:schemeClr>
          </a:solidFill>
          <a:ln w="9525">
            <a:solidFill>
              <a:schemeClr val="accent2"/>
            </a:solidFill>
            <a:prstDash val="solid"/>
          </a:ln>
        </p:spPr>
      </p:sp>
      <p:sp>
        <p:nvSpPr>
          <p:cNvPr id="39" name="Text 37"/>
          <p:cNvSpPr txBox="1"/>
          <p:nvPr/>
        </p:nvSpPr>
        <p:spPr>
          <a:xfrm>
            <a:off x="7251192" y="4572000"/>
            <a:ext cx="1828800" cy="502920"/>
          </a:xfrm>
          <a:prstGeom prst="rect">
            <a:avLst/>
          </a:prstGeom>
          <a:noFill/>
          <a:ln/>
        </p:spPr>
        <p:txBody>
          <a:bodyPr wrap="square" lIns="1016" tIns="1016" rIns="1016" bIns="1016" rtlCol="0" anchor="t"/>
          <a:lstStyle/>
          <a:p>
            <a:pPr algn="l" indent="0" marL="0">
              <a:buNone/>
            </a:pPr>
            <a:r>
              <a:rPr lang="en-US" sz="1400" b="1" dirty="0">
                <a:solidFill>
                  <a:schemeClr val="tx1"/>
                </a:solidFill>
              </a:rPr>
              <a:t>Portal terms</a:t>
            </a:r>
            <a:endParaRPr lang="en-US" sz="1400" dirty="0"/>
          </a:p>
        </p:txBody>
      </p:sp>
      <p:sp>
        <p:nvSpPr>
          <p:cNvPr id="40" name="Text 38"/>
          <p:cNvSpPr txBox="1"/>
          <p:nvPr/>
        </p:nvSpPr>
        <p:spPr>
          <a:xfrm>
            <a:off x="7251192" y="5120640"/>
            <a:ext cx="1828800" cy="548640"/>
          </a:xfrm>
          <a:prstGeom prst="rect">
            <a:avLst/>
          </a:prstGeom>
          <a:noFill/>
          <a:ln/>
        </p:spPr>
        <p:txBody>
          <a:bodyPr wrap="square" lIns="1016" tIns="1016" rIns="1016" bIns="1016" rtlCol="0" anchor="t"/>
          <a:lstStyle/>
          <a:p>
            <a:pPr algn="l" indent="0" marL="0">
              <a:buNone/>
            </a:pPr>
            <a:r>
              <a:rPr lang="en-US" sz="1200" dirty="0">
                <a:solidFill>
                  <a:schemeClr val="tx2"/>
                </a:solidFill>
              </a:rPr>
              <a:t>Versions, acceptances</a:t>
            </a:r>
            <a:endParaRPr lang="en-US" sz="1200" dirty="0"/>
          </a:p>
        </p:txBody>
      </p:sp>
      <p:sp>
        <p:nvSpPr>
          <p:cNvPr id="41" name="Text 39"/>
          <p:cNvSpPr txBox="1"/>
          <p:nvPr/>
        </p:nvSpPr>
        <p:spPr>
          <a:xfrm>
            <a:off x="2971800" y="5897880"/>
            <a:ext cx="6217920" cy="365760"/>
          </a:xfrm>
          <a:prstGeom prst="rect">
            <a:avLst/>
          </a:prstGeom>
          <a:noFill/>
          <a:ln/>
        </p:spPr>
        <p:txBody>
          <a:bodyPr wrap="square" lIns="0" tIns="0" rIns="0" bIns="0" rtlCol="0" anchor="t"/>
          <a:lstStyle/>
          <a:p>
            <a:pPr algn="l" indent="0" marL="0">
              <a:buNone/>
            </a:pPr>
            <a:r>
              <a:rPr lang="en-US" sz="1200" i="1" dirty="0">
                <a:solidFill>
                  <a:schemeClr val="tx2"/>
                </a:solidFill>
              </a:rPr>
              <a:t>Blue: MIPS staff (admin, finance) · ochre: merchants and applicants</a:t>
            </a:r>
            <a:endParaRPr lang="en-US" sz="1200" dirty="0"/>
          </a:p>
        </p:txBody>
      </p:sp>
      <p:sp>
        <p:nvSpPr>
          <p:cNvPr id="42" name="out-0"/>
          <p:cNvSpPr/>
          <p:nvPr/>
        </p:nvSpPr>
        <p:spPr>
          <a:xfrm>
            <a:off x="9692640" y="1554480"/>
            <a:ext cx="2011680" cy="713232"/>
          </a:xfrm>
          <a:prstGeom prst="roundRect">
            <a:avLst>
              <a:gd name="adj" fmla="val 10256"/>
            </a:avLst>
          </a:prstGeom>
          <a:solidFill>
            <a:schemeClr val="bg2"/>
          </a:solidFill>
          <a:ln w="9525">
            <a:solidFill>
              <a:schemeClr val="bg2"/>
            </a:solidFill>
            <a:prstDash val="solid"/>
          </a:ln>
        </p:spPr>
      </p:sp>
      <p:sp>
        <p:nvSpPr>
          <p:cNvPr id="43" name="Text 41"/>
          <p:cNvSpPr txBox="1"/>
          <p:nvPr/>
        </p:nvSpPr>
        <p:spPr>
          <a:xfrm>
            <a:off x="9738360" y="1554480"/>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Monthly report, Excel</a:t>
            </a:r>
            <a:endParaRPr lang="en-US" sz="1300" dirty="0"/>
          </a:p>
        </p:txBody>
      </p:sp>
      <p:sp>
        <p:nvSpPr>
          <p:cNvPr id="44" name="out-1"/>
          <p:cNvSpPr/>
          <p:nvPr/>
        </p:nvSpPr>
        <p:spPr>
          <a:xfrm>
            <a:off x="9692640" y="2432304"/>
            <a:ext cx="2011680" cy="713232"/>
          </a:xfrm>
          <a:prstGeom prst="roundRect">
            <a:avLst>
              <a:gd name="adj" fmla="val 10256"/>
            </a:avLst>
          </a:prstGeom>
          <a:solidFill>
            <a:schemeClr val="bg2"/>
          </a:solidFill>
          <a:ln w="9525">
            <a:solidFill>
              <a:schemeClr val="bg2"/>
            </a:solidFill>
            <a:prstDash val="solid"/>
          </a:ln>
        </p:spPr>
      </p:sp>
      <p:sp>
        <p:nvSpPr>
          <p:cNvPr id="45" name="Text 43"/>
          <p:cNvSpPr txBox="1"/>
          <p:nvPr/>
        </p:nvSpPr>
        <p:spPr>
          <a:xfrm>
            <a:off x="9738360" y="2432304"/>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Invoices (VAT 15%)</a:t>
            </a:r>
            <a:endParaRPr lang="en-US" sz="1300" dirty="0"/>
          </a:p>
        </p:txBody>
      </p:sp>
      <p:sp>
        <p:nvSpPr>
          <p:cNvPr id="46" name="out-2"/>
          <p:cNvSpPr/>
          <p:nvPr/>
        </p:nvSpPr>
        <p:spPr>
          <a:xfrm>
            <a:off x="9692640" y="3310128"/>
            <a:ext cx="2011680" cy="713232"/>
          </a:xfrm>
          <a:prstGeom prst="roundRect">
            <a:avLst>
              <a:gd name="adj" fmla="val 10256"/>
            </a:avLst>
          </a:prstGeom>
          <a:solidFill>
            <a:schemeClr val="bg2"/>
          </a:solidFill>
          <a:ln w="9525">
            <a:solidFill>
              <a:schemeClr val="bg2"/>
            </a:solidFill>
            <a:prstDash val="solid"/>
          </a:ln>
        </p:spPr>
      </p:sp>
      <p:sp>
        <p:nvSpPr>
          <p:cNvPr id="47" name="Text 45"/>
          <p:cNvSpPr txBox="1"/>
          <p:nvPr/>
        </p:nvSpPr>
        <p:spPr>
          <a:xfrm>
            <a:off x="9738360" y="3310128"/>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Acquirer claims</a:t>
            </a:r>
            <a:endParaRPr lang="en-US" sz="1300" dirty="0"/>
          </a:p>
        </p:txBody>
      </p:sp>
      <p:sp>
        <p:nvSpPr>
          <p:cNvPr id="48" name="out-3"/>
          <p:cNvSpPr/>
          <p:nvPr/>
        </p:nvSpPr>
        <p:spPr>
          <a:xfrm>
            <a:off x="9692640" y="4187952"/>
            <a:ext cx="2011680" cy="713232"/>
          </a:xfrm>
          <a:prstGeom prst="roundRect">
            <a:avLst>
              <a:gd name="adj" fmla="val 10256"/>
            </a:avLst>
          </a:prstGeom>
          <a:solidFill>
            <a:schemeClr val="bg2"/>
          </a:solidFill>
          <a:ln w="9525">
            <a:solidFill>
              <a:schemeClr val="bg2"/>
            </a:solidFill>
            <a:prstDash val="solid"/>
          </a:ln>
        </p:spPr>
      </p:sp>
      <p:sp>
        <p:nvSpPr>
          <p:cNvPr id="49" name="Text 47"/>
          <p:cNvSpPr txBox="1"/>
          <p:nvPr/>
        </p:nvSpPr>
        <p:spPr>
          <a:xfrm>
            <a:off x="9738360" y="4187952"/>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Approved merchant</a:t>
            </a:r>
            <a:endParaRPr lang="en-US" sz="1300" dirty="0"/>
          </a:p>
        </p:txBody>
      </p:sp>
      <p:sp>
        <p:nvSpPr>
          <p:cNvPr id="50" name="out-4"/>
          <p:cNvSpPr/>
          <p:nvPr/>
        </p:nvSpPr>
        <p:spPr>
          <a:xfrm>
            <a:off x="9692640" y="5065776"/>
            <a:ext cx="2011680" cy="713232"/>
          </a:xfrm>
          <a:prstGeom prst="roundRect">
            <a:avLst>
              <a:gd name="adj" fmla="val 10256"/>
            </a:avLst>
          </a:prstGeom>
          <a:solidFill>
            <a:schemeClr val="bg2"/>
          </a:solidFill>
          <a:ln w="9525">
            <a:solidFill>
              <a:schemeClr val="bg2"/>
            </a:solidFill>
            <a:prstDash val="solid"/>
          </a:ln>
        </p:spPr>
      </p:sp>
      <p:sp>
        <p:nvSpPr>
          <p:cNvPr id="51" name="Text 49"/>
          <p:cNvSpPr txBox="1"/>
          <p:nvPr/>
        </p:nvSpPr>
        <p:spPr>
          <a:xfrm>
            <a:off x="9738360" y="5065776"/>
            <a:ext cx="1920240" cy="713232"/>
          </a:xfrm>
          <a:prstGeom prst="rect">
            <a:avLst/>
          </a:prstGeom>
          <a:noFill/>
          <a:ln/>
        </p:spPr>
        <p:txBody>
          <a:bodyPr wrap="square" lIns="1016" tIns="1016" rIns="1016" bIns="1016" rtlCol="0" anchor="ctr"/>
          <a:lstStyle/>
          <a:p>
            <a:pPr algn="l" indent="0" marL="0">
              <a:buNone/>
            </a:pPr>
            <a:r>
              <a:rPr lang="en-US" sz="1300" dirty="0">
                <a:solidFill>
                  <a:schemeClr val="tx1"/>
                </a:solidFill>
              </a:rPr>
              <a:t>Audit evidence</a:t>
            </a:r>
            <a:endParaRPr lang="en-US" sz="1300" dirty="0"/>
          </a:p>
        </p:txBody>
      </p:sp>
      <p:sp>
        <p:nvSpPr>
          <p:cNvPr id="52" name="Shape 50"/>
          <p:cNvSpPr/>
          <p:nvPr/>
        </p:nvSpPr>
        <p:spPr>
          <a:xfrm>
            <a:off x="2560320" y="3566160"/>
            <a:ext cx="320040" cy="0"/>
          </a:xfrm>
          <a:prstGeom prst="line">
            <a:avLst/>
          </a:prstGeom>
          <a:noFill/>
          <a:ln w="19050">
            <a:solidFill>
              <a:schemeClr val="tx2"/>
            </a:solidFill>
            <a:prstDash val="solid"/>
            <a:tailEnd type="triangle"/>
          </a:ln>
        </p:spPr>
      </p:sp>
      <p:sp>
        <p:nvSpPr>
          <p:cNvPr id="53" name="Shape 51"/>
          <p:cNvSpPr/>
          <p:nvPr/>
        </p:nvSpPr>
        <p:spPr>
          <a:xfrm>
            <a:off x="9281160" y="3566160"/>
            <a:ext cx="320040" cy="0"/>
          </a:xfrm>
          <a:prstGeom prst="line">
            <a:avLst/>
          </a:prstGeom>
          <a:noFill/>
          <a:ln w="19050">
            <a:solidFill>
              <a:schemeClr val="tx2"/>
            </a:solidFill>
            <a:prstDash val="solid"/>
            <a:tailEnd type="triangle"/>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Merchant onboarding: nine steps, three hard gates</a:t>
            </a:r>
            <a:endParaRPr lang="en-US" sz="3000" dirty="0"/>
          </a:p>
        </p:txBody>
      </p:sp>
      <p:sp>
        <p:nvSpPr>
          <p:cNvPr id="3" name="step-0"/>
          <p:cNvSpPr/>
          <p:nvPr/>
        </p:nvSpPr>
        <p:spPr>
          <a:xfrm>
            <a:off x="457200" y="146304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4" name="Text 2"/>
          <p:cNvSpPr txBox="1"/>
          <p:nvPr/>
        </p:nvSpPr>
        <p:spPr>
          <a:xfrm>
            <a:off x="548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548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Account</a:t>
            </a:r>
            <a:endParaRPr lang="en-US" sz="1500" dirty="0"/>
          </a:p>
        </p:txBody>
      </p:sp>
      <p:sp>
        <p:nvSpPr>
          <p:cNvPr id="6" name="Text 4"/>
          <p:cNvSpPr txBox="1"/>
          <p:nvPr/>
        </p:nvSpPr>
        <p:spPr>
          <a:xfrm>
            <a:off x="548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email verified</a:t>
            </a:r>
            <a:endParaRPr lang="en-US" sz="1200" dirty="0"/>
          </a:p>
        </p:txBody>
      </p:sp>
      <p:sp>
        <p:nvSpPr>
          <p:cNvPr id="7" name="Shape 5"/>
          <p:cNvSpPr/>
          <p:nvPr/>
        </p:nvSpPr>
        <p:spPr>
          <a:xfrm>
            <a:off x="2487168" y="2240280"/>
            <a:ext cx="237744" cy="0"/>
          </a:xfrm>
          <a:prstGeom prst="line">
            <a:avLst/>
          </a:prstGeom>
          <a:noFill/>
          <a:ln w="19050">
            <a:solidFill>
              <a:schemeClr val="tx2"/>
            </a:solidFill>
            <a:prstDash val="solid"/>
            <a:tailEnd type="triangle"/>
          </a:ln>
        </p:spPr>
      </p:sp>
      <p:sp>
        <p:nvSpPr>
          <p:cNvPr id="8" name="step-1"/>
          <p:cNvSpPr/>
          <p:nvPr/>
        </p:nvSpPr>
        <p:spPr>
          <a:xfrm>
            <a:off x="2743200" y="146304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9" name="Text 7"/>
          <p:cNvSpPr txBox="1"/>
          <p:nvPr/>
        </p:nvSpPr>
        <p:spPr>
          <a:xfrm>
            <a:off x="2834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2834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Two-factor</a:t>
            </a:r>
            <a:endParaRPr lang="en-US" sz="1500" dirty="0"/>
          </a:p>
        </p:txBody>
      </p:sp>
      <p:sp>
        <p:nvSpPr>
          <p:cNvPr id="11" name="Text 9"/>
          <p:cNvSpPr txBox="1"/>
          <p:nvPr/>
        </p:nvSpPr>
        <p:spPr>
          <a:xfrm>
            <a:off x="2834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mandatory</a:t>
            </a:r>
            <a:endParaRPr lang="en-US" sz="1200" dirty="0"/>
          </a:p>
        </p:txBody>
      </p:sp>
      <p:sp>
        <p:nvSpPr>
          <p:cNvPr id="12" name="Shape 10"/>
          <p:cNvSpPr/>
          <p:nvPr/>
        </p:nvSpPr>
        <p:spPr>
          <a:xfrm>
            <a:off x="4773168" y="2240280"/>
            <a:ext cx="237744" cy="0"/>
          </a:xfrm>
          <a:prstGeom prst="line">
            <a:avLst/>
          </a:prstGeom>
          <a:noFill/>
          <a:ln w="19050">
            <a:solidFill>
              <a:schemeClr val="tx2"/>
            </a:solidFill>
            <a:prstDash val="solid"/>
            <a:tailEnd type="triangle"/>
          </a:ln>
        </p:spPr>
      </p:sp>
      <p:sp>
        <p:nvSpPr>
          <p:cNvPr id="13" name="step-2"/>
          <p:cNvSpPr/>
          <p:nvPr/>
        </p:nvSpPr>
        <p:spPr>
          <a:xfrm>
            <a:off x="5029200" y="146304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14" name="Text 12"/>
          <p:cNvSpPr txBox="1"/>
          <p:nvPr/>
        </p:nvSpPr>
        <p:spPr>
          <a:xfrm>
            <a:off x="5120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3</a:t>
            </a:r>
            <a:endParaRPr lang="en-US" sz="2000" dirty="0"/>
          </a:p>
        </p:txBody>
      </p:sp>
      <p:sp>
        <p:nvSpPr>
          <p:cNvPr id="15" name="Text 13"/>
          <p:cNvSpPr txBox="1"/>
          <p:nvPr/>
        </p:nvSpPr>
        <p:spPr>
          <a:xfrm>
            <a:off x="5120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Terms of use</a:t>
            </a:r>
            <a:endParaRPr lang="en-US" sz="1500" dirty="0"/>
          </a:p>
        </p:txBody>
      </p:sp>
      <p:sp>
        <p:nvSpPr>
          <p:cNvPr id="16" name="Text 14"/>
          <p:cNvSpPr txBox="1"/>
          <p:nvPr/>
        </p:nvSpPr>
        <p:spPr>
          <a:xfrm>
            <a:off x="5120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current version</a:t>
            </a:r>
            <a:endParaRPr lang="en-US" sz="1200" dirty="0"/>
          </a:p>
        </p:txBody>
      </p:sp>
      <p:sp>
        <p:nvSpPr>
          <p:cNvPr id="17" name="Shape 15"/>
          <p:cNvSpPr/>
          <p:nvPr/>
        </p:nvSpPr>
        <p:spPr>
          <a:xfrm>
            <a:off x="7059168" y="2240280"/>
            <a:ext cx="237744" cy="0"/>
          </a:xfrm>
          <a:prstGeom prst="line">
            <a:avLst/>
          </a:prstGeom>
          <a:noFill/>
          <a:ln w="19050">
            <a:solidFill>
              <a:schemeClr val="tx2"/>
            </a:solidFill>
            <a:prstDash val="solid"/>
            <a:tailEnd type="triangle"/>
          </a:ln>
        </p:spPr>
      </p:sp>
      <p:sp>
        <p:nvSpPr>
          <p:cNvPr id="18" name="step-3"/>
          <p:cNvSpPr/>
          <p:nvPr/>
        </p:nvSpPr>
        <p:spPr>
          <a:xfrm>
            <a:off x="7315200" y="146304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19" name="Text 17"/>
          <p:cNvSpPr txBox="1"/>
          <p:nvPr/>
        </p:nvSpPr>
        <p:spPr>
          <a:xfrm>
            <a:off x="7406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4</a:t>
            </a:r>
            <a:endParaRPr lang="en-US" sz="2000" dirty="0"/>
          </a:p>
        </p:txBody>
      </p:sp>
      <p:sp>
        <p:nvSpPr>
          <p:cNvPr id="20" name="Text 18"/>
          <p:cNvSpPr txBox="1"/>
          <p:nvPr/>
        </p:nvSpPr>
        <p:spPr>
          <a:xfrm>
            <a:off x="7406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Pre-qualification</a:t>
            </a:r>
            <a:endParaRPr lang="en-US" sz="1500" dirty="0"/>
          </a:p>
        </p:txBody>
      </p:sp>
      <p:sp>
        <p:nvSpPr>
          <p:cNvPr id="21" name="Text 19"/>
          <p:cNvSpPr txBox="1"/>
          <p:nvPr/>
        </p:nvSpPr>
        <p:spPr>
          <a:xfrm>
            <a:off x="7406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company, volumes</a:t>
            </a:r>
            <a:endParaRPr lang="en-US" sz="1200" dirty="0"/>
          </a:p>
        </p:txBody>
      </p:sp>
      <p:sp>
        <p:nvSpPr>
          <p:cNvPr id="22" name="Shape 20"/>
          <p:cNvSpPr/>
          <p:nvPr/>
        </p:nvSpPr>
        <p:spPr>
          <a:xfrm>
            <a:off x="9345168" y="2240280"/>
            <a:ext cx="237744" cy="0"/>
          </a:xfrm>
          <a:prstGeom prst="line">
            <a:avLst/>
          </a:prstGeom>
          <a:noFill/>
          <a:ln w="19050">
            <a:solidFill>
              <a:schemeClr val="tx2"/>
            </a:solidFill>
            <a:prstDash val="solid"/>
            <a:tailEnd type="triangle"/>
          </a:ln>
        </p:spPr>
      </p:sp>
      <p:sp>
        <p:nvSpPr>
          <p:cNvPr id="23" name="step-4"/>
          <p:cNvSpPr/>
          <p:nvPr/>
        </p:nvSpPr>
        <p:spPr>
          <a:xfrm>
            <a:off x="9601200" y="1463040"/>
            <a:ext cx="2011680" cy="1554480"/>
          </a:xfrm>
          <a:prstGeom prst="roundRect">
            <a:avLst>
              <a:gd name="adj" fmla="val 4706"/>
            </a:avLst>
          </a:prstGeom>
          <a:solidFill>
            <a:schemeClr val="accent2">
              <a:alpha val="10000"/>
            </a:schemeClr>
          </a:solidFill>
          <a:ln w="9525">
            <a:solidFill>
              <a:schemeClr val="accent2"/>
            </a:solidFill>
            <a:prstDash val="solid"/>
          </a:ln>
        </p:spPr>
      </p:sp>
      <p:sp>
        <p:nvSpPr>
          <p:cNvPr id="24" name="Text 22"/>
          <p:cNvSpPr txBox="1"/>
          <p:nvPr/>
        </p:nvSpPr>
        <p:spPr>
          <a:xfrm>
            <a:off x="9692640" y="153619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5</a:t>
            </a:r>
            <a:endParaRPr lang="en-US" sz="2000" dirty="0"/>
          </a:p>
        </p:txBody>
      </p:sp>
      <p:sp>
        <p:nvSpPr>
          <p:cNvPr id="25" name="Text 23"/>
          <p:cNvSpPr txBox="1"/>
          <p:nvPr/>
        </p:nvSpPr>
        <p:spPr>
          <a:xfrm>
            <a:off x="9692640" y="196596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Acceptance</a:t>
            </a:r>
            <a:endParaRPr lang="en-US" sz="1500" dirty="0"/>
          </a:p>
        </p:txBody>
      </p:sp>
      <p:sp>
        <p:nvSpPr>
          <p:cNvPr id="26" name="Text 24"/>
          <p:cNvSpPr txBox="1"/>
          <p:nvPr/>
        </p:nvSpPr>
        <p:spPr>
          <a:xfrm>
            <a:off x="9692640" y="246888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opens the KYC case</a:t>
            </a:r>
            <a:endParaRPr lang="en-US" sz="1200" dirty="0"/>
          </a:p>
        </p:txBody>
      </p:sp>
      <p:sp>
        <p:nvSpPr>
          <p:cNvPr id="27" name="step-5"/>
          <p:cNvSpPr/>
          <p:nvPr/>
        </p:nvSpPr>
        <p:spPr>
          <a:xfrm>
            <a:off x="457200" y="356616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28" name="Text 26"/>
          <p:cNvSpPr txBox="1"/>
          <p:nvPr/>
        </p:nvSpPr>
        <p:spPr>
          <a:xfrm>
            <a:off x="548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6</a:t>
            </a:r>
            <a:endParaRPr lang="en-US" sz="2000" dirty="0"/>
          </a:p>
        </p:txBody>
      </p:sp>
      <p:sp>
        <p:nvSpPr>
          <p:cNvPr id="29" name="Text 27"/>
          <p:cNvSpPr txBox="1"/>
          <p:nvPr/>
        </p:nvSpPr>
        <p:spPr>
          <a:xfrm>
            <a:off x="548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People &amp; documents</a:t>
            </a:r>
            <a:endParaRPr lang="en-US" sz="1500" dirty="0"/>
          </a:p>
        </p:txBody>
      </p:sp>
      <p:sp>
        <p:nvSpPr>
          <p:cNvPr id="30" name="Text 28"/>
          <p:cNvSpPr txBox="1"/>
          <p:nvPr/>
        </p:nvSpPr>
        <p:spPr>
          <a:xfrm>
            <a:off x="548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directors, UBOs</a:t>
            </a:r>
            <a:endParaRPr lang="en-US" sz="1200" dirty="0"/>
          </a:p>
        </p:txBody>
      </p:sp>
      <p:sp>
        <p:nvSpPr>
          <p:cNvPr id="31" name="Shape 29"/>
          <p:cNvSpPr/>
          <p:nvPr/>
        </p:nvSpPr>
        <p:spPr>
          <a:xfrm>
            <a:off x="2487168" y="4343400"/>
            <a:ext cx="237744" cy="0"/>
          </a:xfrm>
          <a:prstGeom prst="line">
            <a:avLst/>
          </a:prstGeom>
          <a:noFill/>
          <a:ln w="19050">
            <a:solidFill>
              <a:schemeClr val="tx2"/>
            </a:solidFill>
            <a:prstDash val="solid"/>
            <a:tailEnd type="triangle"/>
          </a:ln>
        </p:spPr>
      </p:sp>
      <p:sp>
        <p:nvSpPr>
          <p:cNvPr id="32" name="step-6"/>
          <p:cNvSpPr/>
          <p:nvPr/>
        </p:nvSpPr>
        <p:spPr>
          <a:xfrm>
            <a:off x="2743200" y="3566160"/>
            <a:ext cx="2011680" cy="1554480"/>
          </a:xfrm>
          <a:prstGeom prst="roundRect">
            <a:avLst>
              <a:gd name="adj" fmla="val 4706"/>
            </a:avLst>
          </a:prstGeom>
          <a:solidFill>
            <a:schemeClr val="accent2">
              <a:alpha val="10000"/>
            </a:schemeClr>
          </a:solidFill>
          <a:ln w="9525">
            <a:solidFill>
              <a:schemeClr val="accent2"/>
            </a:solidFill>
            <a:prstDash val="solid"/>
          </a:ln>
        </p:spPr>
      </p:sp>
      <p:sp>
        <p:nvSpPr>
          <p:cNvPr id="33" name="Text 31"/>
          <p:cNvSpPr txBox="1"/>
          <p:nvPr/>
        </p:nvSpPr>
        <p:spPr>
          <a:xfrm>
            <a:off x="2834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7</a:t>
            </a:r>
            <a:endParaRPr lang="en-US" sz="2000" dirty="0"/>
          </a:p>
        </p:txBody>
      </p:sp>
      <p:sp>
        <p:nvSpPr>
          <p:cNvPr id="34" name="Text 32"/>
          <p:cNvSpPr txBox="1"/>
          <p:nvPr/>
        </p:nvSpPr>
        <p:spPr>
          <a:xfrm>
            <a:off x="2834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Document review</a:t>
            </a:r>
            <a:endParaRPr lang="en-US" sz="1500" dirty="0"/>
          </a:p>
        </p:txBody>
      </p:sp>
      <p:sp>
        <p:nvSpPr>
          <p:cNvPr id="35" name="Text 33"/>
          <p:cNvSpPr txBox="1"/>
          <p:nvPr/>
        </p:nvSpPr>
        <p:spPr>
          <a:xfrm>
            <a:off x="2834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not the uploader</a:t>
            </a:r>
            <a:endParaRPr lang="en-US" sz="1200" dirty="0"/>
          </a:p>
        </p:txBody>
      </p:sp>
      <p:sp>
        <p:nvSpPr>
          <p:cNvPr id="36" name="Shape 34"/>
          <p:cNvSpPr/>
          <p:nvPr/>
        </p:nvSpPr>
        <p:spPr>
          <a:xfrm>
            <a:off x="4773168" y="4343400"/>
            <a:ext cx="237744" cy="0"/>
          </a:xfrm>
          <a:prstGeom prst="line">
            <a:avLst/>
          </a:prstGeom>
          <a:noFill/>
          <a:ln w="19050">
            <a:solidFill>
              <a:schemeClr val="tx2"/>
            </a:solidFill>
            <a:prstDash val="solid"/>
            <a:tailEnd type="triangle"/>
          </a:ln>
        </p:spPr>
      </p:sp>
      <p:sp>
        <p:nvSpPr>
          <p:cNvPr id="37" name="step-7"/>
          <p:cNvSpPr/>
          <p:nvPr/>
        </p:nvSpPr>
        <p:spPr>
          <a:xfrm>
            <a:off x="5029200" y="3566160"/>
            <a:ext cx="2011680" cy="1554480"/>
          </a:xfrm>
          <a:prstGeom prst="roundRect">
            <a:avLst>
              <a:gd name="adj" fmla="val 4706"/>
            </a:avLst>
          </a:prstGeom>
          <a:solidFill>
            <a:schemeClr val="accent3">
              <a:alpha val="10000"/>
            </a:schemeClr>
          </a:solidFill>
          <a:ln w="9525">
            <a:solidFill>
              <a:schemeClr val="accent3"/>
            </a:solidFill>
            <a:prstDash val="solid"/>
          </a:ln>
        </p:spPr>
      </p:sp>
      <p:sp>
        <p:nvSpPr>
          <p:cNvPr id="38" name="Text 36"/>
          <p:cNvSpPr txBox="1"/>
          <p:nvPr/>
        </p:nvSpPr>
        <p:spPr>
          <a:xfrm>
            <a:off x="5120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3"/>
                </a:solidFill>
                <a:latin typeface="Cambria" pitchFamily="34" charset="0"/>
                <a:ea typeface="Cambria" pitchFamily="34" charset="-122"/>
                <a:cs typeface="Cambria" pitchFamily="34" charset="-120"/>
              </a:rPr>
              <a:t>8</a:t>
            </a:r>
            <a:endParaRPr lang="en-US" sz="2000" dirty="0"/>
          </a:p>
        </p:txBody>
      </p:sp>
      <p:sp>
        <p:nvSpPr>
          <p:cNvPr id="39" name="Text 37"/>
          <p:cNvSpPr txBox="1"/>
          <p:nvPr/>
        </p:nvSpPr>
        <p:spPr>
          <a:xfrm>
            <a:off x="5120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File submitted</a:t>
            </a:r>
            <a:endParaRPr lang="en-US" sz="1500" dirty="0"/>
          </a:p>
        </p:txBody>
      </p:sp>
      <p:sp>
        <p:nvSpPr>
          <p:cNvPr id="40" name="Text 38"/>
          <p:cNvSpPr txBox="1"/>
          <p:nvPr/>
        </p:nvSpPr>
        <p:spPr>
          <a:xfrm>
            <a:off x="5120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nothing missing</a:t>
            </a:r>
            <a:endParaRPr lang="en-US" sz="1200" dirty="0"/>
          </a:p>
        </p:txBody>
      </p:sp>
      <p:sp>
        <p:nvSpPr>
          <p:cNvPr id="41" name="Shape 39"/>
          <p:cNvSpPr/>
          <p:nvPr/>
        </p:nvSpPr>
        <p:spPr>
          <a:xfrm>
            <a:off x="7059168" y="4343400"/>
            <a:ext cx="237744" cy="0"/>
          </a:xfrm>
          <a:prstGeom prst="line">
            <a:avLst/>
          </a:prstGeom>
          <a:noFill/>
          <a:ln w="19050">
            <a:solidFill>
              <a:schemeClr val="tx2"/>
            </a:solidFill>
            <a:prstDash val="solid"/>
            <a:tailEnd type="triangle"/>
          </a:ln>
        </p:spPr>
      </p:sp>
      <p:sp>
        <p:nvSpPr>
          <p:cNvPr id="42" name="step-8"/>
          <p:cNvSpPr/>
          <p:nvPr/>
        </p:nvSpPr>
        <p:spPr>
          <a:xfrm>
            <a:off x="7315200" y="3566160"/>
            <a:ext cx="2011680" cy="1554480"/>
          </a:xfrm>
          <a:prstGeom prst="roundRect">
            <a:avLst>
              <a:gd name="adj" fmla="val 4706"/>
            </a:avLst>
          </a:prstGeom>
          <a:solidFill>
            <a:schemeClr val="accent1">
              <a:alpha val="18000"/>
            </a:schemeClr>
          </a:solidFill>
          <a:ln w="25400">
            <a:solidFill>
              <a:schemeClr val="accent1"/>
            </a:solidFill>
            <a:prstDash val="solid"/>
          </a:ln>
        </p:spPr>
      </p:sp>
      <p:sp>
        <p:nvSpPr>
          <p:cNvPr id="43" name="Text 41"/>
          <p:cNvSpPr txBox="1"/>
          <p:nvPr/>
        </p:nvSpPr>
        <p:spPr>
          <a:xfrm>
            <a:off x="7406640" y="3639312"/>
            <a:ext cx="548640" cy="411480"/>
          </a:xfrm>
          <a:prstGeom prst="rect">
            <a:avLst/>
          </a:prstGeom>
          <a:noFill/>
          <a:ln/>
        </p:spPr>
        <p:txBody>
          <a:bodyPr wrap="square" lIns="1016" tIns="1016" rIns="1016" bIns="1016" rtlCol="0" anchor="t"/>
          <a:lstStyle/>
          <a:p>
            <a:pPr algn="l" indent="0" marL="0">
              <a:buNone/>
            </a:pPr>
            <a:r>
              <a:rPr lang="en-US" sz="2000" b="1" dirty="0">
                <a:solidFill>
                  <a:schemeClr val="accent2"/>
                </a:solidFill>
                <a:latin typeface="Cambria" pitchFamily="34" charset="0"/>
                <a:ea typeface="Cambria" pitchFamily="34" charset="-122"/>
                <a:cs typeface="Cambria" pitchFamily="34" charset="-120"/>
              </a:rPr>
              <a:t>9</a:t>
            </a:r>
            <a:endParaRPr lang="en-US" sz="2000" dirty="0"/>
          </a:p>
        </p:txBody>
      </p:sp>
      <p:sp>
        <p:nvSpPr>
          <p:cNvPr id="44" name="Text 42"/>
          <p:cNvSpPr txBox="1"/>
          <p:nvPr/>
        </p:nvSpPr>
        <p:spPr>
          <a:xfrm>
            <a:off x="7406640" y="4069080"/>
            <a:ext cx="1828800" cy="548640"/>
          </a:xfrm>
          <a:prstGeom prst="rect">
            <a:avLst/>
          </a:prstGeom>
          <a:noFill/>
          <a:ln/>
        </p:spPr>
        <p:txBody>
          <a:bodyPr wrap="square" lIns="1016" tIns="1016" rIns="1016" bIns="1016" rtlCol="0" anchor="t"/>
          <a:lstStyle/>
          <a:p>
            <a:pPr algn="l" indent="0" marL="0">
              <a:buNone/>
            </a:pPr>
            <a:r>
              <a:rPr lang="en-US" sz="1500" b="1" dirty="0">
                <a:solidFill>
                  <a:schemeClr val="tx1"/>
                </a:solidFill>
              </a:rPr>
              <a:t>Approval</a:t>
            </a:r>
            <a:endParaRPr lang="en-US" sz="1500" dirty="0"/>
          </a:p>
        </p:txBody>
      </p:sp>
      <p:sp>
        <p:nvSpPr>
          <p:cNvPr id="45" name="Text 43"/>
          <p:cNvSpPr txBox="1"/>
          <p:nvPr/>
        </p:nvSpPr>
        <p:spPr>
          <a:xfrm>
            <a:off x="7406640" y="4572000"/>
            <a:ext cx="1828800" cy="457200"/>
          </a:xfrm>
          <a:prstGeom prst="rect">
            <a:avLst/>
          </a:prstGeom>
          <a:noFill/>
          <a:ln/>
        </p:spPr>
        <p:txBody>
          <a:bodyPr wrap="square" lIns="1016" tIns="1016" rIns="1016" bIns="1016" rtlCol="0" anchor="t"/>
          <a:lstStyle/>
          <a:p>
            <a:pPr algn="l" indent="0" marL="0">
              <a:buNone/>
            </a:pPr>
            <a:r>
              <a:rPr lang="en-US" sz="1200" dirty="0">
                <a:solidFill>
                  <a:schemeClr val="tx2"/>
                </a:solidFill>
              </a:rPr>
              <a:t>approver ≠ analyst</a:t>
            </a:r>
            <a:endParaRPr lang="en-US" sz="1200" dirty="0"/>
          </a:p>
        </p:txBody>
      </p:sp>
      <p:sp>
        <p:nvSpPr>
          <p:cNvPr id="46" name="leg-0"/>
          <p:cNvSpPr/>
          <p:nvPr/>
        </p:nvSpPr>
        <p:spPr>
          <a:xfrm>
            <a:off x="6949440" y="5669280"/>
            <a:ext cx="274320" cy="274320"/>
          </a:xfrm>
          <a:prstGeom prst="roundRect">
            <a:avLst>
              <a:gd name="adj" fmla="val 26667"/>
            </a:avLst>
          </a:prstGeom>
          <a:solidFill>
            <a:schemeClr val="accent3">
              <a:alpha val="10000"/>
            </a:schemeClr>
          </a:solidFill>
          <a:ln w="9525">
            <a:solidFill>
              <a:schemeClr val="accent3"/>
            </a:solidFill>
            <a:prstDash val="solid"/>
          </a:ln>
        </p:spPr>
      </p:sp>
      <p:sp>
        <p:nvSpPr>
          <p:cNvPr id="47" name="Text 45"/>
          <p:cNvSpPr txBox="1"/>
          <p:nvPr/>
        </p:nvSpPr>
        <p:spPr>
          <a:xfrm>
            <a:off x="731520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Merchant</a:t>
            </a:r>
            <a:endParaRPr lang="en-US" sz="1100" dirty="0"/>
          </a:p>
        </p:txBody>
      </p:sp>
      <p:sp>
        <p:nvSpPr>
          <p:cNvPr id="48" name="leg-1"/>
          <p:cNvSpPr/>
          <p:nvPr/>
        </p:nvSpPr>
        <p:spPr>
          <a:xfrm>
            <a:off x="8686800" y="5669280"/>
            <a:ext cx="274320" cy="274320"/>
          </a:xfrm>
          <a:prstGeom prst="roundRect">
            <a:avLst>
              <a:gd name="adj" fmla="val 26667"/>
            </a:avLst>
          </a:prstGeom>
          <a:solidFill>
            <a:schemeClr val="accent2">
              <a:alpha val="10000"/>
            </a:schemeClr>
          </a:solidFill>
          <a:ln w="9525">
            <a:solidFill>
              <a:schemeClr val="accent2"/>
            </a:solidFill>
            <a:prstDash val="solid"/>
          </a:ln>
        </p:spPr>
      </p:sp>
      <p:sp>
        <p:nvSpPr>
          <p:cNvPr id="49" name="Text 47"/>
          <p:cNvSpPr txBox="1"/>
          <p:nvPr/>
        </p:nvSpPr>
        <p:spPr>
          <a:xfrm>
            <a:off x="905256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MIPS staff</a:t>
            </a:r>
            <a:endParaRPr lang="en-US" sz="1100" dirty="0"/>
          </a:p>
        </p:txBody>
      </p:sp>
      <p:sp>
        <p:nvSpPr>
          <p:cNvPr id="50" name="leg-2"/>
          <p:cNvSpPr/>
          <p:nvPr/>
        </p:nvSpPr>
        <p:spPr>
          <a:xfrm>
            <a:off x="10424160" y="5669280"/>
            <a:ext cx="274320" cy="274320"/>
          </a:xfrm>
          <a:prstGeom prst="roundRect">
            <a:avLst>
              <a:gd name="adj" fmla="val 26667"/>
            </a:avLst>
          </a:prstGeom>
          <a:solidFill>
            <a:schemeClr val="accent1">
              <a:alpha val="18000"/>
            </a:schemeClr>
          </a:solidFill>
          <a:ln w="25400">
            <a:solidFill>
              <a:schemeClr val="accent1"/>
            </a:solidFill>
            <a:prstDash val="solid"/>
          </a:ln>
        </p:spPr>
      </p:sp>
      <p:sp>
        <p:nvSpPr>
          <p:cNvPr id="51" name="Text 49"/>
          <p:cNvSpPr txBox="1"/>
          <p:nvPr/>
        </p:nvSpPr>
        <p:spPr>
          <a:xfrm>
            <a:off x="10789920" y="5596128"/>
            <a:ext cx="1371600" cy="411480"/>
          </a:xfrm>
          <a:prstGeom prst="rect">
            <a:avLst/>
          </a:prstGeom>
          <a:noFill/>
          <a:ln/>
        </p:spPr>
        <p:txBody>
          <a:bodyPr wrap="square" lIns="0" tIns="0" rIns="0" bIns="0" rtlCol="0" anchor="ctr"/>
          <a:lstStyle/>
          <a:p>
            <a:pPr algn="l" indent="0" marL="0">
              <a:buNone/>
            </a:pPr>
            <a:r>
              <a:rPr lang="en-US" sz="1100" dirty="0">
                <a:solidFill>
                  <a:schemeClr val="tx2"/>
                </a:solidFill>
              </a:rPr>
              <a:t>Gate</a:t>
            </a:r>
            <a:endParaRPr lang="en-US" sz="1100" dirty="0"/>
          </a:p>
        </p:txBody>
      </p:sp>
      <p:sp>
        <p:nvSpPr>
          <p:cNvPr id="52" name="Text 50"/>
          <p:cNvSpPr txBox="1"/>
          <p:nvPr/>
        </p:nvSpPr>
        <p:spPr>
          <a:xfrm>
            <a:off x="457200" y="5623560"/>
            <a:ext cx="6309360" cy="411480"/>
          </a:xfrm>
          <a:prstGeom prst="rect">
            <a:avLst/>
          </a:prstGeom>
          <a:noFill/>
          <a:ln/>
        </p:spPr>
        <p:txBody>
          <a:bodyPr wrap="square" lIns="0" tIns="0" rIns="0" bIns="0" rtlCol="0" anchor="ctr"/>
          <a:lstStyle/>
          <a:p>
            <a:pPr algn="l" indent="0" marL="0">
              <a:buNone/>
            </a:pPr>
            <a:r>
              <a:rPr lang="en-US" sz="1400" i="1" dirty="0">
                <a:solidFill>
                  <a:schemeClr val="tx1"/>
                </a:solidFill>
              </a:rPr>
              <a:t>A submitted file is never shown to the merchant as approved.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Controls built into the platform</a:t>
            </a:r>
            <a:endParaRPr lang="en-US" sz="3000" dirty="0"/>
          </a:p>
        </p:txBody>
      </p:sp>
      <p:sp>
        <p:nvSpPr>
          <p:cNvPr id="3" name="ctrl-0"/>
          <p:cNvSpPr/>
          <p:nvPr/>
        </p:nvSpPr>
        <p:spPr>
          <a:xfrm>
            <a:off x="457200" y="1325880"/>
            <a:ext cx="3566160" cy="2011680"/>
          </a:xfrm>
          <a:prstGeom prst="roundRect">
            <a:avLst>
              <a:gd name="adj" fmla="val 3636"/>
            </a:avLst>
          </a:prstGeom>
          <a:solidFill>
            <a:schemeClr val="bg2"/>
          </a:solidFill>
          <a:ln w="9525">
            <a:solidFill>
              <a:schemeClr val="bg2"/>
            </a:solidFill>
            <a:prstDash val="solid"/>
          </a:ln>
        </p:spPr>
      </p:sp>
      <p:sp>
        <p:nvSpPr>
          <p:cNvPr id="4" name="cdot-0"/>
          <p:cNvSpPr/>
          <p:nvPr/>
        </p:nvSpPr>
        <p:spPr>
          <a:xfrm>
            <a:off x="685800" y="1600200"/>
            <a:ext cx="292608" cy="292608"/>
          </a:xfrm>
          <a:prstGeom prst="ellipse">
            <a:avLst/>
          </a:prstGeom>
          <a:solidFill>
            <a:schemeClr val="accent1"/>
          </a:solidFill>
          <a:ln w="12700">
            <a:solidFill>
              <a:schemeClr val="accent1"/>
            </a:solidFill>
            <a:prstDash val="solid"/>
          </a:ln>
        </p:spPr>
      </p:sp>
      <p:sp>
        <p:nvSpPr>
          <p:cNvPr id="5" name="Text 3"/>
          <p:cNvSpPr txBox="1"/>
          <p:nvPr/>
        </p:nvSpPr>
        <p:spPr>
          <a:xfrm>
            <a:off x="109728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Four-eyes</a:t>
            </a:r>
            <a:endParaRPr lang="en-US" sz="1700" dirty="0"/>
          </a:p>
        </p:txBody>
      </p:sp>
      <p:sp>
        <p:nvSpPr>
          <p:cNvPr id="6" name="Text 4"/>
          <p:cNvSpPr txBox="1"/>
          <p:nvPr/>
        </p:nvSpPr>
        <p:spPr>
          <a:xfrm>
            <a:off x="68580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 document is accepted by someone other than its uploader. A case is decided by an approver who never handled it: not its creator, nor any past or present analyst.</a:t>
            </a:r>
            <a:endParaRPr lang="en-US" sz="1300" dirty="0"/>
          </a:p>
        </p:txBody>
      </p:sp>
      <p:sp>
        <p:nvSpPr>
          <p:cNvPr id="7" name="ctrl-1"/>
          <p:cNvSpPr/>
          <p:nvPr/>
        </p:nvSpPr>
        <p:spPr>
          <a:xfrm>
            <a:off x="4251960" y="1325880"/>
            <a:ext cx="3566160" cy="2011680"/>
          </a:xfrm>
          <a:prstGeom prst="roundRect">
            <a:avLst>
              <a:gd name="adj" fmla="val 3636"/>
            </a:avLst>
          </a:prstGeom>
          <a:solidFill>
            <a:schemeClr val="bg2"/>
          </a:solidFill>
          <a:ln w="9525">
            <a:solidFill>
              <a:schemeClr val="bg2"/>
            </a:solidFill>
            <a:prstDash val="solid"/>
          </a:ln>
        </p:spPr>
      </p:sp>
      <p:sp>
        <p:nvSpPr>
          <p:cNvPr id="8" name="cdot-1"/>
          <p:cNvSpPr/>
          <p:nvPr/>
        </p:nvSpPr>
        <p:spPr>
          <a:xfrm>
            <a:off x="4480560" y="1600200"/>
            <a:ext cx="292608" cy="292608"/>
          </a:xfrm>
          <a:prstGeom prst="ellipse">
            <a:avLst/>
          </a:prstGeom>
          <a:solidFill>
            <a:schemeClr val="accent1"/>
          </a:solidFill>
          <a:ln w="12700">
            <a:solidFill>
              <a:schemeClr val="accent1"/>
            </a:solidFill>
            <a:prstDash val="solid"/>
          </a:ln>
        </p:spPr>
      </p:sp>
      <p:sp>
        <p:nvSpPr>
          <p:cNvPr id="9" name="Text 7"/>
          <p:cNvSpPr txBox="1"/>
          <p:nvPr/>
        </p:nvSpPr>
        <p:spPr>
          <a:xfrm>
            <a:off x="489204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Approval blockers</a:t>
            </a:r>
            <a:endParaRPr lang="en-US" sz="1700" dirty="0"/>
          </a:p>
        </p:txBody>
      </p:sp>
      <p:sp>
        <p:nvSpPr>
          <p:cNvPr id="10" name="Text 8"/>
          <p:cNvSpPr txBox="1"/>
          <p:nvPr/>
        </p:nvSpPr>
        <p:spPr>
          <a:xfrm>
            <a:off x="448056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Approval is refused by the server while documents, owners, screening or risk rating are missing.</a:t>
            </a:r>
            <a:endParaRPr lang="en-US" sz="1300" dirty="0"/>
          </a:p>
        </p:txBody>
      </p:sp>
      <p:sp>
        <p:nvSpPr>
          <p:cNvPr id="11" name="ctrl-2"/>
          <p:cNvSpPr/>
          <p:nvPr/>
        </p:nvSpPr>
        <p:spPr>
          <a:xfrm>
            <a:off x="8046720" y="1325880"/>
            <a:ext cx="3566160" cy="2011680"/>
          </a:xfrm>
          <a:prstGeom prst="roundRect">
            <a:avLst>
              <a:gd name="adj" fmla="val 3636"/>
            </a:avLst>
          </a:prstGeom>
          <a:solidFill>
            <a:schemeClr val="bg2"/>
          </a:solidFill>
          <a:ln w="9525">
            <a:solidFill>
              <a:schemeClr val="bg2"/>
            </a:solidFill>
            <a:prstDash val="solid"/>
          </a:ln>
        </p:spPr>
      </p:sp>
      <p:sp>
        <p:nvSpPr>
          <p:cNvPr id="12" name="cdot-2"/>
          <p:cNvSpPr/>
          <p:nvPr/>
        </p:nvSpPr>
        <p:spPr>
          <a:xfrm>
            <a:off x="8275320" y="1600200"/>
            <a:ext cx="292608" cy="292608"/>
          </a:xfrm>
          <a:prstGeom prst="ellipse">
            <a:avLst/>
          </a:prstGeom>
          <a:solidFill>
            <a:schemeClr val="accent1"/>
          </a:solidFill>
          <a:ln w="12700">
            <a:solidFill>
              <a:schemeClr val="accent1"/>
            </a:solidFill>
            <a:prstDash val="solid"/>
          </a:ln>
        </p:spPr>
      </p:sp>
      <p:sp>
        <p:nvSpPr>
          <p:cNvPr id="13" name="Text 11"/>
          <p:cNvSpPr txBox="1"/>
          <p:nvPr/>
        </p:nvSpPr>
        <p:spPr>
          <a:xfrm>
            <a:off x="8686800" y="150876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Strong authentication</a:t>
            </a:r>
            <a:endParaRPr lang="en-US" sz="1700" dirty="0"/>
          </a:p>
        </p:txBody>
      </p:sp>
      <p:sp>
        <p:nvSpPr>
          <p:cNvPr id="14" name="Text 12"/>
          <p:cNvSpPr txBox="1"/>
          <p:nvPr/>
        </p:nvSpPr>
        <p:spPr>
          <a:xfrm>
            <a:off x="8275320" y="210312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Two-factor authentication mandatory for finance, admin and merchants. Account locked after 5 failed sign-ins; other sessions end on a password change.</a:t>
            </a:r>
            <a:endParaRPr lang="en-US" sz="1300" dirty="0"/>
          </a:p>
        </p:txBody>
      </p:sp>
      <p:sp>
        <p:nvSpPr>
          <p:cNvPr id="15" name="ctrl-3"/>
          <p:cNvSpPr/>
          <p:nvPr/>
        </p:nvSpPr>
        <p:spPr>
          <a:xfrm>
            <a:off x="457200" y="3566160"/>
            <a:ext cx="3566160" cy="2011680"/>
          </a:xfrm>
          <a:prstGeom prst="roundRect">
            <a:avLst>
              <a:gd name="adj" fmla="val 3636"/>
            </a:avLst>
          </a:prstGeom>
          <a:solidFill>
            <a:schemeClr val="bg2"/>
          </a:solidFill>
          <a:ln w="9525">
            <a:solidFill>
              <a:schemeClr val="bg2"/>
            </a:solidFill>
            <a:prstDash val="solid"/>
          </a:ln>
        </p:spPr>
      </p:sp>
      <p:sp>
        <p:nvSpPr>
          <p:cNvPr id="16" name="cdot-3"/>
          <p:cNvSpPr/>
          <p:nvPr/>
        </p:nvSpPr>
        <p:spPr>
          <a:xfrm>
            <a:off x="685800" y="3840480"/>
            <a:ext cx="292608" cy="292608"/>
          </a:xfrm>
          <a:prstGeom prst="ellipse">
            <a:avLst/>
          </a:prstGeom>
          <a:solidFill>
            <a:schemeClr val="accent1"/>
          </a:solidFill>
          <a:ln w="12700">
            <a:solidFill>
              <a:schemeClr val="accent1"/>
            </a:solidFill>
            <a:prstDash val="solid"/>
          </a:ln>
        </p:spPr>
      </p:sp>
      <p:sp>
        <p:nvSpPr>
          <p:cNvPr id="17" name="Text 15"/>
          <p:cNvSpPr txBox="1"/>
          <p:nvPr/>
        </p:nvSpPr>
        <p:spPr>
          <a:xfrm>
            <a:off x="109728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Segregated access</a:t>
            </a:r>
            <a:endParaRPr lang="en-US" sz="1700" dirty="0"/>
          </a:p>
        </p:txBody>
      </p:sp>
      <p:sp>
        <p:nvSpPr>
          <p:cNvPr id="18" name="Text 16"/>
          <p:cNvSpPr txBox="1"/>
          <p:nvPr/>
        </p:nvSpPr>
        <p:spPr>
          <a:xfrm>
            <a:off x="68580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Staff and merchants use separate accounts and sessions; a merchant only reaches its own case.</a:t>
            </a:r>
            <a:endParaRPr lang="en-US" sz="1300" dirty="0"/>
          </a:p>
        </p:txBody>
      </p:sp>
      <p:sp>
        <p:nvSpPr>
          <p:cNvPr id="19" name="ctrl-4"/>
          <p:cNvSpPr/>
          <p:nvPr/>
        </p:nvSpPr>
        <p:spPr>
          <a:xfrm>
            <a:off x="4251960" y="3566160"/>
            <a:ext cx="3566160" cy="2011680"/>
          </a:xfrm>
          <a:prstGeom prst="roundRect">
            <a:avLst>
              <a:gd name="adj" fmla="val 3636"/>
            </a:avLst>
          </a:prstGeom>
          <a:solidFill>
            <a:schemeClr val="bg2"/>
          </a:solidFill>
          <a:ln w="9525">
            <a:solidFill>
              <a:schemeClr val="bg2"/>
            </a:solidFill>
            <a:prstDash val="solid"/>
          </a:ln>
        </p:spPr>
      </p:sp>
      <p:sp>
        <p:nvSpPr>
          <p:cNvPr id="20" name="cdot-4"/>
          <p:cNvSpPr/>
          <p:nvPr/>
        </p:nvSpPr>
        <p:spPr>
          <a:xfrm>
            <a:off x="4480560" y="3840480"/>
            <a:ext cx="292608" cy="292608"/>
          </a:xfrm>
          <a:prstGeom prst="ellipse">
            <a:avLst/>
          </a:prstGeom>
          <a:solidFill>
            <a:schemeClr val="accent1"/>
          </a:solidFill>
          <a:ln w="12700">
            <a:solidFill>
              <a:schemeClr val="accent1"/>
            </a:solidFill>
            <a:prstDash val="solid"/>
          </a:ln>
        </p:spPr>
      </p:sp>
      <p:sp>
        <p:nvSpPr>
          <p:cNvPr id="21" name="Text 19"/>
          <p:cNvSpPr txBox="1"/>
          <p:nvPr/>
        </p:nvSpPr>
        <p:spPr>
          <a:xfrm>
            <a:off x="489204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Consent record</a:t>
            </a:r>
            <a:endParaRPr lang="en-US" sz="1700" dirty="0"/>
          </a:p>
        </p:txBody>
      </p:sp>
      <p:sp>
        <p:nvSpPr>
          <p:cNvPr id="22" name="Text 20"/>
          <p:cNvSpPr txBox="1"/>
          <p:nvPr/>
        </p:nvSpPr>
        <p:spPr>
          <a:xfrm>
            <a:off x="448056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Each acceptance of the terms stores the version, date, IP address and a fingerprint of the exact text.</a:t>
            </a:r>
            <a:endParaRPr lang="en-US" sz="1300" dirty="0"/>
          </a:p>
        </p:txBody>
      </p:sp>
      <p:sp>
        <p:nvSpPr>
          <p:cNvPr id="23" name="ctrl-5"/>
          <p:cNvSpPr/>
          <p:nvPr/>
        </p:nvSpPr>
        <p:spPr>
          <a:xfrm>
            <a:off x="8046720" y="3566160"/>
            <a:ext cx="3566160" cy="2011680"/>
          </a:xfrm>
          <a:prstGeom prst="roundRect">
            <a:avLst>
              <a:gd name="adj" fmla="val 3636"/>
            </a:avLst>
          </a:prstGeom>
          <a:solidFill>
            <a:schemeClr val="bg2"/>
          </a:solidFill>
          <a:ln w="9525">
            <a:solidFill>
              <a:schemeClr val="bg2"/>
            </a:solidFill>
            <a:prstDash val="solid"/>
          </a:ln>
        </p:spPr>
      </p:sp>
      <p:sp>
        <p:nvSpPr>
          <p:cNvPr id="24" name="cdot-5"/>
          <p:cNvSpPr/>
          <p:nvPr/>
        </p:nvSpPr>
        <p:spPr>
          <a:xfrm>
            <a:off x="8275320" y="3840480"/>
            <a:ext cx="292608" cy="292608"/>
          </a:xfrm>
          <a:prstGeom prst="ellipse">
            <a:avLst/>
          </a:prstGeom>
          <a:solidFill>
            <a:schemeClr val="accent1"/>
          </a:solidFill>
          <a:ln w="12700">
            <a:solidFill>
              <a:schemeClr val="accent1"/>
            </a:solidFill>
            <a:prstDash val="solid"/>
          </a:ln>
        </p:spPr>
      </p:sp>
      <p:sp>
        <p:nvSpPr>
          <p:cNvPr id="25" name="Text 23"/>
          <p:cNvSpPr txBox="1"/>
          <p:nvPr/>
        </p:nvSpPr>
        <p:spPr>
          <a:xfrm>
            <a:off x="8686800" y="3749040"/>
            <a:ext cx="278892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Audit trail</a:t>
            </a:r>
            <a:endParaRPr lang="en-US" sz="1700" dirty="0"/>
          </a:p>
        </p:txBody>
      </p:sp>
      <p:sp>
        <p:nvSpPr>
          <p:cNvPr id="26" name="Text 24"/>
          <p:cNvSpPr txBox="1"/>
          <p:nvPr/>
        </p:nvSpPr>
        <p:spPr>
          <a:xfrm>
            <a:off x="8275320" y="4343400"/>
            <a:ext cx="3200400" cy="1143000"/>
          </a:xfrm>
          <a:prstGeom prst="rect">
            <a:avLst/>
          </a:prstGeom>
          <a:noFill/>
          <a:ln/>
        </p:spPr>
        <p:txBody>
          <a:bodyPr wrap="square" lIns="1016" tIns="1016" rIns="1016" bIns="1016" rtlCol="0" anchor="t"/>
          <a:lstStyle/>
          <a:p>
            <a:pPr algn="l" indent="0" marL="0">
              <a:buNone/>
            </a:pPr>
            <a:r>
              <a:rPr lang="en-US" sz="1300" dirty="0">
                <a:solidFill>
                  <a:schemeClr val="tx1"/>
                </a:solidFill>
              </a:rPr>
              <a:t>Append-only log of every action, including document fingerprints and decisions with their notes.</a:t>
            </a:r>
            <a:endParaRPr lang="en-US" sz="1300" dirty="0"/>
          </a:p>
        </p:txBody>
      </p:sp>
      <p:sp>
        <p:nvSpPr>
          <p:cNvPr id="27" name="Text 25"/>
          <p:cNvSpPr txBox="1"/>
          <p:nvPr/>
        </p:nvSpPr>
        <p:spPr>
          <a:xfrm>
            <a:off x="457200" y="58521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Sanctions and PEP screening is recorded manually per person; no screening provider is connected yet.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Transaction data: reporting, billing, acquirer reconciliation</a:t>
            </a:r>
            <a:endParaRPr lang="en-US" sz="3000" dirty="0"/>
          </a:p>
        </p:txBody>
      </p:sp>
      <p:sp>
        <p:nvSpPr>
          <p:cNvPr id="3" name="Text 1"/>
          <p:cNvSpPr txBox="1"/>
          <p:nvPr/>
        </p:nvSpPr>
        <p:spPr>
          <a:xfrm>
            <a:off x="457200" y="1188720"/>
            <a:ext cx="10972800" cy="411480"/>
          </a:xfrm>
          <a:prstGeom prst="rect">
            <a:avLst/>
          </a:prstGeom>
          <a:noFill/>
          <a:ln/>
        </p:spPr>
        <p:txBody>
          <a:bodyPr wrap="square" lIns="0" tIns="0" rIns="0" bIns="0" rtlCol="0" anchor="t"/>
          <a:lstStyle/>
          <a:p>
            <a:pPr algn="l" indent="0" marL="0">
              <a:buNone/>
            </a:pPr>
            <a:r>
              <a:rPr lang="en-US" sz="2000" b="1" dirty="0">
                <a:solidFill>
                  <a:schemeClr val="tx1"/>
                </a:solidFill>
                <a:latin typeface="Cambria" pitchFamily="34" charset="0"/>
                <a:ea typeface="Cambria" pitchFamily="34" charset="-122"/>
                <a:cs typeface="Cambria" pitchFamily="34" charset="-120"/>
              </a:rPr>
              <a:t>Reporting and billing</a:t>
            </a:r>
            <a:endParaRPr lang="en-US" sz="2000" dirty="0"/>
          </a:p>
        </p:txBody>
      </p:sp>
      <p:sp>
        <p:nvSpPr>
          <p:cNvPr id="4" name="Reporting and billing0"/>
          <p:cNvSpPr/>
          <p:nvPr/>
        </p:nvSpPr>
        <p:spPr>
          <a:xfrm>
            <a:off x="457200" y="173736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5" name="Text 3"/>
          <p:cNvSpPr txBox="1"/>
          <p:nvPr/>
        </p:nvSpPr>
        <p:spPr>
          <a:xfrm>
            <a:off x="53035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Transaction export or data warehouse</a:t>
            </a:r>
            <a:endParaRPr lang="en-US" sz="1400" dirty="0"/>
          </a:p>
        </p:txBody>
      </p:sp>
      <p:sp>
        <p:nvSpPr>
          <p:cNvPr id="6" name="Shape 4"/>
          <p:cNvSpPr/>
          <p:nvPr/>
        </p:nvSpPr>
        <p:spPr>
          <a:xfrm>
            <a:off x="2999232" y="2286000"/>
            <a:ext cx="310896" cy="0"/>
          </a:xfrm>
          <a:prstGeom prst="line">
            <a:avLst/>
          </a:prstGeom>
          <a:noFill/>
          <a:ln w="19050">
            <a:solidFill>
              <a:schemeClr val="tx2"/>
            </a:solidFill>
            <a:prstDash val="solid"/>
            <a:tailEnd type="triangle"/>
          </a:ln>
        </p:spPr>
      </p:sp>
      <p:sp>
        <p:nvSpPr>
          <p:cNvPr id="7" name="Reporting and billing1"/>
          <p:cNvSpPr/>
          <p:nvPr/>
        </p:nvSpPr>
        <p:spPr>
          <a:xfrm>
            <a:off x="3337560" y="173736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8" name="Text 6"/>
          <p:cNvSpPr txBox="1"/>
          <p:nvPr/>
        </p:nvSpPr>
        <p:spPr>
          <a:xfrm>
            <a:off x="341071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Successful, non-test transactions only</a:t>
            </a:r>
            <a:endParaRPr lang="en-US" sz="1400" dirty="0"/>
          </a:p>
        </p:txBody>
      </p:sp>
      <p:sp>
        <p:nvSpPr>
          <p:cNvPr id="9" name="Shape 7"/>
          <p:cNvSpPr/>
          <p:nvPr/>
        </p:nvSpPr>
        <p:spPr>
          <a:xfrm>
            <a:off x="5879592" y="2286000"/>
            <a:ext cx="310896" cy="0"/>
          </a:xfrm>
          <a:prstGeom prst="line">
            <a:avLst/>
          </a:prstGeom>
          <a:noFill/>
          <a:ln w="19050">
            <a:solidFill>
              <a:schemeClr val="tx2"/>
            </a:solidFill>
            <a:prstDash val="solid"/>
            <a:tailEnd type="triangle"/>
          </a:ln>
        </p:spPr>
      </p:sp>
      <p:sp>
        <p:nvSpPr>
          <p:cNvPr id="10" name="Reporting and billing2"/>
          <p:cNvSpPr/>
          <p:nvPr/>
        </p:nvSpPr>
        <p:spPr>
          <a:xfrm>
            <a:off x="6217920" y="173736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11" name="Text 9"/>
          <p:cNvSpPr txBox="1"/>
          <p:nvPr/>
        </p:nvSpPr>
        <p:spPr>
          <a:xfrm>
            <a:off x="629107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Monthly report and trends</a:t>
            </a:r>
            <a:endParaRPr lang="en-US" sz="1400" dirty="0"/>
          </a:p>
        </p:txBody>
      </p:sp>
      <p:sp>
        <p:nvSpPr>
          <p:cNvPr id="12" name="Shape 10"/>
          <p:cNvSpPr/>
          <p:nvPr/>
        </p:nvSpPr>
        <p:spPr>
          <a:xfrm>
            <a:off x="8759952" y="2286000"/>
            <a:ext cx="310896" cy="0"/>
          </a:xfrm>
          <a:prstGeom prst="line">
            <a:avLst/>
          </a:prstGeom>
          <a:noFill/>
          <a:ln w="19050">
            <a:solidFill>
              <a:schemeClr val="tx2"/>
            </a:solidFill>
            <a:prstDash val="solid"/>
            <a:tailEnd type="triangle"/>
          </a:ln>
        </p:spPr>
      </p:sp>
      <p:sp>
        <p:nvSpPr>
          <p:cNvPr id="13" name="Reporting and billing3"/>
          <p:cNvSpPr/>
          <p:nvPr/>
        </p:nvSpPr>
        <p:spPr>
          <a:xfrm>
            <a:off x="9098280" y="173736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14" name="Text 12"/>
          <p:cNvSpPr txBox="1"/>
          <p:nvPr/>
        </p:nvSpPr>
        <p:spPr>
          <a:xfrm>
            <a:off x="9171432" y="173736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Fee invoices</a:t>
            </a:r>
            <a:endParaRPr lang="en-US" sz="1400" dirty="0"/>
          </a:p>
        </p:txBody>
      </p:sp>
      <p:sp>
        <p:nvSpPr>
          <p:cNvPr id="15" name="Text 13"/>
          <p:cNvSpPr txBox="1"/>
          <p:nvPr/>
        </p:nvSpPr>
        <p:spPr>
          <a:xfrm>
            <a:off x="457200" y="292608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A month that has issued invoices cannot be re-imported.</a:t>
            </a:r>
            <a:endParaRPr lang="en-US" sz="1300" dirty="0"/>
          </a:p>
        </p:txBody>
      </p:sp>
      <p:sp>
        <p:nvSpPr>
          <p:cNvPr id="16" name="Text 14"/>
          <p:cNvSpPr txBox="1"/>
          <p:nvPr/>
        </p:nvSpPr>
        <p:spPr>
          <a:xfrm>
            <a:off x="457200" y="3657600"/>
            <a:ext cx="10972800" cy="411480"/>
          </a:xfrm>
          <a:prstGeom prst="rect">
            <a:avLst/>
          </a:prstGeom>
          <a:noFill/>
          <a:ln/>
        </p:spPr>
        <p:txBody>
          <a:bodyPr wrap="square" lIns="0" tIns="0" rIns="0" bIns="0" rtlCol="0" anchor="t"/>
          <a:lstStyle/>
          <a:p>
            <a:pPr algn="l" indent="0" marL="0">
              <a:buNone/>
            </a:pPr>
            <a:r>
              <a:rPr lang="en-US" sz="2000" b="1" dirty="0">
                <a:solidFill>
                  <a:schemeClr val="tx1"/>
                </a:solidFill>
                <a:latin typeface="Cambria" pitchFamily="34" charset="0"/>
                <a:ea typeface="Cambria" pitchFamily="34" charset="-122"/>
                <a:cs typeface="Cambria" pitchFamily="34" charset="-120"/>
              </a:rPr>
              <a:t>Acquirer reconciliation</a:t>
            </a:r>
            <a:endParaRPr lang="en-US" sz="2000" dirty="0"/>
          </a:p>
        </p:txBody>
      </p:sp>
      <p:sp>
        <p:nvSpPr>
          <p:cNvPr id="17" name="Acquirer reconciliation0"/>
          <p:cNvSpPr/>
          <p:nvPr/>
        </p:nvSpPr>
        <p:spPr>
          <a:xfrm>
            <a:off x="457200" y="420624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18" name="Text 16"/>
          <p:cNvSpPr txBox="1"/>
          <p:nvPr/>
        </p:nvSpPr>
        <p:spPr>
          <a:xfrm>
            <a:off x="53035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Acquirer file + platform extract</a:t>
            </a:r>
            <a:endParaRPr lang="en-US" sz="1400" dirty="0"/>
          </a:p>
        </p:txBody>
      </p:sp>
      <p:sp>
        <p:nvSpPr>
          <p:cNvPr id="19" name="Shape 17"/>
          <p:cNvSpPr/>
          <p:nvPr/>
        </p:nvSpPr>
        <p:spPr>
          <a:xfrm>
            <a:off x="2999232" y="4754880"/>
            <a:ext cx="310896" cy="0"/>
          </a:xfrm>
          <a:prstGeom prst="line">
            <a:avLst/>
          </a:prstGeom>
          <a:noFill/>
          <a:ln w="19050">
            <a:solidFill>
              <a:schemeClr val="tx2"/>
            </a:solidFill>
            <a:prstDash val="solid"/>
            <a:tailEnd type="triangle"/>
          </a:ln>
        </p:spPr>
      </p:sp>
      <p:sp>
        <p:nvSpPr>
          <p:cNvPr id="20" name="Acquirer reconciliation1"/>
          <p:cNvSpPr/>
          <p:nvPr/>
        </p:nvSpPr>
        <p:spPr>
          <a:xfrm>
            <a:off x="3337560" y="4206240"/>
            <a:ext cx="2514600" cy="1097280"/>
          </a:xfrm>
          <a:prstGeom prst="roundRect">
            <a:avLst>
              <a:gd name="adj" fmla="val 6667"/>
            </a:avLst>
          </a:prstGeom>
          <a:solidFill>
            <a:schemeClr val="accent1">
              <a:alpha val="12000"/>
            </a:schemeClr>
          </a:solidFill>
          <a:ln w="9525">
            <a:solidFill>
              <a:schemeClr val="accent1"/>
            </a:solidFill>
            <a:prstDash val="solid"/>
          </a:ln>
        </p:spPr>
      </p:sp>
      <p:sp>
        <p:nvSpPr>
          <p:cNvPr id="21" name="Text 19"/>
          <p:cNvSpPr txBox="1"/>
          <p:nvPr/>
        </p:nvSpPr>
        <p:spPr>
          <a:xfrm>
            <a:off x="341071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Scope checks, MID mapping</a:t>
            </a:r>
            <a:endParaRPr lang="en-US" sz="1400" dirty="0"/>
          </a:p>
        </p:txBody>
      </p:sp>
      <p:sp>
        <p:nvSpPr>
          <p:cNvPr id="22" name="Shape 20"/>
          <p:cNvSpPr/>
          <p:nvPr/>
        </p:nvSpPr>
        <p:spPr>
          <a:xfrm>
            <a:off x="5879592" y="4754880"/>
            <a:ext cx="310896" cy="0"/>
          </a:xfrm>
          <a:prstGeom prst="line">
            <a:avLst/>
          </a:prstGeom>
          <a:noFill/>
          <a:ln w="19050">
            <a:solidFill>
              <a:schemeClr val="tx2"/>
            </a:solidFill>
            <a:prstDash val="solid"/>
            <a:tailEnd type="triangle"/>
          </a:ln>
        </p:spPr>
      </p:sp>
      <p:sp>
        <p:nvSpPr>
          <p:cNvPr id="23" name="Acquirer reconciliation2"/>
          <p:cNvSpPr/>
          <p:nvPr/>
        </p:nvSpPr>
        <p:spPr>
          <a:xfrm>
            <a:off x="6217920" y="420624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24" name="Text 22"/>
          <p:cNvSpPr txBox="1"/>
          <p:nvPr/>
        </p:nvSpPr>
        <p:spPr>
          <a:xfrm>
            <a:off x="629107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Gap split into 6 categories</a:t>
            </a:r>
            <a:endParaRPr lang="en-US" sz="1400" dirty="0"/>
          </a:p>
        </p:txBody>
      </p:sp>
      <p:sp>
        <p:nvSpPr>
          <p:cNvPr id="25" name="Shape 23"/>
          <p:cNvSpPr/>
          <p:nvPr/>
        </p:nvSpPr>
        <p:spPr>
          <a:xfrm>
            <a:off x="8759952" y="4754880"/>
            <a:ext cx="310896" cy="0"/>
          </a:xfrm>
          <a:prstGeom prst="line">
            <a:avLst/>
          </a:prstGeom>
          <a:noFill/>
          <a:ln w="19050">
            <a:solidFill>
              <a:schemeClr val="tx2"/>
            </a:solidFill>
            <a:prstDash val="solid"/>
            <a:tailEnd type="triangle"/>
          </a:ln>
        </p:spPr>
      </p:sp>
      <p:sp>
        <p:nvSpPr>
          <p:cNvPr id="26" name="Acquirer reconciliation3"/>
          <p:cNvSpPr/>
          <p:nvPr/>
        </p:nvSpPr>
        <p:spPr>
          <a:xfrm>
            <a:off x="9098280" y="4206240"/>
            <a:ext cx="2514600" cy="1097280"/>
          </a:xfrm>
          <a:prstGeom prst="roundRect">
            <a:avLst>
              <a:gd name="adj" fmla="val 6667"/>
            </a:avLst>
          </a:prstGeom>
          <a:solidFill>
            <a:schemeClr val="accent2">
              <a:alpha val="12000"/>
            </a:schemeClr>
          </a:solidFill>
          <a:ln w="9525">
            <a:solidFill>
              <a:schemeClr val="accent2"/>
            </a:solidFill>
            <a:prstDash val="solid"/>
          </a:ln>
        </p:spPr>
      </p:sp>
      <p:sp>
        <p:nvSpPr>
          <p:cNvPr id="27" name="Text 25"/>
          <p:cNvSpPr txBox="1"/>
          <p:nvPr/>
        </p:nvSpPr>
        <p:spPr>
          <a:xfrm>
            <a:off x="9171432" y="4206240"/>
            <a:ext cx="2368296" cy="1097280"/>
          </a:xfrm>
          <a:prstGeom prst="rect">
            <a:avLst/>
          </a:prstGeom>
          <a:noFill/>
          <a:ln/>
        </p:spPr>
        <p:txBody>
          <a:bodyPr wrap="square" lIns="1016" tIns="1016" rIns="1016" bIns="1016" rtlCol="0" anchor="ctr"/>
          <a:lstStyle/>
          <a:p>
            <a:pPr algn="l" indent="0" marL="0">
              <a:buNone/>
            </a:pPr>
            <a:r>
              <a:rPr lang="en-US" sz="1400" dirty="0">
                <a:solidFill>
                  <a:schemeClr val="tx1"/>
                </a:solidFill>
              </a:rPr>
              <a:t>Unexplained = 0, claims list</a:t>
            </a:r>
            <a:endParaRPr lang="en-US" sz="1400" dirty="0"/>
          </a:p>
        </p:txBody>
      </p:sp>
      <p:sp>
        <p:nvSpPr>
          <p:cNvPr id="28" name="Text 26"/>
          <p:cNvSpPr txBox="1"/>
          <p:nvPr/>
        </p:nvSpPr>
        <p:spPr>
          <a:xfrm>
            <a:off x="457200" y="53949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This compares transaction volumes. It is not a reconciliation of funds or of a trust account.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Fund flow model</a:t>
            </a:r>
            <a:endParaRPr lang="en-US" sz="3000" dirty="0"/>
          </a:p>
        </p:txBody>
      </p:sp>
      <p:sp>
        <p:nvSpPr>
          <p:cNvPr id="3" name="draft-tag"/>
          <p:cNvSpPr/>
          <p:nvPr/>
        </p:nvSpPr>
        <p:spPr>
          <a:xfrm>
            <a:off x="6675120" y="411480"/>
            <a:ext cx="5029200" cy="548640"/>
          </a:xfrm>
          <a:prstGeom prst="roundRect">
            <a:avLst>
              <a:gd name="adj" fmla="val 13333"/>
            </a:avLst>
          </a:prstGeom>
          <a:solidFill>
            <a:schemeClr val="accent6">
              <a:alpha val="15000"/>
            </a:schemeClr>
          </a:solidFill>
          <a:ln w="19050">
            <a:solidFill>
              <a:schemeClr val="accent6"/>
            </a:solidFill>
            <a:prstDash val="solid"/>
          </a:ln>
        </p:spPr>
      </p:sp>
      <p:sp>
        <p:nvSpPr>
          <p:cNvPr id="4" name="Text 2"/>
          <p:cNvSpPr txBox="1"/>
          <p:nvPr/>
        </p:nvSpPr>
        <p:spPr>
          <a:xfrm>
            <a:off x="6675120" y="411480"/>
            <a:ext cx="5029200" cy="548640"/>
          </a:xfrm>
          <a:prstGeom prst="rect">
            <a:avLst/>
          </a:prstGeom>
          <a:noFill/>
          <a:ln/>
        </p:spPr>
        <p:txBody>
          <a:bodyPr wrap="square" lIns="1016" tIns="1016" rIns="1016" bIns="1016" rtlCol="0" anchor="ctr"/>
          <a:lstStyle/>
          <a:p>
            <a:pPr algn="ctr" indent="0" marL="0">
              <a:buNone/>
            </a:pPr>
            <a:r>
              <a:rPr lang="en-US" sz="1300" b="1" dirty="0">
                <a:solidFill>
                  <a:schemeClr val="accent6"/>
                </a:solidFill>
              </a:rPr>
              <a:t>DRAFT — keep only the model chosen before submission</a:t>
            </a:r>
            <a:endParaRPr lang="en-US" sz="1300" dirty="0"/>
          </a:p>
        </p:txBody>
      </p:sp>
      <p:sp>
        <p:nvSpPr>
          <p:cNvPr id="5" name="Text 3"/>
          <p:cNvSpPr txBox="1"/>
          <p:nvPr/>
        </p:nvSpPr>
        <p:spPr>
          <a:xfrm>
            <a:off x="457200" y="1188720"/>
            <a:ext cx="5577840" cy="365760"/>
          </a:xfrm>
          <a:prstGeom prst="rect">
            <a:avLst/>
          </a:prstGeom>
          <a:noFill/>
          <a:ln/>
        </p:spPr>
        <p:txBody>
          <a:bodyPr wrap="square" lIns="0" tIns="0" rIns="0" bIns="0" rtlCol="0" anchor="t"/>
          <a:lstStyle/>
          <a:p>
            <a:pPr algn="l" indent="0" marL="0">
              <a:buNone/>
            </a:pPr>
            <a:r>
              <a:rPr lang="en-US" sz="1600" b="1" dirty="0">
                <a:solidFill>
                  <a:schemeClr val="accent2"/>
                </a:solidFill>
              </a:rPr>
              <a:t>A · Gateway: merchants are paid by the acquirer</a:t>
            </a:r>
            <a:endParaRPr lang="en-US" sz="1600" dirty="0"/>
          </a:p>
        </p:txBody>
      </p:sp>
      <p:sp>
        <p:nvSpPr>
          <p:cNvPr id="6" name="a1"/>
          <p:cNvSpPr/>
          <p:nvPr/>
        </p:nvSpPr>
        <p:spPr>
          <a:xfrm>
            <a:off x="457200" y="1783080"/>
            <a:ext cx="1645920" cy="685800"/>
          </a:xfrm>
          <a:prstGeom prst="roundRect">
            <a:avLst>
              <a:gd name="adj" fmla="val 10667"/>
            </a:avLst>
          </a:prstGeom>
          <a:solidFill>
            <a:schemeClr val="bg2"/>
          </a:solidFill>
          <a:ln w="9525">
            <a:solidFill>
              <a:srgbClr val="C9D3DE"/>
            </a:solidFill>
            <a:prstDash val="solid"/>
          </a:ln>
        </p:spPr>
      </p:sp>
      <p:sp>
        <p:nvSpPr>
          <p:cNvPr id="7" name="Text 5"/>
          <p:cNvSpPr txBox="1"/>
          <p:nvPr/>
        </p:nvSpPr>
        <p:spPr>
          <a:xfrm>
            <a:off x="45720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Payer</a:t>
            </a:r>
            <a:endParaRPr lang="en-US" sz="1300" dirty="0"/>
          </a:p>
        </p:txBody>
      </p:sp>
      <p:sp>
        <p:nvSpPr>
          <p:cNvPr id="8" name="a2"/>
          <p:cNvSpPr/>
          <p:nvPr/>
        </p:nvSpPr>
        <p:spPr>
          <a:xfrm>
            <a:off x="2468880" y="1783080"/>
            <a:ext cx="1645920" cy="685800"/>
          </a:xfrm>
          <a:prstGeom prst="roundRect">
            <a:avLst>
              <a:gd name="adj" fmla="val 10667"/>
            </a:avLst>
          </a:prstGeom>
          <a:solidFill>
            <a:schemeClr val="bg2"/>
          </a:solidFill>
          <a:ln w="9525">
            <a:solidFill>
              <a:srgbClr val="C9D3DE"/>
            </a:solidFill>
            <a:prstDash val="solid"/>
          </a:ln>
        </p:spPr>
      </p:sp>
      <p:sp>
        <p:nvSpPr>
          <p:cNvPr id="9" name="Text 7"/>
          <p:cNvSpPr txBox="1"/>
          <p:nvPr/>
        </p:nvSpPr>
        <p:spPr>
          <a:xfrm>
            <a:off x="246888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Acquirer</a:t>
            </a:r>
            <a:endParaRPr lang="en-US" sz="1300" dirty="0"/>
          </a:p>
        </p:txBody>
      </p:sp>
      <p:sp>
        <p:nvSpPr>
          <p:cNvPr id="10" name="a3"/>
          <p:cNvSpPr/>
          <p:nvPr/>
        </p:nvSpPr>
        <p:spPr>
          <a:xfrm>
            <a:off x="4480560" y="1783080"/>
            <a:ext cx="1645920" cy="685800"/>
          </a:xfrm>
          <a:prstGeom prst="roundRect">
            <a:avLst>
              <a:gd name="adj" fmla="val 10667"/>
            </a:avLst>
          </a:prstGeom>
          <a:solidFill>
            <a:schemeClr val="accent3">
              <a:alpha val="15000"/>
            </a:schemeClr>
          </a:solidFill>
          <a:ln w="9525">
            <a:solidFill>
              <a:schemeClr val="accent3"/>
            </a:solidFill>
            <a:prstDash val="solid"/>
          </a:ln>
        </p:spPr>
      </p:sp>
      <p:sp>
        <p:nvSpPr>
          <p:cNvPr id="11" name="Text 9"/>
          <p:cNvSpPr txBox="1"/>
          <p:nvPr/>
        </p:nvSpPr>
        <p:spPr>
          <a:xfrm>
            <a:off x="448056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Merchant</a:t>
            </a:r>
            <a:endParaRPr lang="en-US" sz="1300" dirty="0"/>
          </a:p>
        </p:txBody>
      </p:sp>
      <p:sp>
        <p:nvSpPr>
          <p:cNvPr id="12" name="a4"/>
          <p:cNvSpPr/>
          <p:nvPr/>
        </p:nvSpPr>
        <p:spPr>
          <a:xfrm>
            <a:off x="2468880" y="3154680"/>
            <a:ext cx="1645920" cy="685800"/>
          </a:xfrm>
          <a:prstGeom prst="roundRect">
            <a:avLst>
              <a:gd name="adj" fmla="val 10667"/>
            </a:avLst>
          </a:prstGeom>
          <a:solidFill>
            <a:schemeClr val="accent2">
              <a:alpha val="15000"/>
            </a:schemeClr>
          </a:solidFill>
          <a:ln w="9525">
            <a:solidFill>
              <a:schemeClr val="accent2"/>
            </a:solidFill>
            <a:prstDash val="solid"/>
          </a:ln>
        </p:spPr>
      </p:sp>
      <p:sp>
        <p:nvSpPr>
          <p:cNvPr id="13" name="Text 11"/>
          <p:cNvSpPr txBox="1"/>
          <p:nvPr/>
        </p:nvSpPr>
        <p:spPr>
          <a:xfrm>
            <a:off x="2468880" y="31546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MIPS</a:t>
            </a:r>
            <a:endParaRPr lang="en-US" sz="1300" dirty="0"/>
          </a:p>
          <a:p>
            <a:pPr algn="ctr" indent="0" marL="0">
              <a:buNone/>
            </a:pPr>
            <a:r>
              <a:rPr lang="en-US" sz="1300" dirty="0">
                <a:solidFill>
                  <a:schemeClr val="tx1"/>
                </a:solidFill>
              </a:rPr>
              <a:t>gateway</a:t>
            </a:r>
            <a:endParaRPr lang="en-US" sz="1300" dirty="0"/>
          </a:p>
        </p:txBody>
      </p:sp>
      <p:sp>
        <p:nvSpPr>
          <p:cNvPr id="14" name="Shape 12"/>
          <p:cNvSpPr/>
          <p:nvPr/>
        </p:nvSpPr>
        <p:spPr>
          <a:xfrm>
            <a:off x="2121408" y="2121408"/>
            <a:ext cx="329184" cy="0"/>
          </a:xfrm>
          <a:prstGeom prst="line">
            <a:avLst/>
          </a:prstGeom>
          <a:noFill/>
          <a:ln w="19050">
            <a:solidFill>
              <a:schemeClr val="tx2"/>
            </a:solidFill>
            <a:prstDash val="solid"/>
            <a:tailEnd type="triangle"/>
          </a:ln>
        </p:spPr>
      </p:sp>
      <p:sp>
        <p:nvSpPr>
          <p:cNvPr id="15" name="Shape 13"/>
          <p:cNvSpPr/>
          <p:nvPr/>
        </p:nvSpPr>
        <p:spPr>
          <a:xfrm>
            <a:off x="4133088" y="2121408"/>
            <a:ext cx="329184" cy="0"/>
          </a:xfrm>
          <a:prstGeom prst="line">
            <a:avLst/>
          </a:prstGeom>
          <a:noFill/>
          <a:ln w="19050">
            <a:solidFill>
              <a:schemeClr val="tx2"/>
            </a:solidFill>
            <a:prstDash val="solid"/>
            <a:tailEnd type="triangle"/>
          </a:ln>
        </p:spPr>
      </p:sp>
      <p:sp>
        <p:nvSpPr>
          <p:cNvPr id="16" name="Shape 14"/>
          <p:cNvSpPr/>
          <p:nvPr/>
        </p:nvSpPr>
        <p:spPr>
          <a:xfrm>
            <a:off x="3291840" y="2487168"/>
            <a:ext cx="0" cy="649224"/>
          </a:xfrm>
          <a:prstGeom prst="line">
            <a:avLst/>
          </a:prstGeom>
          <a:noFill/>
          <a:ln w="19050">
            <a:solidFill>
              <a:schemeClr val="tx2"/>
            </a:solidFill>
            <a:prstDash val="dash"/>
            <a:tailEnd type="triangle"/>
          </a:ln>
        </p:spPr>
      </p:sp>
      <p:sp>
        <p:nvSpPr>
          <p:cNvPr id="17" name="Text 15"/>
          <p:cNvSpPr txBox="1"/>
          <p:nvPr/>
        </p:nvSpPr>
        <p:spPr>
          <a:xfrm>
            <a:off x="3337560" y="2697480"/>
            <a:ext cx="914400" cy="274320"/>
          </a:xfrm>
          <a:prstGeom prst="rect">
            <a:avLst/>
          </a:prstGeom>
          <a:noFill/>
          <a:ln/>
        </p:spPr>
        <p:txBody>
          <a:bodyPr wrap="square" lIns="0" tIns="0" rIns="0" bIns="0" rtlCol="0" anchor="t"/>
          <a:lstStyle/>
          <a:p>
            <a:pPr algn="l" indent="0" marL="0">
              <a:buNone/>
            </a:pPr>
            <a:r>
              <a:rPr lang="en-US" sz="1100" dirty="0">
                <a:solidFill>
                  <a:schemeClr val="tx2"/>
                </a:solidFill>
              </a:rPr>
              <a:t>technical</a:t>
            </a:r>
            <a:endParaRPr lang="en-US" sz="1100" dirty="0"/>
          </a:p>
        </p:txBody>
      </p:sp>
      <p:sp>
        <p:nvSpPr>
          <p:cNvPr id="18" name="Shape 16"/>
          <p:cNvSpPr/>
          <p:nvPr/>
        </p:nvSpPr>
        <p:spPr>
          <a:xfrm flipV="1">
            <a:off x="4133088" y="2487168"/>
            <a:ext cx="1170432" cy="1005840"/>
          </a:xfrm>
          <a:prstGeom prst="line">
            <a:avLst/>
          </a:prstGeom>
          <a:noFill/>
          <a:ln w="19050">
            <a:solidFill>
              <a:schemeClr val="tx2"/>
            </a:solidFill>
            <a:prstDash val="solid"/>
            <a:tailEnd type="triangle"/>
          </a:ln>
        </p:spPr>
      </p:sp>
      <p:sp>
        <p:nvSpPr>
          <p:cNvPr id="19" name="Text 17"/>
          <p:cNvSpPr txBox="1"/>
          <p:nvPr/>
        </p:nvSpPr>
        <p:spPr>
          <a:xfrm>
            <a:off x="4480560" y="3154680"/>
            <a:ext cx="1737360" cy="274320"/>
          </a:xfrm>
          <a:prstGeom prst="rect">
            <a:avLst/>
          </a:prstGeom>
          <a:noFill/>
          <a:ln/>
        </p:spPr>
        <p:txBody>
          <a:bodyPr wrap="square" lIns="0" tIns="0" rIns="0" bIns="0" rtlCol="0" anchor="t"/>
          <a:lstStyle/>
          <a:p>
            <a:pPr algn="ctr" indent="0" marL="0">
              <a:buNone/>
            </a:pPr>
            <a:r>
              <a:rPr lang="en-US" sz="1100" dirty="0">
                <a:solidFill>
                  <a:schemeClr val="tx2"/>
                </a:solidFill>
              </a:rPr>
              <a:t>monthly invoice</a:t>
            </a:r>
            <a:endParaRPr lang="en-US" sz="1100" dirty="0"/>
          </a:p>
        </p:txBody>
      </p:sp>
      <p:sp>
        <p:nvSpPr>
          <p:cNvPr id="20" name="Text 18"/>
          <p:cNvSpPr txBox="1"/>
          <p:nvPr/>
        </p:nvSpPr>
        <p:spPr>
          <a:xfrm>
            <a:off x="457200" y="4069080"/>
            <a:ext cx="5486400" cy="1463040"/>
          </a:xfrm>
          <a:prstGeom prst="rect">
            <a:avLst/>
          </a:prstGeom>
          <a:noFill/>
          <a:ln/>
        </p:spPr>
        <p:txBody>
          <a:bodyPr wrap="square" lIns="635" tIns="635" rIns="635" bIns="635" rtlCol="0" anchor="ctr"/>
          <a:lstStyle/>
          <a:p>
            <a:pPr marL="342900" indent="-342900">
              <a:spcAft>
                <a:spcPts val="600"/>
              </a:spcAft>
              <a:buSzPct val="100000"/>
              <a:buChar char="•"/>
            </a:pPr>
            <a:r>
              <a:rPr lang="en-US" sz="1300" dirty="0">
                <a:solidFill>
                  <a:schemeClr val="tx1"/>
                </a:solidFill>
              </a:rPr>
              <a:t>No merchant funds held</a:t>
            </a:r>
            <a:endParaRPr lang="en-US" sz="1300" dirty="0"/>
          </a:p>
          <a:p>
            <a:pPr marL="342900" indent="-342900">
              <a:spcAft>
                <a:spcPts val="600"/>
              </a:spcAft>
              <a:buSzPct val="100000"/>
              <a:buChar char="•"/>
            </a:pPr>
            <a:r>
              <a:rPr lang="en-US" sz="1300" dirty="0">
                <a:solidFill>
                  <a:schemeClr val="tx1"/>
                </a:solidFill>
              </a:rPr>
              <a:t>One acquirer agreement per merchant</a:t>
            </a:r>
            <a:endParaRPr lang="en-US" sz="1300" dirty="0"/>
          </a:p>
          <a:p>
            <a:pPr marL="342900" indent="-342900">
              <a:spcAft>
                <a:spcPts val="600"/>
              </a:spcAft>
              <a:buSzPct val="100000"/>
              <a:buChar char="•"/>
            </a:pPr>
            <a:r>
              <a:rPr lang="en-US" sz="1300" dirty="0">
                <a:solidFill>
                  <a:schemeClr val="tx1"/>
                </a:solidFill>
              </a:rPr>
              <a:t>Fees invoiced monthly</a:t>
            </a:r>
            <a:endParaRPr lang="en-US" sz="1300" dirty="0"/>
          </a:p>
        </p:txBody>
      </p:sp>
      <p:sp>
        <p:nvSpPr>
          <p:cNvPr id="21" name="Text 19"/>
          <p:cNvSpPr txBox="1"/>
          <p:nvPr/>
        </p:nvSpPr>
        <p:spPr>
          <a:xfrm>
            <a:off x="6309360" y="1188720"/>
            <a:ext cx="5486400" cy="365760"/>
          </a:xfrm>
          <a:prstGeom prst="rect">
            <a:avLst/>
          </a:prstGeom>
          <a:noFill/>
          <a:ln/>
        </p:spPr>
        <p:txBody>
          <a:bodyPr wrap="square" lIns="0" tIns="0" rIns="0" bIns="0" rtlCol="0" anchor="t"/>
          <a:lstStyle/>
          <a:p>
            <a:pPr algn="l" indent="0" marL="0">
              <a:buNone/>
            </a:pPr>
            <a:r>
              <a:rPr lang="en-US" sz="1600" b="1" dirty="0">
                <a:solidFill>
                  <a:schemeClr val="accent5"/>
                </a:solidFill>
              </a:rPr>
              <a:t>B · Collection on behalf of merchants</a:t>
            </a:r>
            <a:endParaRPr lang="en-US" sz="1600" dirty="0"/>
          </a:p>
        </p:txBody>
      </p:sp>
      <p:sp>
        <p:nvSpPr>
          <p:cNvPr id="22" name="b1"/>
          <p:cNvSpPr/>
          <p:nvPr/>
        </p:nvSpPr>
        <p:spPr>
          <a:xfrm>
            <a:off x="6309360" y="1783080"/>
            <a:ext cx="1645920" cy="685800"/>
          </a:xfrm>
          <a:prstGeom prst="roundRect">
            <a:avLst>
              <a:gd name="adj" fmla="val 10667"/>
            </a:avLst>
          </a:prstGeom>
          <a:solidFill>
            <a:schemeClr val="bg2"/>
          </a:solidFill>
          <a:ln w="9525">
            <a:solidFill>
              <a:srgbClr val="C9D3DE"/>
            </a:solidFill>
            <a:prstDash val="solid"/>
          </a:ln>
        </p:spPr>
      </p:sp>
      <p:sp>
        <p:nvSpPr>
          <p:cNvPr id="23" name="Text 21"/>
          <p:cNvSpPr txBox="1"/>
          <p:nvPr/>
        </p:nvSpPr>
        <p:spPr>
          <a:xfrm>
            <a:off x="630936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Acquirer</a:t>
            </a:r>
            <a:endParaRPr lang="en-US" sz="1300" dirty="0"/>
          </a:p>
        </p:txBody>
      </p:sp>
      <p:sp>
        <p:nvSpPr>
          <p:cNvPr id="24" name="b2"/>
          <p:cNvSpPr/>
          <p:nvPr/>
        </p:nvSpPr>
        <p:spPr>
          <a:xfrm>
            <a:off x="8229600" y="1783080"/>
            <a:ext cx="1645920" cy="685800"/>
          </a:xfrm>
          <a:prstGeom prst="roundRect">
            <a:avLst>
              <a:gd name="adj" fmla="val 10667"/>
            </a:avLst>
          </a:prstGeom>
          <a:solidFill>
            <a:schemeClr val="accent5">
              <a:alpha val="20000"/>
            </a:schemeClr>
          </a:solidFill>
          <a:ln w="9525">
            <a:solidFill>
              <a:schemeClr val="accent5"/>
            </a:solidFill>
            <a:prstDash val="solid"/>
          </a:ln>
        </p:spPr>
      </p:sp>
      <p:sp>
        <p:nvSpPr>
          <p:cNvPr id="25" name="Text 23"/>
          <p:cNvSpPr txBox="1"/>
          <p:nvPr/>
        </p:nvSpPr>
        <p:spPr>
          <a:xfrm>
            <a:off x="822960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Trust account</a:t>
            </a:r>
            <a:endParaRPr lang="en-US" sz="1300" dirty="0"/>
          </a:p>
          <a:p>
            <a:pPr algn="ctr" indent="0" marL="0">
              <a:buNone/>
            </a:pPr>
            <a:r>
              <a:rPr lang="en-US" sz="1300" dirty="0">
                <a:solidFill>
                  <a:schemeClr val="tx1"/>
                </a:solidFill>
              </a:rPr>
              <a:t>MUR</a:t>
            </a:r>
            <a:endParaRPr lang="en-US" sz="1300" dirty="0"/>
          </a:p>
        </p:txBody>
      </p:sp>
      <p:sp>
        <p:nvSpPr>
          <p:cNvPr id="26" name="b3"/>
          <p:cNvSpPr/>
          <p:nvPr/>
        </p:nvSpPr>
        <p:spPr>
          <a:xfrm>
            <a:off x="10149840" y="1783080"/>
            <a:ext cx="1645920" cy="685800"/>
          </a:xfrm>
          <a:prstGeom prst="roundRect">
            <a:avLst>
              <a:gd name="adj" fmla="val 10667"/>
            </a:avLst>
          </a:prstGeom>
          <a:solidFill>
            <a:schemeClr val="accent3">
              <a:alpha val="15000"/>
            </a:schemeClr>
          </a:solidFill>
          <a:ln w="9525">
            <a:solidFill>
              <a:schemeClr val="accent3"/>
            </a:solidFill>
            <a:prstDash val="solid"/>
          </a:ln>
        </p:spPr>
      </p:sp>
      <p:sp>
        <p:nvSpPr>
          <p:cNvPr id="27" name="Text 25"/>
          <p:cNvSpPr txBox="1"/>
          <p:nvPr/>
        </p:nvSpPr>
        <p:spPr>
          <a:xfrm>
            <a:off x="10149840" y="17830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Merchants</a:t>
            </a:r>
            <a:endParaRPr lang="en-US" sz="1300" dirty="0"/>
          </a:p>
        </p:txBody>
      </p:sp>
      <p:sp>
        <p:nvSpPr>
          <p:cNvPr id="28" name="b4"/>
          <p:cNvSpPr/>
          <p:nvPr/>
        </p:nvSpPr>
        <p:spPr>
          <a:xfrm>
            <a:off x="8229600" y="3154680"/>
            <a:ext cx="1645920" cy="685800"/>
          </a:xfrm>
          <a:prstGeom prst="roundRect">
            <a:avLst>
              <a:gd name="adj" fmla="val 10667"/>
            </a:avLst>
          </a:prstGeom>
          <a:solidFill>
            <a:schemeClr val="accent2">
              <a:alpha val="15000"/>
            </a:schemeClr>
          </a:solidFill>
          <a:ln w="9525">
            <a:solidFill>
              <a:schemeClr val="accent2"/>
            </a:solidFill>
            <a:prstDash val="solid"/>
          </a:ln>
        </p:spPr>
      </p:sp>
      <p:sp>
        <p:nvSpPr>
          <p:cNvPr id="29" name="Text 27"/>
          <p:cNvSpPr txBox="1"/>
          <p:nvPr/>
        </p:nvSpPr>
        <p:spPr>
          <a:xfrm>
            <a:off x="8229600" y="3154680"/>
            <a:ext cx="1645920" cy="685800"/>
          </a:xfrm>
          <a:prstGeom prst="rect">
            <a:avLst/>
          </a:prstGeom>
          <a:noFill/>
          <a:ln/>
        </p:spPr>
        <p:txBody>
          <a:bodyPr wrap="square" lIns="1016" tIns="1016" rIns="1016" bIns="1016" rtlCol="0" anchor="ctr"/>
          <a:lstStyle/>
          <a:p>
            <a:pPr algn="ctr" indent="0" marL="0">
              <a:buNone/>
            </a:pPr>
            <a:r>
              <a:rPr lang="en-US" sz="1300" dirty="0">
                <a:solidFill>
                  <a:schemeClr val="tx1"/>
                </a:solidFill>
              </a:rPr>
              <a:t>Operating</a:t>
            </a:r>
            <a:endParaRPr lang="en-US" sz="1300" dirty="0"/>
          </a:p>
          <a:p>
            <a:pPr algn="ctr" indent="0" marL="0">
              <a:buNone/>
            </a:pPr>
            <a:r>
              <a:rPr lang="en-US" sz="1300" dirty="0">
                <a:solidFill>
                  <a:schemeClr val="tx1"/>
                </a:solidFill>
              </a:rPr>
              <a:t>account</a:t>
            </a:r>
            <a:endParaRPr lang="en-US" sz="1300" dirty="0"/>
          </a:p>
        </p:txBody>
      </p:sp>
      <p:sp>
        <p:nvSpPr>
          <p:cNvPr id="30" name="Shape 28"/>
          <p:cNvSpPr/>
          <p:nvPr/>
        </p:nvSpPr>
        <p:spPr>
          <a:xfrm>
            <a:off x="7973568" y="2121408"/>
            <a:ext cx="237744" cy="0"/>
          </a:xfrm>
          <a:prstGeom prst="line">
            <a:avLst/>
          </a:prstGeom>
          <a:noFill/>
          <a:ln w="19050">
            <a:solidFill>
              <a:schemeClr val="tx2"/>
            </a:solidFill>
            <a:prstDash val="solid"/>
            <a:tailEnd type="triangle"/>
          </a:ln>
        </p:spPr>
      </p:sp>
      <p:sp>
        <p:nvSpPr>
          <p:cNvPr id="31" name="Text 29"/>
          <p:cNvSpPr txBox="1"/>
          <p:nvPr/>
        </p:nvSpPr>
        <p:spPr>
          <a:xfrm>
            <a:off x="7589520" y="1508760"/>
            <a:ext cx="1005840" cy="274320"/>
          </a:xfrm>
          <a:prstGeom prst="rect">
            <a:avLst/>
          </a:prstGeom>
          <a:noFill/>
          <a:ln/>
        </p:spPr>
        <p:txBody>
          <a:bodyPr wrap="square" lIns="0" tIns="0" rIns="0" bIns="0" rtlCol="0" anchor="t"/>
          <a:lstStyle/>
          <a:p>
            <a:pPr algn="ctr" indent="0" marL="0">
              <a:buNone/>
            </a:pPr>
            <a:r>
              <a:rPr lang="en-US" sz="1100" dirty="0">
                <a:solidFill>
                  <a:schemeClr val="tx2"/>
                </a:solidFill>
              </a:rPr>
              <a:t>gross, D+1</a:t>
            </a:r>
            <a:endParaRPr lang="en-US" sz="1100" dirty="0"/>
          </a:p>
        </p:txBody>
      </p:sp>
      <p:sp>
        <p:nvSpPr>
          <p:cNvPr id="32" name="Shape 30"/>
          <p:cNvSpPr/>
          <p:nvPr/>
        </p:nvSpPr>
        <p:spPr>
          <a:xfrm>
            <a:off x="9893808" y="2121408"/>
            <a:ext cx="237744" cy="0"/>
          </a:xfrm>
          <a:prstGeom prst="line">
            <a:avLst/>
          </a:prstGeom>
          <a:noFill/>
          <a:ln w="19050">
            <a:solidFill>
              <a:schemeClr val="tx2"/>
            </a:solidFill>
            <a:prstDash val="solid"/>
            <a:tailEnd type="triangle"/>
          </a:ln>
        </p:spPr>
      </p:sp>
      <p:sp>
        <p:nvSpPr>
          <p:cNvPr id="33" name="Text 31"/>
          <p:cNvSpPr txBox="1"/>
          <p:nvPr/>
        </p:nvSpPr>
        <p:spPr>
          <a:xfrm>
            <a:off x="9509760" y="1508760"/>
            <a:ext cx="1005840" cy="274320"/>
          </a:xfrm>
          <a:prstGeom prst="rect">
            <a:avLst/>
          </a:prstGeom>
          <a:noFill/>
          <a:ln/>
        </p:spPr>
        <p:txBody>
          <a:bodyPr wrap="square" lIns="0" tIns="0" rIns="0" bIns="0" rtlCol="0" anchor="t"/>
          <a:lstStyle/>
          <a:p>
            <a:pPr algn="ctr" indent="0" marL="0">
              <a:buNone/>
            </a:pPr>
            <a:r>
              <a:rPr lang="en-US" sz="1100" dirty="0">
                <a:solidFill>
                  <a:schemeClr val="tx2"/>
                </a:solidFill>
              </a:rPr>
              <a:t>net, D+1</a:t>
            </a:r>
            <a:endParaRPr lang="en-US" sz="1100" dirty="0"/>
          </a:p>
        </p:txBody>
      </p:sp>
      <p:sp>
        <p:nvSpPr>
          <p:cNvPr id="34" name="Shape 32"/>
          <p:cNvSpPr/>
          <p:nvPr/>
        </p:nvSpPr>
        <p:spPr>
          <a:xfrm>
            <a:off x="8778240" y="2487168"/>
            <a:ext cx="0" cy="649224"/>
          </a:xfrm>
          <a:prstGeom prst="line">
            <a:avLst/>
          </a:prstGeom>
          <a:noFill/>
          <a:ln w="19050">
            <a:solidFill>
              <a:schemeClr val="tx2"/>
            </a:solidFill>
            <a:prstDash val="solid"/>
            <a:tailEnd type="triangle"/>
          </a:ln>
        </p:spPr>
      </p:sp>
      <p:sp>
        <p:nvSpPr>
          <p:cNvPr id="35" name="Text 33"/>
          <p:cNvSpPr txBox="1"/>
          <p:nvPr/>
        </p:nvSpPr>
        <p:spPr>
          <a:xfrm>
            <a:off x="7680960" y="2697480"/>
            <a:ext cx="1051560" cy="274320"/>
          </a:xfrm>
          <a:prstGeom prst="rect">
            <a:avLst/>
          </a:prstGeom>
          <a:noFill/>
          <a:ln/>
        </p:spPr>
        <p:txBody>
          <a:bodyPr wrap="square" lIns="0" tIns="0" rIns="0" bIns="0" rtlCol="0" anchor="t"/>
          <a:lstStyle/>
          <a:p>
            <a:pPr algn="r" indent="0" marL="0">
              <a:buNone/>
            </a:pPr>
            <a:r>
              <a:rPr lang="en-US" sz="1100" dirty="0">
                <a:solidFill>
                  <a:schemeClr val="tx2"/>
                </a:solidFill>
              </a:rPr>
              <a:t>fees</a:t>
            </a:r>
            <a:endParaRPr lang="en-US" sz="1100" dirty="0"/>
          </a:p>
        </p:txBody>
      </p:sp>
      <p:sp>
        <p:nvSpPr>
          <p:cNvPr id="36" name="Shape 34"/>
          <p:cNvSpPr/>
          <p:nvPr/>
        </p:nvSpPr>
        <p:spPr>
          <a:xfrm flipV="1">
            <a:off x="9326880" y="2487168"/>
            <a:ext cx="0" cy="649224"/>
          </a:xfrm>
          <a:prstGeom prst="line">
            <a:avLst/>
          </a:prstGeom>
          <a:noFill/>
          <a:ln w="19050">
            <a:solidFill>
              <a:schemeClr val="tx2"/>
            </a:solidFill>
            <a:prstDash val="dash"/>
            <a:tailEnd type="triangle"/>
          </a:ln>
        </p:spPr>
      </p:sp>
      <p:sp>
        <p:nvSpPr>
          <p:cNvPr id="37" name="Text 35"/>
          <p:cNvSpPr txBox="1"/>
          <p:nvPr/>
        </p:nvSpPr>
        <p:spPr>
          <a:xfrm>
            <a:off x="9372600" y="2697480"/>
            <a:ext cx="1280160" cy="274320"/>
          </a:xfrm>
          <a:prstGeom prst="rect">
            <a:avLst/>
          </a:prstGeom>
          <a:noFill/>
          <a:ln/>
        </p:spPr>
        <p:txBody>
          <a:bodyPr wrap="square" lIns="0" tIns="0" rIns="0" bIns="0" rtlCol="0" anchor="t"/>
          <a:lstStyle/>
          <a:p>
            <a:pPr algn="l" indent="0" marL="0">
              <a:buNone/>
            </a:pPr>
            <a:r>
              <a:rPr lang="en-US" sz="1100" dirty="0">
                <a:solidFill>
                  <a:schemeClr val="tx2"/>
                </a:solidFill>
              </a:rPr>
              <a:t>shortfall cover</a:t>
            </a:r>
            <a:endParaRPr lang="en-US" sz="1100" dirty="0"/>
          </a:p>
        </p:txBody>
      </p:sp>
      <p:sp>
        <p:nvSpPr>
          <p:cNvPr id="38" name="Text 36"/>
          <p:cNvSpPr txBox="1"/>
          <p:nvPr/>
        </p:nvSpPr>
        <p:spPr>
          <a:xfrm>
            <a:off x="6309360" y="4069080"/>
            <a:ext cx="5486400" cy="1463040"/>
          </a:xfrm>
          <a:prstGeom prst="rect">
            <a:avLst/>
          </a:prstGeom>
          <a:noFill/>
          <a:ln/>
        </p:spPr>
        <p:txBody>
          <a:bodyPr wrap="square" lIns="635" tIns="635" rIns="635" bIns="635" rtlCol="0" anchor="ctr"/>
          <a:lstStyle/>
          <a:p>
            <a:pPr marL="342900" indent="-342900">
              <a:spcAft>
                <a:spcPts val="600"/>
              </a:spcAft>
              <a:buSzPct val="100000"/>
              <a:buChar char="•"/>
            </a:pPr>
            <a:r>
              <a:rPr lang="en-US" sz="1300" dirty="0">
                <a:solidFill>
                  <a:schemeClr val="tx1"/>
                </a:solidFill>
              </a:rPr>
              <a:t>Merchant funds held in a segregated trust account</a:t>
            </a:r>
            <a:endParaRPr lang="en-US" sz="1300" dirty="0"/>
          </a:p>
          <a:p>
            <a:pPr marL="342900" indent="-342900">
              <a:spcAft>
                <a:spcPts val="600"/>
              </a:spcAft>
              <a:buSzPct val="100000"/>
              <a:buChar char="•"/>
            </a:pPr>
            <a:r>
              <a:rPr lang="en-US" sz="1300" dirty="0">
                <a:solidFill>
                  <a:schemeClr val="tx1"/>
                </a:solidFill>
              </a:rPr>
              <a:t>Daily safeguarding reconciliation, four-eyes sign-off</a:t>
            </a:r>
            <a:endParaRPr lang="en-US" sz="1300" dirty="0"/>
          </a:p>
          <a:p>
            <a:pPr marL="342900" indent="-342900">
              <a:spcAft>
                <a:spcPts val="600"/>
              </a:spcAft>
              <a:buSzPct val="100000"/>
              <a:buChar char="•"/>
            </a:pPr>
            <a:r>
              <a:rPr lang="en-US" sz="1300" dirty="0">
                <a:solidFill>
                  <a:schemeClr val="tx1"/>
                </a:solidFill>
              </a:rPr>
              <a:t>Requires aggregation agreements with acquirers</a:t>
            </a:r>
            <a:endParaRPr lang="en-US" sz="1300" dirty="0"/>
          </a:p>
        </p:txBody>
      </p:sp>
      <p:sp>
        <p:nvSpPr>
          <p:cNvPr id="39" name="Shape 37"/>
          <p:cNvSpPr/>
          <p:nvPr/>
        </p:nvSpPr>
        <p:spPr>
          <a:xfrm>
            <a:off x="6080760" y="1234440"/>
            <a:ext cx="0" cy="4389120"/>
          </a:xfrm>
          <a:prstGeom prst="line">
            <a:avLst/>
          </a:prstGeom>
          <a:noFill/>
          <a:ln w="12700">
            <a:solidFill>
              <a:srgbClr val="D5DDE7"/>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Evidence map: requested views and their status</a:t>
            </a:r>
            <a:endParaRPr lang="en-US" sz="3000" dirty="0"/>
          </a:p>
        </p:txBody>
      </p:sp>
      <p:graphicFrame>
        <p:nvGraphicFramePr>
          <p:cNvPr id="9" name="evidence-table"/>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474720"/>
                <a:gridCol w="1371600"/>
                <a:gridCol w="1463040"/>
                <a:gridCol w="4937760"/>
              </a:tblGrid>
              <a:tr h="457200">
                <a:tc>
                  <a:txBody>
                    <a:bodyPr/>
                    <a:lstStyle/>
                    <a:p>
                      <a:pPr indent="0" marL="0">
                        <a:buNone/>
                      </a:pPr>
                      <a:r>
                        <a:rPr lang="en-US" sz="1200" b="1" dirty="0">
                          <a:solidFill>
                            <a:schemeClr val="tx2"/>
                          </a:solidFill>
                        </a:rPr>
                        <a:t>View</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Status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Screenshots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Main limitation</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r>
              <a:tr h="457200">
                <a:tc>
                  <a:txBody>
                    <a:bodyPr/>
                    <a:lstStyle/>
                    <a:p>
                      <a:pPr indent="0" marL="0">
                        <a:buNone/>
                      </a:pPr>
                      <a:r>
                        <a:rPr lang="en-US" sz="1300" dirty="0">
                          <a:solidFill>
                            <a:schemeClr val="tx1"/>
                          </a:solidFill>
                        </a:rPr>
                        <a:t>S01 Sign-in and terms acceptance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S01a–f</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Terms text is a placeholder</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S02 Onboarding roadmap</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S02a–d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Final decision not shown on the merchant side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S03 Pre-qualification form</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S03a–b</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Risk indicators pending compliance validation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S04 KYB document collection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S04a–d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Antivirus not installed in the demo</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S05 Merchant portal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Partial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S05, S05b</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Onboarding only, no active-merchant area</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S06 Merchant dashboard</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Substitute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S06</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Internal volume report, not funds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S07 Settlement tracking</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5"/>
                          </a:solidFill>
                        </a:rPr>
                        <a:t>Partial</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S07</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Acquirer reconciliation, not trust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457200">
                <a:tc>
                  <a:txBody>
                    <a:bodyPr/>
                    <a:lstStyle/>
                    <a:p>
                      <a:pPr indent="0" marL="0">
                        <a:buNone/>
                      </a:pPr>
                      <a:r>
                        <a:rPr lang="en-US" sz="1300" dirty="0">
                          <a:solidFill>
                            <a:schemeClr val="tx1"/>
                          </a:solidFill>
                        </a:rPr>
                        <a:t>Controls (roles, audit, four-eyes, terms)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b="1" dirty="0">
                          <a:solidFill>
                            <a:schemeClr val="accent4"/>
                          </a:solidFill>
                        </a:rPr>
                        <a:t>Shown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C01–C05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indent="0" marL="0">
                        <a:buNone/>
                      </a:pPr>
                      <a:r>
                        <a:rPr lang="en-US" sz="1300" dirty="0">
                          <a:solidFill>
                            <a:schemeClr val="tx1"/>
                          </a:solidFill>
                        </a:rPr>
                        <a:t>Three staff roles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bl>
          </a:graphicData>
        </a:graphic>
      </p:graphicFrame>
      <p:sp>
        <p:nvSpPr>
          <p:cNvPr id="4" name="Text 1"/>
          <p:cNvSpPr txBox="1"/>
          <p:nvPr/>
        </p:nvSpPr>
        <p:spPr>
          <a:xfrm>
            <a:off x="457200" y="562356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All screenshots: development prototype, fictitious data, red DEMONSTRATION ENVIRONMENT banner.</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How the controls are tested</a:t>
            </a:r>
            <a:endParaRPr lang="en-US" sz="3000" dirty="0"/>
          </a:p>
        </p:txBody>
      </p:sp>
      <p:graphicFrame>
        <p:nvGraphicFramePr>
          <p:cNvPr id="10" name="tests-table"/>
          <p:cNvGraphicFramePr>
            <a:graphicFrameLocks noGrp="1"/>
          </p:cNvGraphicFramePr>
          <p:nvPr>
            <p:extLst>
              <p:ext uri="{D42A27DB-BD31-4B8C-83A1-F6EECF244321}">
                <p14:modId xmlns:p14="http://schemas.microsoft.com/office/powerpoint/2010/main" val="1579011935"/>
              </p:ext>
            </p:extLst>
          </p:nvPr>
        </p:nvGraphicFramePr>
        <p:xfrm>
          <a:off x="457200" y="1234440"/>
          <a:ext cx="6675120" cy="914400"/>
        </p:xfrm>
        <a:graphic>
          <a:graphicData uri="http://schemas.openxmlformats.org/drawingml/2006/table">
            <a:tbl>
              <a:tblPr/>
              <a:tblGrid>
                <a:gridCol w="5669280"/>
                <a:gridCol w="1005840"/>
              </a:tblGrid>
              <a:tr h="393192">
                <a:tc>
                  <a:txBody>
                    <a:bodyPr/>
                    <a:lstStyle/>
                    <a:p>
                      <a:pPr indent="0" marL="0">
                        <a:buNone/>
                      </a:pPr>
                      <a:r>
                        <a:rPr lang="en-US" sz="1200" b="1" dirty="0">
                          <a:solidFill>
                            <a:schemeClr val="tx2"/>
                          </a:solidFill>
                        </a:rPr>
                        <a:t>Area tested</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c>
                  <a:txBody>
                    <a:bodyPr/>
                    <a:lstStyle/>
                    <a:p>
                      <a:pPr algn="r" indent="0" marL="0">
                        <a:buNone/>
                      </a:pPr>
                      <a:r>
                        <a:rPr lang="en-US" sz="1200" b="1" dirty="0">
                          <a:solidFill>
                            <a:schemeClr val="tx2"/>
                          </a:solidFill>
                        </a:rPr>
                        <a:t>Checks</a:t>
                      </a:r>
                      <a:endParaRPr lang="en-US" sz="12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solidFill>
                      <a:schemeClr val="bg2"/>
                    </a:solidFill>
                  </a:tcPr>
                </a:tc>
              </a:tr>
              <a:tr h="393192">
                <a:tc>
                  <a:txBody>
                    <a:bodyPr/>
                    <a:lstStyle/>
                    <a:p>
                      <a:pPr indent="0" marL="0">
                        <a:buNone/>
                      </a:pPr>
                      <a:r>
                        <a:rPr lang="en-US" sz="1300" dirty="0">
                          <a:solidFill>
                            <a:schemeClr val="tx1"/>
                          </a:solidFill>
                        </a:rPr>
                        <a:t>Merchant portal: accounts, 2FA, terms, segregation between merchants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113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Staff document review and four-eyes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11</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Case approval: each blocker, approver role, four-eyes decision</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78</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Monthly reporting: cleaning rules, report lines, exports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65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Billing: fee rules, VAT, invoice lifecycle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47</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Acquirer reconciliation: gap categories to the cent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55</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Direct data import (simulated source)</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23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Merchant records: contacts, identifiers, contracts</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71</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Mandatory two-factor authentication for staff</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23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r h="393192">
                <a:tc>
                  <a:txBody>
                    <a:bodyPr/>
                    <a:lstStyle/>
                    <a:p>
                      <a:pPr indent="0" marL="0">
                        <a:buNone/>
                      </a:pPr>
                      <a:r>
                        <a:rPr lang="en-US" sz="1300" dirty="0">
                          <a:solidFill>
                            <a:schemeClr val="tx1"/>
                          </a:solidFill>
                        </a:rPr>
                        <a:t>Staff accounts, roles, 2FA, audit log, sign-in lockout</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c>
                  <a:txBody>
                    <a:bodyPr/>
                    <a:lstStyle/>
                    <a:p>
                      <a:pPr algn="r" indent="0" marL="0">
                        <a:buNone/>
                      </a:pPr>
                      <a:r>
                        <a:rPr lang="en-US" sz="1300" dirty="0">
                          <a:solidFill>
                            <a:schemeClr val="tx1"/>
                          </a:solidFill>
                        </a:rPr>
                        <a:t>93</a:t>
                      </a:r>
                      <a:endParaRPr lang="en-US" sz="1300" dirty="0"/>
                    </a:p>
                  </a:txBody>
                  <a:tcPr marL="54864" marR="54864" marT="54864" marB="54864" anchor="ctr">
                    <a:lnL w="6350" cap="flat" cmpd="sng" algn="ctr">
                      <a:solidFill>
                        <a:srgbClr val="D5DDE7"/>
                      </a:solidFill>
                      <a:prstDash val="solid"/>
                      <a:round/>
                      <a:headEnd type="none" w="med" len="med"/>
                      <a:tailEnd type="none" w="med" len="med"/>
                    </a:lnL>
                    <a:lnR w="6350" cap="flat" cmpd="sng" algn="ctr">
                      <a:solidFill>
                        <a:srgbClr val="D5DDE7"/>
                      </a:solidFill>
                      <a:prstDash val="solid"/>
                      <a:round/>
                      <a:headEnd type="none" w="med" len="med"/>
                      <a:tailEnd type="none" w="med" len="med"/>
                    </a:lnR>
                    <a:lnT w="6350" cap="flat" cmpd="sng" algn="ctr">
                      <a:solidFill>
                        <a:srgbClr val="D5DDE7"/>
                      </a:solidFill>
                      <a:prstDash val="solid"/>
                      <a:round/>
                      <a:headEnd type="none" w="med" len="med"/>
                      <a:tailEnd type="none" w="med" len="med"/>
                    </a:lnT>
                    <a:lnB w="6350" cap="flat" cmpd="sng" algn="ctr">
                      <a:solidFill>
                        <a:srgbClr val="D5DDE7"/>
                      </a:solidFill>
                      <a:prstDash val="solid"/>
                      <a:round/>
                      <a:headEnd type="none" w="med" len="med"/>
                      <a:tailEnd type="none" w="med" len="med"/>
                    </a:lnB>
                  </a:tcPr>
                </a:tc>
              </a:tr>
            </a:tbl>
          </a:graphicData>
        </a:graphic>
      </p:graphicFrame>
      <p:sp>
        <p:nvSpPr>
          <p:cNvPr id="4" name="Text 1"/>
          <p:cNvSpPr txBox="1"/>
          <p:nvPr/>
        </p:nvSpPr>
        <p:spPr>
          <a:xfrm>
            <a:off x="7498080" y="1234440"/>
            <a:ext cx="4206240" cy="411480"/>
          </a:xfrm>
          <a:prstGeom prst="rect">
            <a:avLst/>
          </a:prstGeom>
          <a:noFill/>
          <a:ln/>
        </p:spPr>
        <p:txBody>
          <a:bodyPr wrap="square" lIns="0" tIns="0" rIns="0" bIns="0" rtlCol="0" anchor="t"/>
          <a:lstStyle/>
          <a:p>
            <a:pPr algn="l" indent="0" marL="0">
              <a:buNone/>
            </a:pPr>
            <a:r>
              <a:rPr lang="en-US" sz="1800" b="1" dirty="0">
                <a:solidFill>
                  <a:schemeClr val="accent4"/>
                </a:solidFill>
                <a:latin typeface="Cambria" pitchFamily="34" charset="0"/>
                <a:ea typeface="Cambria" pitchFamily="34" charset="-122"/>
                <a:cs typeface="Cambria" pitchFamily="34" charset="-120"/>
              </a:rPr>
              <a:t>What the tests show</a:t>
            </a:r>
            <a:endParaRPr lang="en-US" sz="1800" dirty="0"/>
          </a:p>
        </p:txBody>
      </p:sp>
      <p:sp>
        <p:nvSpPr>
          <p:cNvPr id="5" name="Text 2"/>
          <p:cNvSpPr txBox="1"/>
          <p:nvPr/>
        </p:nvSpPr>
        <p:spPr>
          <a:xfrm>
            <a:off x="7498080" y="1691640"/>
            <a:ext cx="4206240" cy="22860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chemeClr val="tx1"/>
                </a:solidFill>
              </a:rPr>
              <a:t>Each control is exercised through the application interface, as a user would</a:t>
            </a:r>
            <a:endParaRPr lang="en-US" sz="1300" dirty="0"/>
          </a:p>
          <a:p>
            <a:pPr marL="342900" indent="-342900">
              <a:spcAft>
                <a:spcPts val="600"/>
              </a:spcAft>
              <a:buSzPct val="100000"/>
              <a:buChar char="•"/>
            </a:pPr>
            <a:r>
              <a:rPr lang="en-US" sz="1300" dirty="0">
                <a:solidFill>
                  <a:schemeClr val="tx1"/>
                </a:solidFill>
              </a:rPr>
              <a:t>Refusals are checked as well as successes: wrong role, other merchant's case, own document, missing approval blockers</a:t>
            </a:r>
            <a:endParaRPr lang="en-US" sz="1300" dirty="0"/>
          </a:p>
          <a:p>
            <a:pPr marL="342900" indent="-342900">
              <a:spcAft>
                <a:spcPts val="600"/>
              </a:spcAft>
              <a:buSzPct val="100000"/>
              <a:buChar char="•"/>
            </a:pPr>
            <a:r>
              <a:rPr lang="en-US" sz="1300" dirty="0">
                <a:solidFill>
                  <a:schemeClr val="tx1"/>
                </a:solidFill>
              </a:rPr>
              <a:t>Expected figures are computed by hand from fictitious data</a:t>
            </a:r>
            <a:endParaRPr lang="en-US" sz="1300" dirty="0"/>
          </a:p>
        </p:txBody>
      </p:sp>
      <p:sp>
        <p:nvSpPr>
          <p:cNvPr id="6" name="Text 3"/>
          <p:cNvSpPr txBox="1"/>
          <p:nvPr/>
        </p:nvSpPr>
        <p:spPr>
          <a:xfrm>
            <a:off x="7498080" y="3977640"/>
            <a:ext cx="4206240" cy="411480"/>
          </a:xfrm>
          <a:prstGeom prst="rect">
            <a:avLst/>
          </a:prstGeom>
          <a:noFill/>
          <a:ln/>
        </p:spPr>
        <p:txBody>
          <a:bodyPr wrap="square" lIns="0" tIns="0" rIns="0" bIns="0" rtlCol="0" anchor="t"/>
          <a:lstStyle/>
          <a:p>
            <a:pPr algn="l" indent="0" marL="0">
              <a:buNone/>
            </a:pPr>
            <a:r>
              <a:rPr lang="en-US" sz="1800" b="1" dirty="0">
                <a:solidFill>
                  <a:schemeClr val="accent6"/>
                </a:solidFill>
                <a:latin typeface="Cambria" pitchFamily="34" charset="0"/>
                <a:ea typeface="Cambria" pitchFamily="34" charset="-122"/>
                <a:cs typeface="Cambria" pitchFamily="34" charset="-120"/>
              </a:rPr>
              <a:t>What they do not show</a:t>
            </a:r>
            <a:endParaRPr lang="en-US" sz="1800" dirty="0"/>
          </a:p>
        </p:txBody>
      </p:sp>
      <p:sp>
        <p:nvSpPr>
          <p:cNvPr id="7" name="Text 4"/>
          <p:cNvSpPr txBox="1"/>
          <p:nvPr/>
        </p:nvSpPr>
        <p:spPr>
          <a:xfrm>
            <a:off x="7498080" y="4434840"/>
            <a:ext cx="4206240" cy="13716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chemeClr val="tx1"/>
                </a:solidFill>
              </a:rPr>
              <a:t>Behaviour of a production system or on real data</a:t>
            </a:r>
            <a:endParaRPr lang="en-US" sz="1300" dirty="0"/>
          </a:p>
          <a:p>
            <a:pPr marL="342900" indent="-342900">
              <a:spcAft>
                <a:spcPts val="600"/>
              </a:spcAft>
              <a:buSzPct val="100000"/>
              <a:buChar char="•"/>
            </a:pPr>
            <a:r>
              <a:rPr lang="en-US" sz="1300" dirty="0">
                <a:solidFill>
                  <a:schemeClr val="tx1"/>
                </a:solidFill>
              </a:rPr>
              <a:t>That business rules (amount units, VAT treatment) are confirmed</a:t>
            </a:r>
            <a:endParaRPr lang="en-US" sz="1300" dirty="0"/>
          </a:p>
        </p:txBody>
      </p:sp>
      <p:sp>
        <p:nvSpPr>
          <p:cNvPr id="8" name="Text 5"/>
          <p:cNvSpPr txBox="1"/>
          <p:nvPr/>
        </p:nvSpPr>
        <p:spPr>
          <a:xfrm>
            <a:off x="457200" y="589788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Development prototype. Tests run on a disposable database; they do not replace testing of the production system.</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lIns="0" tIns="0" rIns="0" bIns="0" rtlCol="0" anchor="ctr"/>
          <a:lstStyle/>
          <a:p>
            <a:pPr algn="l" indent="0" marL="0">
              <a:buNone/>
            </a:pPr>
            <a:r>
              <a:rPr lang="en-US" sz="3000" b="1" dirty="0">
                <a:solidFill>
                  <a:schemeClr val="tx1"/>
                </a:solidFill>
              </a:rPr>
              <a:t>Not yet in place</a:t>
            </a:r>
            <a:endParaRPr lang="en-US" sz="3000" dirty="0"/>
          </a:p>
        </p:txBody>
      </p:sp>
      <p:sp>
        <p:nvSpPr>
          <p:cNvPr id="3" name="gap-0"/>
          <p:cNvSpPr/>
          <p:nvPr/>
        </p:nvSpPr>
        <p:spPr>
          <a:xfrm>
            <a:off x="457200" y="1280160"/>
            <a:ext cx="5440680" cy="1325880"/>
          </a:xfrm>
          <a:prstGeom prst="roundRect">
            <a:avLst>
              <a:gd name="adj" fmla="val 5517"/>
            </a:avLst>
          </a:prstGeom>
          <a:solidFill>
            <a:schemeClr val="bg2"/>
          </a:solidFill>
          <a:ln w="9525">
            <a:solidFill>
              <a:schemeClr val="bg2"/>
            </a:solidFill>
            <a:prstDash val="solid"/>
          </a:ln>
        </p:spPr>
      </p:sp>
      <p:sp>
        <p:nvSpPr>
          <p:cNvPr id="4" name="gdot-0"/>
          <p:cNvSpPr/>
          <p:nvPr/>
        </p:nvSpPr>
        <p:spPr>
          <a:xfrm>
            <a:off x="685800" y="1554480"/>
            <a:ext cx="292608" cy="292608"/>
          </a:xfrm>
          <a:prstGeom prst="ellipse">
            <a:avLst/>
          </a:prstGeom>
          <a:solidFill>
            <a:schemeClr val="accent5"/>
          </a:solidFill>
          <a:ln w="12700">
            <a:solidFill>
              <a:schemeClr val="accent5"/>
            </a:solidFill>
            <a:prstDash val="solid"/>
          </a:ln>
        </p:spPr>
      </p:sp>
      <p:sp>
        <p:nvSpPr>
          <p:cNvPr id="5" name="Text 3"/>
          <p:cNvSpPr txBox="1"/>
          <p:nvPr/>
        </p:nvSpPr>
        <p:spPr>
          <a:xfrm>
            <a:off x="1097280" y="144475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Safeguarding reconciliation</a:t>
            </a:r>
            <a:endParaRPr lang="en-US" sz="1700" dirty="0"/>
          </a:p>
        </p:txBody>
      </p:sp>
      <p:sp>
        <p:nvSpPr>
          <p:cNvPr id="6" name="Text 4"/>
          <p:cNvSpPr txBox="1"/>
          <p:nvPr/>
        </p:nvSpPr>
        <p:spPr>
          <a:xfrm>
            <a:off x="1097280" y="192024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Daily bank-to-ledger-to-merchant-funds reconciliation, needed only if merchant funds are collected (model B).</a:t>
            </a:r>
            <a:endParaRPr lang="en-US" sz="1300" dirty="0"/>
          </a:p>
        </p:txBody>
      </p:sp>
      <p:sp>
        <p:nvSpPr>
          <p:cNvPr id="7" name="gap-1"/>
          <p:cNvSpPr/>
          <p:nvPr/>
        </p:nvSpPr>
        <p:spPr>
          <a:xfrm>
            <a:off x="6126480" y="1280160"/>
            <a:ext cx="5440680" cy="1325880"/>
          </a:xfrm>
          <a:prstGeom prst="roundRect">
            <a:avLst>
              <a:gd name="adj" fmla="val 5517"/>
            </a:avLst>
          </a:prstGeom>
          <a:solidFill>
            <a:schemeClr val="bg2"/>
          </a:solidFill>
          <a:ln w="9525">
            <a:solidFill>
              <a:schemeClr val="bg2"/>
            </a:solidFill>
            <a:prstDash val="solid"/>
          </a:ln>
        </p:spPr>
      </p:sp>
      <p:sp>
        <p:nvSpPr>
          <p:cNvPr id="8" name="gdot-1"/>
          <p:cNvSpPr/>
          <p:nvPr/>
        </p:nvSpPr>
        <p:spPr>
          <a:xfrm>
            <a:off x="6355080" y="1554480"/>
            <a:ext cx="292608" cy="292608"/>
          </a:xfrm>
          <a:prstGeom prst="ellipse">
            <a:avLst/>
          </a:prstGeom>
          <a:solidFill>
            <a:schemeClr val="accent5"/>
          </a:solidFill>
          <a:ln w="12700">
            <a:solidFill>
              <a:schemeClr val="accent5"/>
            </a:solidFill>
            <a:prstDash val="solid"/>
          </a:ln>
        </p:spPr>
      </p:sp>
      <p:sp>
        <p:nvSpPr>
          <p:cNvPr id="9" name="Text 7"/>
          <p:cNvSpPr txBox="1"/>
          <p:nvPr/>
        </p:nvSpPr>
        <p:spPr>
          <a:xfrm>
            <a:off x="6766560" y="144475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Transaction monitoring</a:t>
            </a:r>
            <a:endParaRPr lang="en-US" sz="1700" dirty="0"/>
          </a:p>
        </p:txBody>
      </p:sp>
      <p:sp>
        <p:nvSpPr>
          <p:cNvPr id="10" name="Text 8"/>
          <p:cNvSpPr txBox="1"/>
          <p:nvPr/>
        </p:nvSpPr>
        <p:spPr>
          <a:xfrm>
            <a:off x="6766560" y="192024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Rules, alerts and case investigation for AML and fraud.</a:t>
            </a:r>
            <a:endParaRPr lang="en-US" sz="1300" dirty="0"/>
          </a:p>
        </p:txBody>
      </p:sp>
      <p:sp>
        <p:nvSpPr>
          <p:cNvPr id="11" name="gap-2"/>
          <p:cNvSpPr/>
          <p:nvPr/>
        </p:nvSpPr>
        <p:spPr>
          <a:xfrm>
            <a:off x="457200" y="2834640"/>
            <a:ext cx="5440680" cy="1325880"/>
          </a:xfrm>
          <a:prstGeom prst="roundRect">
            <a:avLst>
              <a:gd name="adj" fmla="val 5517"/>
            </a:avLst>
          </a:prstGeom>
          <a:solidFill>
            <a:schemeClr val="bg2"/>
          </a:solidFill>
          <a:ln w="9525">
            <a:solidFill>
              <a:schemeClr val="bg2"/>
            </a:solidFill>
            <a:prstDash val="solid"/>
          </a:ln>
        </p:spPr>
      </p:sp>
      <p:sp>
        <p:nvSpPr>
          <p:cNvPr id="12" name="gdot-2"/>
          <p:cNvSpPr/>
          <p:nvPr/>
        </p:nvSpPr>
        <p:spPr>
          <a:xfrm>
            <a:off x="685800" y="3108960"/>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1097280" y="299923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Refunds, chargebacks, disputes</a:t>
            </a:r>
            <a:endParaRPr lang="en-US" sz="1700" dirty="0"/>
          </a:p>
        </p:txBody>
      </p:sp>
      <p:sp>
        <p:nvSpPr>
          <p:cNvPr id="14" name="Text 12"/>
          <p:cNvSpPr txBox="1"/>
          <p:nvPr/>
        </p:nvSpPr>
        <p:spPr>
          <a:xfrm>
            <a:off x="1097280" y="347472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Registers, statuses and deadlines.</a:t>
            </a:r>
            <a:endParaRPr lang="en-US" sz="1300" dirty="0"/>
          </a:p>
        </p:txBody>
      </p:sp>
      <p:sp>
        <p:nvSpPr>
          <p:cNvPr id="15" name="gap-3"/>
          <p:cNvSpPr/>
          <p:nvPr/>
        </p:nvSpPr>
        <p:spPr>
          <a:xfrm>
            <a:off x="6126480" y="2834640"/>
            <a:ext cx="5440680" cy="1325880"/>
          </a:xfrm>
          <a:prstGeom prst="roundRect">
            <a:avLst>
              <a:gd name="adj" fmla="val 5517"/>
            </a:avLst>
          </a:prstGeom>
          <a:solidFill>
            <a:schemeClr val="bg2"/>
          </a:solidFill>
          <a:ln w="9525">
            <a:solidFill>
              <a:schemeClr val="bg2"/>
            </a:solidFill>
            <a:prstDash val="solid"/>
          </a:ln>
        </p:spPr>
      </p:sp>
      <p:sp>
        <p:nvSpPr>
          <p:cNvPr id="16" name="gdot-3"/>
          <p:cNvSpPr/>
          <p:nvPr/>
        </p:nvSpPr>
        <p:spPr>
          <a:xfrm>
            <a:off x="6355080" y="3108960"/>
            <a:ext cx="292608" cy="292608"/>
          </a:xfrm>
          <a:prstGeom prst="ellipse">
            <a:avLst/>
          </a:prstGeom>
          <a:solidFill>
            <a:schemeClr val="accent5"/>
          </a:solidFill>
          <a:ln w="12700">
            <a:solidFill>
              <a:schemeClr val="accent5"/>
            </a:solidFill>
            <a:prstDash val="solid"/>
          </a:ln>
        </p:spPr>
      </p:sp>
      <p:sp>
        <p:nvSpPr>
          <p:cNvPr id="17" name="Text 15"/>
          <p:cNvSpPr txBox="1"/>
          <p:nvPr/>
        </p:nvSpPr>
        <p:spPr>
          <a:xfrm>
            <a:off x="6766560" y="299923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Complaints handling</a:t>
            </a:r>
            <a:endParaRPr lang="en-US" sz="1700" dirty="0"/>
          </a:p>
        </p:txBody>
      </p:sp>
      <p:sp>
        <p:nvSpPr>
          <p:cNvPr id="18" name="Text 16"/>
          <p:cNvSpPr txBox="1"/>
          <p:nvPr/>
        </p:nvSpPr>
        <p:spPr>
          <a:xfrm>
            <a:off x="6766560" y="347472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Register, response times, escalation.</a:t>
            </a:r>
            <a:endParaRPr lang="en-US" sz="1300" dirty="0"/>
          </a:p>
        </p:txBody>
      </p:sp>
      <p:sp>
        <p:nvSpPr>
          <p:cNvPr id="19" name="gap-4"/>
          <p:cNvSpPr/>
          <p:nvPr/>
        </p:nvSpPr>
        <p:spPr>
          <a:xfrm>
            <a:off x="457200" y="4389120"/>
            <a:ext cx="5440680" cy="1325880"/>
          </a:xfrm>
          <a:prstGeom prst="roundRect">
            <a:avLst>
              <a:gd name="adj" fmla="val 5517"/>
            </a:avLst>
          </a:prstGeom>
          <a:solidFill>
            <a:schemeClr val="bg2"/>
          </a:solidFill>
          <a:ln w="9525">
            <a:solidFill>
              <a:schemeClr val="bg2"/>
            </a:solidFill>
            <a:prstDash val="solid"/>
          </a:ln>
        </p:spPr>
      </p:sp>
      <p:sp>
        <p:nvSpPr>
          <p:cNvPr id="20" name="gdot-4"/>
          <p:cNvSpPr/>
          <p:nvPr/>
        </p:nvSpPr>
        <p:spPr>
          <a:xfrm>
            <a:off x="685800" y="4663440"/>
            <a:ext cx="292608" cy="292608"/>
          </a:xfrm>
          <a:prstGeom prst="ellipse">
            <a:avLst/>
          </a:prstGeom>
          <a:solidFill>
            <a:schemeClr val="accent5"/>
          </a:solidFill>
          <a:ln w="12700">
            <a:solidFill>
              <a:schemeClr val="accent5"/>
            </a:solidFill>
            <a:prstDash val="solid"/>
          </a:ln>
        </p:spPr>
      </p:sp>
      <p:sp>
        <p:nvSpPr>
          <p:cNvPr id="21" name="Text 19"/>
          <p:cNvSpPr txBox="1"/>
          <p:nvPr/>
        </p:nvSpPr>
        <p:spPr>
          <a:xfrm>
            <a:off x="1097280" y="455371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Automated sanctions / PEP screening</a:t>
            </a:r>
            <a:endParaRPr lang="en-US" sz="1700" dirty="0"/>
          </a:p>
        </p:txBody>
      </p:sp>
      <p:sp>
        <p:nvSpPr>
          <p:cNvPr id="22" name="Text 20"/>
          <p:cNvSpPr txBox="1"/>
          <p:nvPr/>
        </p:nvSpPr>
        <p:spPr>
          <a:xfrm>
            <a:off x="1097280" y="502920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Provider integration, adverse media, ongoing re-screening.</a:t>
            </a:r>
            <a:endParaRPr lang="en-US" sz="1300" dirty="0"/>
          </a:p>
        </p:txBody>
      </p:sp>
      <p:sp>
        <p:nvSpPr>
          <p:cNvPr id="23" name="gap-5"/>
          <p:cNvSpPr/>
          <p:nvPr/>
        </p:nvSpPr>
        <p:spPr>
          <a:xfrm>
            <a:off x="6126480" y="4389120"/>
            <a:ext cx="5440680" cy="1325880"/>
          </a:xfrm>
          <a:prstGeom prst="roundRect">
            <a:avLst>
              <a:gd name="adj" fmla="val 5517"/>
            </a:avLst>
          </a:prstGeom>
          <a:solidFill>
            <a:schemeClr val="bg2"/>
          </a:solidFill>
          <a:ln w="9525">
            <a:solidFill>
              <a:schemeClr val="bg2"/>
            </a:solidFill>
            <a:prstDash val="solid"/>
          </a:ln>
        </p:spPr>
      </p:sp>
      <p:sp>
        <p:nvSpPr>
          <p:cNvPr id="24" name="gdot-5"/>
          <p:cNvSpPr/>
          <p:nvPr/>
        </p:nvSpPr>
        <p:spPr>
          <a:xfrm>
            <a:off x="6355080" y="4663440"/>
            <a:ext cx="292608" cy="292608"/>
          </a:xfrm>
          <a:prstGeom prst="ellipse">
            <a:avLst/>
          </a:prstGeom>
          <a:solidFill>
            <a:schemeClr val="accent5"/>
          </a:solidFill>
          <a:ln w="12700">
            <a:solidFill>
              <a:schemeClr val="accent5"/>
            </a:solidFill>
            <a:prstDash val="solid"/>
          </a:ln>
        </p:spPr>
      </p:sp>
      <p:sp>
        <p:nvSpPr>
          <p:cNvPr id="25" name="Text 23"/>
          <p:cNvSpPr txBox="1"/>
          <p:nvPr/>
        </p:nvSpPr>
        <p:spPr>
          <a:xfrm>
            <a:off x="6766560" y="4553712"/>
            <a:ext cx="4663440" cy="457200"/>
          </a:xfrm>
          <a:prstGeom prst="rect">
            <a:avLst/>
          </a:prstGeom>
          <a:noFill/>
          <a:ln/>
        </p:spPr>
        <p:txBody>
          <a:bodyPr wrap="square" lIns="1016" tIns="1016" rIns="1016" bIns="1016" rtlCol="0" anchor="t"/>
          <a:lstStyle/>
          <a:p>
            <a:pPr algn="l" indent="0" marL="0">
              <a:buNone/>
            </a:pPr>
            <a:r>
              <a:rPr lang="en-US" sz="1700" b="1" dirty="0">
                <a:solidFill>
                  <a:schemeClr val="tx1"/>
                </a:solidFill>
              </a:rPr>
              <a:t>Production antivirus</a:t>
            </a:r>
            <a:endParaRPr lang="en-US" sz="1700" dirty="0"/>
          </a:p>
        </p:txBody>
      </p:sp>
      <p:sp>
        <p:nvSpPr>
          <p:cNvPr id="26" name="Text 24"/>
          <p:cNvSpPr txBox="1"/>
          <p:nvPr/>
        </p:nvSpPr>
        <p:spPr>
          <a:xfrm>
            <a:off x="6766560" y="5029200"/>
            <a:ext cx="4663440" cy="640080"/>
          </a:xfrm>
          <a:prstGeom prst="rect">
            <a:avLst/>
          </a:prstGeom>
          <a:noFill/>
          <a:ln/>
        </p:spPr>
        <p:txBody>
          <a:bodyPr wrap="square" lIns="1016" tIns="1016" rIns="1016" bIns="1016" rtlCol="0" anchor="t"/>
          <a:lstStyle/>
          <a:p>
            <a:pPr algn="l" indent="0" marL="0">
              <a:buNone/>
            </a:pPr>
            <a:r>
              <a:rPr lang="en-US" sz="1300" dirty="0">
                <a:solidFill>
                  <a:schemeClr val="tx1"/>
                </a:solidFill>
              </a:rPr>
              <a:t>Scanning of every merchant upload, mandatory before go-live.</a:t>
            </a:r>
            <a:endParaRPr lang="en-US" sz="1300" dirty="0"/>
          </a:p>
        </p:txBody>
      </p:sp>
      <p:sp>
        <p:nvSpPr>
          <p:cNvPr id="27" name="Text 25"/>
          <p:cNvSpPr txBox="1"/>
          <p:nvPr/>
        </p:nvSpPr>
        <p:spPr>
          <a:xfrm>
            <a:off x="457200" y="5943600"/>
            <a:ext cx="11247120" cy="365760"/>
          </a:xfrm>
          <a:prstGeom prst="rect">
            <a:avLst/>
          </a:prstGeom>
          <a:noFill/>
          <a:ln/>
        </p:spPr>
        <p:txBody>
          <a:bodyPr wrap="square" lIns="0" tIns="0" rIns="0" bIns="0" rtlCol="0" anchor="t"/>
          <a:lstStyle/>
          <a:p>
            <a:pPr algn="l" indent="0" marL="0">
              <a:buNone/>
            </a:pPr>
            <a:r>
              <a:rPr lang="en-US" sz="1300" i="1" dirty="0">
                <a:solidFill>
                  <a:schemeClr val="tx2"/>
                </a:solidFill>
              </a:rPr>
              <a:t>These items are specified or identified, not built. No timeline is committed in this draft.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Merchant Platform">
  <a:themeElements>
    <a:clrScheme name="Merchant Platform">
      <a:dk1>
        <a:srgbClr val="12233A"/>
      </a:dk1>
      <a:lt1>
        <a:srgbClr val="FFFFFF"/>
      </a:lt1>
      <a:dk2>
        <a:srgbClr val="5A6B80"/>
      </a:dk2>
      <a:lt2>
        <a:srgbClr val="F1F4F7"/>
      </a:lt2>
      <a:accent1>
        <a:srgbClr val="0F7C8C"/>
      </a:accent1>
      <a:accent2>
        <a:srgbClr val="2F5FA7"/>
      </a:accent2>
      <a:accent3>
        <a:srgbClr val="9A5B13"/>
      </a:accent3>
      <a:accent4>
        <a:srgbClr val="1D7A46"/>
      </a:accent4>
      <a:accent5>
        <a:srgbClr val="B07D00"/>
      </a:accent5>
      <a:accent6>
        <a:srgbClr val="B3261E"/>
      </a:accent6>
      <a:hlink>
        <a:srgbClr val="0F7C8C"/>
      </a:hlink>
      <a:folHlink>
        <a:srgbClr val="5A6B80"/>
      </a:folHlink>
    </a:clrScheme>
    <a:fontScheme name="Merchant Platfor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Merchant platform — development prototype</dc:title>
  <dc:subject>PptxGenJS Presentation</dc:subject>
  <dc:creator>MIPS</dc:creator>
  <cp:lastModifiedBy>MIPS</cp:lastModifiedBy>
  <cp:revision>1</cp:revision>
  <dcterms:created xsi:type="dcterms:W3CDTF">2026-10-30T14:19:53Z</dcterms:created>
  <dcterms:modified xsi:type="dcterms:W3CDTF">2026-10-30T14:19:53Z</dcterms:modified>
</cp:coreProperties>
</file>