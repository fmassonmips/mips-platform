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8bb5c0a1-864a-adf7-6b90-47bd9a37ea4c}">
          <p14:sldIdLst>
            <p14:sldId id="256"/>
            <p14:sldId id="257"/>
          </p14:sldIdLst>
        </p14:section>
        <p14:section name="Platform" id="{15f27ce4-8cc8-2f23-8c12-3bbdc526e33d}">
          <p14:sldIdLst>
            <p14:sldId id="258"/>
            <p14:sldId id="259"/>
            <p14:sldId id="260"/>
            <p14:sldId id="261"/>
          </p14:sldIdLst>
        </p14:section>
        <p14:section name="Funds and evidence" id="{ee72e49b-f3ca-a25a-fa5d-51dc02aac245}">
          <p14:sldIdLst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 draft. Before submission: confirm the entity names (SPIN DIGITAL / MIPS / MIPS INTERNATIONAL) against B01 and G01, and settle the fund-flow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screenshot carries a red DEMONSTRATION ENVIRONMENT banner with the build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 requires: every required document accepted, at least one director and one beneficial owner, shareholders above the threshold recorded as beneficial owners, every person screened clear, a risk rating (high if a PEP is involved), legal name and BRN. The decision is taken by an approver who never handled the case: not its creator, analyst or anyone who reassigned it. Thresholds are default values pending compliance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INTERNAL. Gateway model (A) chosen by the CEO on 31 October; collection on behalf of merchants (B) is not pursued unless there is a clear commercial reason. Two blocking checks before submission: (1) Compliance: the licence category applied for must not require holding merchant funds; (2) Finance: no flow (MyT Money, Juice, bank transfer) may go through a MIPS account. Remove the TO CONFIRM tag only when both are confirmed.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S04d was recaptured on 30 October with ClamAV running the official signature databases: each upload shows "antivirus OK", meaning no known signature was detected, not that the file is guaranteed safe. S04c is the same fictitious walkthrough, captured two days earlier.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INTERNAL. The tests led to three fixes in the prototype: sign-in lockout per account instead of per IP; password-change time stored to the microsecond; four-eyes on case decisions extended to everyone who handled the case (an analyst with approver rights could reassign a case and decide it). They are deliberately not described here: development history, not a control. Mention them only if asked how the tests were used. Fourteen deliberate faults introduced in the code were all detected. The ClamAV suite uses a one-line test signature (EICAR): the official databases could not be downloaded in the test environment. The mandatory staff 2FA is tested with the rule switched on, as in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Commit to dates only once the fund-flow model and the resources are decided.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375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Development prototype · demonstration data only · DRAFT for internal review before submission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Merchant onboarding and back-office platform</a:t>
            </a: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375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Development prototype — supporting material for the SPIN DIGITAL application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DRAFT for internal review · October 2026 · not deployed · demonstration data only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this material shows, and what it does not</a:t>
            </a:r>
            <a:endParaRPr lang="en-US" sz="3000" dirty="0"/>
          </a:p>
        </p:txBody>
      </p:sp>
      <p:sp>
        <p:nvSpPr>
          <p:cNvPr id="3" name="stat-0"/>
          <p:cNvSpPr/>
          <p:nvPr/>
        </p:nvSpPr>
        <p:spPr>
          <a:xfrm>
            <a:off x="457200" y="132588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functional modules built</a:t>
            </a:r>
            <a:endParaRPr lang="en-US" sz="1400" dirty="0"/>
          </a:p>
        </p:txBody>
      </p:sp>
      <p:sp>
        <p:nvSpPr>
          <p:cNvPr id="6" name="stat-1"/>
          <p:cNvSpPr/>
          <p:nvPr/>
        </p:nvSpPr>
        <p:spPr>
          <a:xfrm>
            <a:off x="3291840" y="132588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5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screens captured</a:t>
            </a:r>
            <a:endParaRPr lang="en-US" sz="1400" dirty="0"/>
          </a:p>
        </p:txBody>
      </p:sp>
      <p:sp>
        <p:nvSpPr>
          <p:cNvPr id="9" name="stat-2"/>
          <p:cNvSpPr/>
          <p:nvPr/>
        </p:nvSpPr>
        <p:spPr>
          <a:xfrm>
            <a:off x="6126480" y="132588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0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user populations kept apart: staff and merchants</a:t>
            </a:r>
            <a:endParaRPr lang="en-US" sz="1400" dirty="0"/>
          </a:p>
        </p:txBody>
      </p:sp>
      <p:sp>
        <p:nvSpPr>
          <p:cNvPr id="12" name="stat-3"/>
          <p:cNvSpPr/>
          <p:nvPr/>
        </p:nvSpPr>
        <p:spPr>
          <a:xfrm>
            <a:off x="8961120" y="132588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590</a:t>
            </a:r>
            <a:endParaRPr lang="en-US" sz="5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automated checks, fictitious data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08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shows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11880"/>
            <a:ext cx="54864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How merchants are onboarded and verified (KYC/KYB)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internal controls built into each step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How transaction data is reported, billed and reconciled with the acquirer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Which requested views are covered, and which are not yet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3108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does not show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611880"/>
            <a:ext cx="54864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system in production or an operational, authorised service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Real merchants, people, transactions or bank data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Transaction monitoring, disputes or complaints handling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Final legal texts: the terms of use shown are a placeholder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Nine modules between data sources and outputs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SOURCES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971800" y="11887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MODULES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OUTPUTS</a:t>
            </a:r>
            <a:endParaRPr lang="en-US" sz="1100" dirty="0"/>
          </a:p>
        </p:txBody>
      </p:sp>
      <p:sp>
        <p:nvSpPr>
          <p:cNvPr id="6" name="src-0"/>
          <p:cNvSpPr/>
          <p:nvPr/>
        </p:nvSpPr>
        <p:spPr>
          <a:xfrm>
            <a:off x="457200" y="155448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55448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Monthly transaction export</a:t>
            </a:r>
            <a:endParaRPr lang="en-US" sz="1400" dirty="0"/>
          </a:p>
        </p:txBody>
      </p:sp>
      <p:sp>
        <p:nvSpPr>
          <p:cNvPr id="8" name="src-1"/>
          <p:cNvSpPr/>
          <p:nvPr/>
        </p:nvSpPr>
        <p:spPr>
          <a:xfrm>
            <a:off x="457200" y="265176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265176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Data warehouse (BigQuery)</a:t>
            </a:r>
            <a:endParaRPr lang="en-US" sz="1400" dirty="0"/>
          </a:p>
        </p:txBody>
      </p:sp>
      <p:sp>
        <p:nvSpPr>
          <p:cNvPr id="10" name="src-2"/>
          <p:cNvSpPr/>
          <p:nvPr/>
        </p:nvSpPr>
        <p:spPr>
          <a:xfrm>
            <a:off x="457200" y="374904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374904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Acquirer file (MCB)</a:t>
            </a:r>
            <a:endParaRPr lang="en-US" sz="1400" dirty="0"/>
          </a:p>
        </p:txBody>
      </p:sp>
      <p:sp>
        <p:nvSpPr>
          <p:cNvPr id="12" name="src-3"/>
          <p:cNvSpPr/>
          <p:nvPr/>
        </p:nvSpPr>
        <p:spPr>
          <a:xfrm>
            <a:off x="457200" y="484632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484632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Applicants (portal)</a:t>
            </a:r>
            <a:endParaRPr lang="en-US" sz="1400" dirty="0"/>
          </a:p>
        </p:txBody>
      </p:sp>
      <p:sp>
        <p:nvSpPr>
          <p:cNvPr id="14" name="mod-0"/>
          <p:cNvSpPr/>
          <p:nvPr/>
        </p:nvSpPr>
        <p:spPr>
          <a:xfrm>
            <a:off x="297180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4495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Monthly reporting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04495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Fixed data rules, trends</a:t>
            </a:r>
            <a:endParaRPr lang="en-US" sz="1200" dirty="0"/>
          </a:p>
        </p:txBody>
      </p:sp>
      <p:sp>
        <p:nvSpPr>
          <p:cNvPr id="17" name="mod-1"/>
          <p:cNvSpPr/>
          <p:nvPr/>
        </p:nvSpPr>
        <p:spPr>
          <a:xfrm>
            <a:off x="507492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4807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Billing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14807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Fee rules, invoices</a:t>
            </a:r>
            <a:endParaRPr lang="en-US" sz="1200" dirty="0"/>
          </a:p>
        </p:txBody>
      </p:sp>
      <p:sp>
        <p:nvSpPr>
          <p:cNvPr id="20" name="mod-2"/>
          <p:cNvSpPr/>
          <p:nvPr/>
        </p:nvSpPr>
        <p:spPr>
          <a:xfrm>
            <a:off x="717804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5119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Acquirer reconciliation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5119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Gaps explained to zero</a:t>
            </a:r>
            <a:endParaRPr lang="en-US" sz="1200" dirty="0"/>
          </a:p>
        </p:txBody>
      </p:sp>
      <p:sp>
        <p:nvSpPr>
          <p:cNvPr id="23" name="mod-3"/>
          <p:cNvSpPr/>
          <p:nvPr/>
        </p:nvSpPr>
        <p:spPr>
          <a:xfrm>
            <a:off x="297180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4495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Merchant records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304495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Identity, MIDs, contracts</a:t>
            </a:r>
            <a:endParaRPr lang="en-US" sz="1200" dirty="0"/>
          </a:p>
        </p:txBody>
      </p:sp>
      <p:sp>
        <p:nvSpPr>
          <p:cNvPr id="26" name="mod-4"/>
          <p:cNvSpPr/>
          <p:nvPr/>
        </p:nvSpPr>
        <p:spPr>
          <a:xfrm>
            <a:off x="507492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4807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Onboarding &amp; KYC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Documents, four-eyes</a:t>
            </a:r>
            <a:endParaRPr lang="en-US" sz="1200" dirty="0"/>
          </a:p>
        </p:txBody>
      </p:sp>
      <p:sp>
        <p:nvSpPr>
          <p:cNvPr id="29" name="mod-5"/>
          <p:cNvSpPr/>
          <p:nvPr/>
        </p:nvSpPr>
        <p:spPr>
          <a:xfrm>
            <a:off x="717804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25119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Merchant portal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25119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Account, terms, documents</a:t>
            </a:r>
            <a:endParaRPr lang="en-US" sz="1200" dirty="0"/>
          </a:p>
        </p:txBody>
      </p:sp>
      <p:sp>
        <p:nvSpPr>
          <p:cNvPr id="32" name="mod-6"/>
          <p:cNvSpPr/>
          <p:nvPr/>
        </p:nvSpPr>
        <p:spPr>
          <a:xfrm>
            <a:off x="297180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04495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User administration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304495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Roles, two-factor</a:t>
            </a:r>
            <a:endParaRPr lang="en-US" sz="1200" dirty="0"/>
          </a:p>
        </p:txBody>
      </p:sp>
      <p:sp>
        <p:nvSpPr>
          <p:cNvPr id="35" name="mod-7"/>
          <p:cNvSpPr/>
          <p:nvPr/>
        </p:nvSpPr>
        <p:spPr>
          <a:xfrm>
            <a:off x="507492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4807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Audit trail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514807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Append-only</a:t>
            </a:r>
            <a:endParaRPr lang="en-US" sz="1200" dirty="0"/>
          </a:p>
        </p:txBody>
      </p:sp>
      <p:sp>
        <p:nvSpPr>
          <p:cNvPr id="38" name="mod-8"/>
          <p:cNvSpPr/>
          <p:nvPr/>
        </p:nvSpPr>
        <p:spPr>
          <a:xfrm>
            <a:off x="717804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5119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Portal terms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725119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Versions, acceptances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971800" y="5897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Blue: MIPS staff (admin, finance) · ochre: merchants and applicants</a:t>
            </a:r>
            <a:endParaRPr lang="en-US" sz="1200" dirty="0"/>
          </a:p>
        </p:txBody>
      </p:sp>
      <p:sp>
        <p:nvSpPr>
          <p:cNvPr id="42" name="out-0"/>
          <p:cNvSpPr/>
          <p:nvPr/>
        </p:nvSpPr>
        <p:spPr>
          <a:xfrm>
            <a:off x="9692640" y="1554480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38360" y="1554480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Monthly report, Excel</a:t>
            </a:r>
            <a:endParaRPr lang="en-US" sz="1300" dirty="0"/>
          </a:p>
        </p:txBody>
      </p:sp>
      <p:sp>
        <p:nvSpPr>
          <p:cNvPr id="44" name="out-1"/>
          <p:cNvSpPr/>
          <p:nvPr/>
        </p:nvSpPr>
        <p:spPr>
          <a:xfrm>
            <a:off x="9692640" y="2432304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38360" y="2432304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Invoices (VAT 15%)</a:t>
            </a:r>
            <a:endParaRPr lang="en-US" sz="1300" dirty="0"/>
          </a:p>
        </p:txBody>
      </p:sp>
      <p:sp>
        <p:nvSpPr>
          <p:cNvPr id="46" name="out-2"/>
          <p:cNvSpPr/>
          <p:nvPr/>
        </p:nvSpPr>
        <p:spPr>
          <a:xfrm>
            <a:off x="9692640" y="3310128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738360" y="3310128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Acquirer claims</a:t>
            </a:r>
            <a:endParaRPr lang="en-US" sz="1300" dirty="0"/>
          </a:p>
        </p:txBody>
      </p:sp>
      <p:sp>
        <p:nvSpPr>
          <p:cNvPr id="48" name="out-3"/>
          <p:cNvSpPr/>
          <p:nvPr/>
        </p:nvSpPr>
        <p:spPr>
          <a:xfrm>
            <a:off x="9692640" y="4187952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738360" y="4187952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Approved merchant</a:t>
            </a:r>
            <a:endParaRPr lang="en-US" sz="1300" dirty="0"/>
          </a:p>
        </p:txBody>
      </p:sp>
      <p:sp>
        <p:nvSpPr>
          <p:cNvPr id="50" name="out-4"/>
          <p:cNvSpPr/>
          <p:nvPr/>
        </p:nvSpPr>
        <p:spPr>
          <a:xfrm>
            <a:off x="9692640" y="5065776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738360" y="5065776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Audit evidence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560320" y="3566160"/>
            <a:ext cx="3200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9281160" y="3566160"/>
            <a:ext cx="3200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Merchant onboarding: nine steps, three hard gates</a:t>
            </a:r>
            <a:endParaRPr lang="en-US" sz="3000" dirty="0"/>
          </a:p>
        </p:txBody>
      </p:sp>
      <p:sp>
        <p:nvSpPr>
          <p:cNvPr id="3" name="step-0"/>
          <p:cNvSpPr/>
          <p:nvPr/>
        </p:nvSpPr>
        <p:spPr>
          <a:xfrm>
            <a:off x="457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Account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email verified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87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743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34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834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Two-factor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mandatory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73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029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Terms of use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current version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59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15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06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06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Pre-qualification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406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company, volumes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345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01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92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Acceptance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opens the KYC case</a:t>
            </a:r>
            <a:endParaRPr lang="en-US" sz="1200" dirty="0"/>
          </a:p>
        </p:txBody>
      </p:sp>
      <p:sp>
        <p:nvSpPr>
          <p:cNvPr id="27" name="step-5"/>
          <p:cNvSpPr/>
          <p:nvPr/>
        </p:nvSpPr>
        <p:spPr>
          <a:xfrm>
            <a:off x="457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People &amp; documents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directors, UBOs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487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2" name="step-6"/>
          <p:cNvSpPr/>
          <p:nvPr/>
        </p:nvSpPr>
        <p:spPr>
          <a:xfrm>
            <a:off x="2743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834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2834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Document review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2834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the uploader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773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7" name="step-7"/>
          <p:cNvSpPr/>
          <p:nvPr/>
        </p:nvSpPr>
        <p:spPr>
          <a:xfrm>
            <a:off x="5029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120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5120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File submitted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5120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nothing missing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059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2" name="step-8"/>
          <p:cNvSpPr/>
          <p:nvPr/>
        </p:nvSpPr>
        <p:spPr>
          <a:xfrm>
            <a:off x="7315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406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4" name="Text 42"/>
          <p:cNvSpPr txBox="1"/>
          <p:nvPr/>
        </p:nvSpPr>
        <p:spPr>
          <a:xfrm>
            <a:off x="7406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Approval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7406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approver never involved</a:t>
            </a:r>
            <a:endParaRPr lang="en-US" sz="1200" dirty="0"/>
          </a:p>
        </p:txBody>
      </p:sp>
      <p:sp>
        <p:nvSpPr>
          <p:cNvPr id="46" name="leg-0"/>
          <p:cNvSpPr/>
          <p:nvPr/>
        </p:nvSpPr>
        <p:spPr>
          <a:xfrm>
            <a:off x="694944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31520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Merchant</a:t>
            </a:r>
            <a:endParaRPr lang="en-US" sz="1100" dirty="0"/>
          </a:p>
        </p:txBody>
      </p:sp>
      <p:sp>
        <p:nvSpPr>
          <p:cNvPr id="48" name="leg-1"/>
          <p:cNvSpPr/>
          <p:nvPr/>
        </p:nvSpPr>
        <p:spPr>
          <a:xfrm>
            <a:off x="868680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05256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MIPS staff</a:t>
            </a:r>
            <a:endParaRPr lang="en-US" sz="1100" dirty="0"/>
          </a:p>
        </p:txBody>
      </p:sp>
      <p:sp>
        <p:nvSpPr>
          <p:cNvPr id="50" name="leg-2"/>
          <p:cNvSpPr/>
          <p:nvPr/>
        </p:nvSpPr>
        <p:spPr>
          <a:xfrm>
            <a:off x="1042416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78992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Gate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457200" y="562356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A submitted file is never shown to the merchant as approved.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Controls built into the platform</a:t>
            </a:r>
            <a:endParaRPr lang="en-US" sz="3000" dirty="0"/>
          </a:p>
        </p:txBody>
      </p:sp>
      <p:sp>
        <p:nvSpPr>
          <p:cNvPr id="3" name="ctrl-0"/>
          <p:cNvSpPr/>
          <p:nvPr/>
        </p:nvSpPr>
        <p:spPr>
          <a:xfrm>
            <a:off x="45720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cdot-0"/>
          <p:cNvSpPr/>
          <p:nvPr/>
        </p:nvSpPr>
        <p:spPr>
          <a:xfrm>
            <a:off x="685800" y="160020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Four-eyes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3120"/>
            <a:ext cx="320040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document is accepted by someone other than its uploader. A case is decided by an approver who never handled it: not its creator, nor any past or present analyst.</a:t>
            </a:r>
            <a:endParaRPr lang="en-US" sz="1300" dirty="0"/>
          </a:p>
        </p:txBody>
      </p:sp>
      <p:sp>
        <p:nvSpPr>
          <p:cNvPr id="7" name="ctrl-1"/>
          <p:cNvSpPr/>
          <p:nvPr/>
        </p:nvSpPr>
        <p:spPr>
          <a:xfrm>
            <a:off x="425196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cdot-1"/>
          <p:cNvSpPr/>
          <p:nvPr/>
        </p:nvSpPr>
        <p:spPr>
          <a:xfrm>
            <a:off x="4480560" y="160020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Approval blockers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103120"/>
            <a:ext cx="320040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Approval is refused by the server while documents, owners, screening or risk rating are missing.</a:t>
            </a:r>
            <a:endParaRPr lang="en-US" sz="1300" dirty="0"/>
          </a:p>
        </p:txBody>
      </p:sp>
      <p:sp>
        <p:nvSpPr>
          <p:cNvPr id="11" name="ctrl-2"/>
          <p:cNvSpPr/>
          <p:nvPr/>
        </p:nvSpPr>
        <p:spPr>
          <a:xfrm>
            <a:off x="804672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cdot-2"/>
          <p:cNvSpPr/>
          <p:nvPr/>
        </p:nvSpPr>
        <p:spPr>
          <a:xfrm>
            <a:off x="8275320" y="160020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Strong authentication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103120"/>
            <a:ext cx="320040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Two-factor authentication mandatory for finance, admin and merchants. Account locked after 5 failed sign-ins; other sessions end on a password change.</a:t>
            </a:r>
            <a:endParaRPr lang="en-US" sz="1300" dirty="0"/>
          </a:p>
        </p:txBody>
      </p:sp>
      <p:sp>
        <p:nvSpPr>
          <p:cNvPr id="15" name="ctrl-3"/>
          <p:cNvSpPr/>
          <p:nvPr/>
        </p:nvSpPr>
        <p:spPr>
          <a:xfrm>
            <a:off x="45720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cdot-3"/>
          <p:cNvSpPr/>
          <p:nvPr/>
        </p:nvSpPr>
        <p:spPr>
          <a:xfrm>
            <a:off x="685800" y="384048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3749040"/>
            <a:ext cx="27889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Segregated access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343400"/>
            <a:ext cx="320040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Staff and merchants use separate accounts and sessions; a merchant only reaches its own case.</a:t>
            </a:r>
            <a:endParaRPr lang="en-US" sz="1300" dirty="0"/>
          </a:p>
        </p:txBody>
      </p:sp>
      <p:sp>
        <p:nvSpPr>
          <p:cNvPr id="19" name="ctrl-4"/>
          <p:cNvSpPr/>
          <p:nvPr/>
        </p:nvSpPr>
        <p:spPr>
          <a:xfrm>
            <a:off x="425196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cdot-4"/>
          <p:cNvSpPr/>
          <p:nvPr/>
        </p:nvSpPr>
        <p:spPr>
          <a:xfrm>
            <a:off x="4480560" y="384048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3749040"/>
            <a:ext cx="27889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Consent record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4343400"/>
            <a:ext cx="320040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Each acceptance of the terms stores the version, date, IP address and a fingerprint of the exact text.</a:t>
            </a:r>
            <a:endParaRPr lang="en-US" sz="1300" dirty="0"/>
          </a:p>
        </p:txBody>
      </p:sp>
      <p:sp>
        <p:nvSpPr>
          <p:cNvPr id="23" name="ctrl-5"/>
          <p:cNvSpPr/>
          <p:nvPr/>
        </p:nvSpPr>
        <p:spPr>
          <a:xfrm>
            <a:off x="804672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cdot-5"/>
          <p:cNvSpPr/>
          <p:nvPr/>
        </p:nvSpPr>
        <p:spPr>
          <a:xfrm>
            <a:off x="8275320" y="384048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0" y="3749040"/>
            <a:ext cx="27889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Audit trail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4343400"/>
            <a:ext cx="320040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Append-only log of every action, including document fingerprints and decisions with their notes.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Sanctions and PEP screening is recorded manually per person; no screening provider is connected yet.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Transaction data: reporting, billing, acquirer reconciliation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Reporting and billing</a:t>
            </a:r>
            <a:endParaRPr lang="en-US" sz="2000" dirty="0"/>
          </a:p>
        </p:txBody>
      </p:sp>
      <p:sp>
        <p:nvSpPr>
          <p:cNvPr id="4" name="Reporting and billing0"/>
          <p:cNvSpPr/>
          <p:nvPr/>
        </p:nvSpPr>
        <p:spPr>
          <a:xfrm>
            <a:off x="45720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3035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Transaction export or data warehouse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99923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" name="Reporting and billing1"/>
          <p:cNvSpPr/>
          <p:nvPr/>
        </p:nvSpPr>
        <p:spPr>
          <a:xfrm>
            <a:off x="333756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Successful, non-test transactions only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7959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" name="Reporting and billing2"/>
          <p:cNvSpPr/>
          <p:nvPr/>
        </p:nvSpPr>
        <p:spPr>
          <a:xfrm>
            <a:off x="621792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9107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Monthly report and trends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75995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Reporting and billing3"/>
          <p:cNvSpPr/>
          <p:nvPr/>
        </p:nvSpPr>
        <p:spPr>
          <a:xfrm>
            <a:off x="909828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7143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Fee invoices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926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A month that has issued invoices cannot be re-imported.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57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Acquirer reconciliation</a:t>
            </a:r>
            <a:endParaRPr lang="en-US" sz="2000" dirty="0"/>
          </a:p>
        </p:txBody>
      </p:sp>
      <p:sp>
        <p:nvSpPr>
          <p:cNvPr id="17" name="Acquirer reconciliation0"/>
          <p:cNvSpPr/>
          <p:nvPr/>
        </p:nvSpPr>
        <p:spPr>
          <a:xfrm>
            <a:off x="45720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Acquirer file + platform extract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99923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Acquirer reconciliation1"/>
          <p:cNvSpPr/>
          <p:nvPr/>
        </p:nvSpPr>
        <p:spPr>
          <a:xfrm>
            <a:off x="333756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1071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Scope checks, MID mapping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87959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Acquirer reconciliation2"/>
          <p:cNvSpPr/>
          <p:nvPr/>
        </p:nvSpPr>
        <p:spPr>
          <a:xfrm>
            <a:off x="621792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9107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Gap split into 6 categories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75995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Acquirer reconciliation3"/>
          <p:cNvSpPr/>
          <p:nvPr/>
        </p:nvSpPr>
        <p:spPr>
          <a:xfrm>
            <a:off x="909828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7143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Unexplained = 0, claims list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This compares transaction volumes. It is not a reconciliation of funds or of a trust account.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Fund flow: gateway model, no merchant funds held</a:t>
            </a:r>
            <a:endParaRPr lang="en-US" sz="3000" dirty="0"/>
          </a:p>
        </p:txBody>
      </p:sp>
      <p:sp>
        <p:nvSpPr>
          <p:cNvPr id="3" name="draft-tag"/>
          <p:cNvSpPr/>
          <p:nvPr/>
        </p:nvSpPr>
        <p:spPr>
          <a:xfrm>
            <a:off x="6309360" y="4983480"/>
            <a:ext cx="5394960" cy="548640"/>
          </a:xfrm>
          <a:prstGeom prst="roundRect">
            <a:avLst>
              <a:gd name="adj" fmla="val 13333"/>
            </a:avLst>
          </a:prstGeom>
          <a:solidFill>
            <a:schemeClr val="accent6">
              <a:alpha val="15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0" y="4983480"/>
            <a:ext cx="539496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TO CONFIRM: licence category and wallet flows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Merchants are paid directly by the acquirer</a:t>
            </a:r>
            <a:endParaRPr lang="en-US" sz="1600" dirty="0"/>
          </a:p>
        </p:txBody>
      </p:sp>
      <p:sp>
        <p:nvSpPr>
          <p:cNvPr id="6" name="a1"/>
          <p:cNvSpPr/>
          <p:nvPr/>
        </p:nvSpPr>
        <p:spPr>
          <a:xfrm>
            <a:off x="45720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Payer</a:t>
            </a:r>
            <a:endParaRPr lang="en-US" sz="1300" dirty="0"/>
          </a:p>
        </p:txBody>
      </p:sp>
      <p:sp>
        <p:nvSpPr>
          <p:cNvPr id="8" name="a2"/>
          <p:cNvSpPr/>
          <p:nvPr/>
        </p:nvSpPr>
        <p:spPr>
          <a:xfrm>
            <a:off x="246888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6888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Acquirer</a:t>
            </a:r>
            <a:endParaRPr lang="en-US" sz="1300" dirty="0"/>
          </a:p>
        </p:txBody>
      </p:sp>
      <p:sp>
        <p:nvSpPr>
          <p:cNvPr id="10" name="a3"/>
          <p:cNvSpPr/>
          <p:nvPr/>
        </p:nvSpPr>
        <p:spPr>
          <a:xfrm>
            <a:off x="448056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Merchant</a:t>
            </a:r>
            <a:endParaRPr lang="en-US" sz="1300" dirty="0"/>
          </a:p>
        </p:txBody>
      </p:sp>
      <p:sp>
        <p:nvSpPr>
          <p:cNvPr id="12" name="a4"/>
          <p:cNvSpPr/>
          <p:nvPr/>
        </p:nvSpPr>
        <p:spPr>
          <a:xfrm>
            <a:off x="2468880" y="31546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2">
              <a:alpha val="1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6888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MIPS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gateway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121408" y="2121408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133088" y="2121408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29184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337560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technical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 flipV="1">
            <a:off x="4133088" y="2487168"/>
            <a:ext cx="1170432" cy="100584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4480560" y="3154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monthly invoice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069080"/>
            <a:ext cx="54864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merchant funds held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acquirer agreement per merchant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Fees invoiced monthly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What this means for safeguarding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1691640"/>
            <a:ext cx="5486400" cy="3840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Settlement goes from the acquirer to each merchant's own bank account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SPIN/MIPS never receives or holds merchant funds: there is no trust account to safeguard or reconcile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MIPS fees are invoiced to merchants monthly, not deducted from settlements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Collecting funds on behalf of merchants is not part of this application; it would require a safeguarding arrangement and daily reconciliation first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080760" y="1234440"/>
            <a:ext cx="0" cy="4389120"/>
          </a:xfrm>
          <a:prstGeom prst="line">
            <a:avLst/>
          </a:prstGeom>
          <a:noFill/>
          <a:ln w="12700">
            <a:solidFill>
              <a:srgbClr val="D5DDE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Evidence map: requested views and their status</a:t>
            </a:r>
            <a:endParaRPr lang="en-US" sz="3000" dirty="0"/>
          </a:p>
        </p:txBody>
      </p:sp>
      <p:graphicFrame>
        <p:nvGraphicFramePr>
          <p:cNvPr id="9" name="evidenc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371600"/>
                <a:gridCol w="14630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View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Status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Screenshots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Main limitation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S01 Sign-in and terms acceptance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Shown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S01a–f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Terms text is a placeholder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S02 Onboarding roadmap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Shown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S02a–d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Final decision not shown on the merchant side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S03 Pre-qualification form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Shown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S03a–b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Risk indicators pending compliance validation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S04 KYB document collection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Shown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S04a–d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Antivirus active on the demo only (S04d)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S05 Merchant portal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Partial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S05, S05b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Onboarding only, no active-merchant area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S06 Merchant dashboard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Substitute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S06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Internal volume report, not funds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S07 Settlement tracking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Partial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S07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Acquirer reconciliation, not trust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Controls (roles, audit, four-eyes, terms)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Shown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C01–C05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Three staff roles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All screenshots: development prototype, fictitious data, red DEMONSTRATION ENVIRONMENT banner.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How the controls are tested</a:t>
            </a:r>
            <a:endParaRPr lang="en-US" sz="3000" dirty="0"/>
          </a:p>
        </p:txBody>
      </p:sp>
      <p:graphicFrame>
        <p:nvGraphicFramePr>
          <p:cNvPr id="10" name="test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667512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1005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Area tested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Checks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Merchant portal: accounts, 2FA, terms, segregation between merchants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Staff document review and four-eyes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Case approval: each blocker, approver role, four-eyes decision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78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Monthly reporting: cleaning rules, report lines, exports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Billing: fee rules, VAT, invoice lifecycle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Acquirer reconciliation: gap categories to the cent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Direct data import (simulated source)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Merchant records: contacts, identifiers, contracts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Upload antivirus with the ClamAV engine (test signature)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Mandatory two-factor authentication for staff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Staff accounts, roles, 2FA, audit log, sign-in lockout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98080" y="12344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tests show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7498080" y="1691640"/>
            <a:ext cx="42062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Each control is exercised through the application interface, as a user would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Refusals are checked as well as successes: wrong role, other merchant's case, own document, missing approval blockers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Expected figures are computed by hand from fictitious data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498080" y="3977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they do not show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498080" y="4434840"/>
            <a:ext cx="42062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Behaviour of a production system or on real data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That business rules (amount units, VAT treatment) are confirmed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Antivirus detection rate: a test signature is used, not the official database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Development prototype. Tests run on a disposable database; they do not replace testing of the production system.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Not yet in place</a:t>
            </a:r>
            <a:endParaRPr lang="en-US" sz="3000" dirty="0"/>
          </a:p>
        </p:txBody>
      </p:sp>
      <p:sp>
        <p:nvSpPr>
          <p:cNvPr id="3" name="gap-0"/>
          <p:cNvSpPr/>
          <p:nvPr/>
        </p:nvSpPr>
        <p:spPr>
          <a:xfrm>
            <a:off x="457200" y="128016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gdot-0"/>
          <p:cNvSpPr/>
          <p:nvPr/>
        </p:nvSpPr>
        <p:spPr>
          <a:xfrm>
            <a:off x="685800" y="155448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444752"/>
            <a:ext cx="4663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Safeguarding reconciliation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920240"/>
            <a:ext cx="46634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Not applicable: no merchant funds are held (gateway model). Specified, not built, should funds ever be collected.</a:t>
            </a:r>
            <a:endParaRPr lang="en-US" sz="1300" dirty="0"/>
          </a:p>
        </p:txBody>
      </p:sp>
      <p:sp>
        <p:nvSpPr>
          <p:cNvPr id="7" name="gap-1"/>
          <p:cNvSpPr/>
          <p:nvPr/>
        </p:nvSpPr>
        <p:spPr>
          <a:xfrm>
            <a:off x="6126480" y="128016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gdot-1"/>
          <p:cNvSpPr/>
          <p:nvPr/>
        </p:nvSpPr>
        <p:spPr>
          <a:xfrm>
            <a:off x="6355080" y="155448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766560" y="1444752"/>
            <a:ext cx="4663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Transaction monitoring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920240"/>
            <a:ext cx="46634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Rules, alerts and case investigation for AML and fraud.</a:t>
            </a:r>
            <a:endParaRPr lang="en-US" sz="1300" dirty="0"/>
          </a:p>
        </p:txBody>
      </p:sp>
      <p:sp>
        <p:nvSpPr>
          <p:cNvPr id="11" name="gap-2"/>
          <p:cNvSpPr/>
          <p:nvPr/>
        </p:nvSpPr>
        <p:spPr>
          <a:xfrm>
            <a:off x="45720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gdot-2"/>
          <p:cNvSpPr/>
          <p:nvPr/>
        </p:nvSpPr>
        <p:spPr>
          <a:xfrm>
            <a:off x="685800" y="310896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2999232"/>
            <a:ext cx="4663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Refunds, chargebacks, disputes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474720"/>
            <a:ext cx="46634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Registers, statuses and deadlines.</a:t>
            </a:r>
            <a:endParaRPr lang="en-US" sz="1300" dirty="0"/>
          </a:p>
        </p:txBody>
      </p:sp>
      <p:sp>
        <p:nvSpPr>
          <p:cNvPr id="15" name="gap-3"/>
          <p:cNvSpPr/>
          <p:nvPr/>
        </p:nvSpPr>
        <p:spPr>
          <a:xfrm>
            <a:off x="612648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gdot-3"/>
          <p:cNvSpPr/>
          <p:nvPr/>
        </p:nvSpPr>
        <p:spPr>
          <a:xfrm>
            <a:off x="6355080" y="310896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2999232"/>
            <a:ext cx="4663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Complaints handling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3474720"/>
            <a:ext cx="46634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Register, response times, escalation.</a:t>
            </a:r>
            <a:endParaRPr lang="en-US" sz="1300" dirty="0"/>
          </a:p>
        </p:txBody>
      </p:sp>
      <p:sp>
        <p:nvSpPr>
          <p:cNvPr id="19" name="gap-4"/>
          <p:cNvSpPr/>
          <p:nvPr/>
        </p:nvSpPr>
        <p:spPr>
          <a:xfrm>
            <a:off x="457200" y="438912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gdot-4"/>
          <p:cNvSpPr/>
          <p:nvPr/>
        </p:nvSpPr>
        <p:spPr>
          <a:xfrm>
            <a:off x="685800" y="466344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7280" y="4553712"/>
            <a:ext cx="4663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Automated sanctions / PEP screening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5029200"/>
            <a:ext cx="46634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Provider integration, adverse media, ongoing re-screening.</a:t>
            </a:r>
            <a:endParaRPr lang="en-US" sz="1300" dirty="0"/>
          </a:p>
        </p:txBody>
      </p:sp>
      <p:sp>
        <p:nvSpPr>
          <p:cNvPr id="23" name="gap-5"/>
          <p:cNvSpPr/>
          <p:nvPr/>
        </p:nvSpPr>
        <p:spPr>
          <a:xfrm>
            <a:off x="6126480" y="438912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gdot-5"/>
          <p:cNvSpPr/>
          <p:nvPr/>
        </p:nvSpPr>
        <p:spPr>
          <a:xfrm>
            <a:off x="6355080" y="466344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66560" y="4553712"/>
            <a:ext cx="4663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Production antivirus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5029200"/>
            <a:ext cx="46634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ClamAV integration tested and shown on the demo with official signatures (S04d); to install on the production platform, mandatory before go-live.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Specified or identified, not built (antivirus: built and shown on the demo, not in production). No timeline committed.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chant Platform">
  <a:themeElements>
    <a:clrScheme name="Merchant Platform">
      <a:dk1>
        <a:srgbClr val="12233A"/>
      </a:dk1>
      <a:lt1>
        <a:srgbClr val="FFFFFF"/>
      </a:lt1>
      <a:dk2>
        <a:srgbClr val="5A6B80"/>
      </a:dk2>
      <a:lt2>
        <a:srgbClr val="F1F4F7"/>
      </a:lt2>
      <a:accent1>
        <a:srgbClr val="0F7C8C"/>
      </a:accent1>
      <a:accent2>
        <a:srgbClr val="2F5FA7"/>
      </a:accent2>
      <a:accent3>
        <a:srgbClr val="9A5B13"/>
      </a:accent3>
      <a:accent4>
        <a:srgbClr val="1D7A46"/>
      </a:accent4>
      <a:accent5>
        <a:srgbClr val="B07D00"/>
      </a:accent5>
      <a:accent6>
        <a:srgbClr val="B3261E"/>
      </a:accent6>
      <a:hlink>
        <a:srgbClr val="0F7C8C"/>
      </a:hlink>
      <a:folHlink>
        <a:srgbClr val="5A6B80"/>
      </a:folHlink>
    </a:clrScheme>
    <a:fontScheme name="Merchant Platform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Merchant platform — development prototype</dc:title>
  <dc:subject>PptxGenJS Presentation</dc:subject>
  <dc:creator>MIPS</dc:creator>
  <cp:lastModifiedBy>MIPS</cp:lastModifiedBy>
  <cp:revision>1</cp:revision>
  <dcterms:created xsi:type="dcterms:W3CDTF">2026-10-31T07:25:56Z</dcterms:created>
  <dcterms:modified xsi:type="dcterms:W3CDTF">2026-10-31T07:25:56Z</dcterms:modified>
</cp:coreProperties>
</file>