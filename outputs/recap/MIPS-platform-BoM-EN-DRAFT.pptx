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5dd9d223-20ca-0f3d-f5cc-f3bebfccc7d3}">
          <p14:sldIdLst>
            <p14:sldId id="256"/>
            <p14:sldId id="257"/>
          </p14:sldIdLst>
        </p14:section>
        <p14:section name="Platform" id="{62108798-a0d6-a830-21dc-f7c796eaffd9}">
          <p14:sldIdLst>
            <p14:sldId id="258"/>
            <p14:sldId id="259"/>
            <p14:sldId id="260"/>
            <p14:sldId id="261"/>
          </p14:sldIdLst>
        </p14:section>
        <p14:section name="Funds and evidence" id="{6f7f51b0-8160-2bf6-d068-9f5810959001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draft. Before submission: confirm the entity names (SPIN DIGITAL / MIPS / MIPS INTERNATIONAL) against B01 and G01, and settle the fund-flow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screenshot carries a red DEMONSTRATION ENVIRONMENT banner with the build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 requires: every required document accepted, at least one director and one beneficial owner, shareholders above the threshold recorded as beneficial owners, every person screened clear, a risk rating (high if a PEP is involved), legal name and BRN. The decision is taken by an approver who never handled the case: not its creator, analyst or anyone who reassigned it. Thresholds are default values pending compliance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— do not present as is. Model A matches current evidence (no intermediate account, fees invoiced, per-merchant acquirer agreements) but must be confirmed by Finance. Model B is not built. Keep one model on this slide, and check it against the safeguarding requirements of the Bank of Mauritius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S04d was recaptured on 30 October with ClamAV running the official signature databases: each upload shows "antivirus OK", meaning no known signature was detected, not that the file is guaranteed safe. S04c is the same fictitious walkthrough, captured two days earlier.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INTERNAL. The tests led to three fixes in the prototype: sign-in lockout per account instead of per IP; password-change time stored to the microsecond; four-eyes on case decisions extended to everyone who handled the case (an analyst with approver rights could reassign a case and decide it). They are deliberately not described here: development history, not a control. Mention them only if asked how the tests were used. Fourteen deliberate faults introduced in the code were all detected. The ClamAV suite uses a one-line test signature (EICAR): the official databases could not be downloaded in the test environment. The mandatory staff 2FA is tested with the rule switched on, as in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 to dates only once the fund-flow model and the resources are decided.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Development prototype · demonstration data only · DRAFT for internal review before submission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Merchant onboarding and back-office platform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Development prototype — supporting material for the SPIN DIGITAL application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DRAFT for internal review · October 2026 · not deployed · demonstration data only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this material shows, and what it does not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45720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functional modules built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29184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screens captured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12648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0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user populations kept apart: staff and merchants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6112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590</a:t>
            </a:r>
            <a:endParaRPr lang="en-US" sz="5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automated checks, fictitious data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08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11880"/>
            <a:ext cx="54864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How merchants are onboarded and verified (KYC/KYB)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internal controls built into each step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How transaction data is reported, billed and reconciled with the acquirer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Which requested views are covered, and which are not yet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108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show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611880"/>
            <a:ext cx="54864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system in production or an operational, authorised service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merchants, people, transactions or bank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Safeguarding (trust) reconciliation, transaction monitoring, disputes or complaints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Final legal texts: the terms of use shown are a placeholder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Nine modules between data sources and outputs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SOURCES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1188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OUTPUTS</a:t>
            </a:r>
            <a:endParaRPr lang="en-US" sz="1100" dirty="0"/>
          </a:p>
        </p:txBody>
      </p:sp>
      <p:sp>
        <p:nvSpPr>
          <p:cNvPr id="6" name="src-0"/>
          <p:cNvSpPr/>
          <p:nvPr/>
        </p:nvSpPr>
        <p:spPr>
          <a:xfrm>
            <a:off x="457200" y="155448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55448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Monthly transaction export</a:t>
            </a:r>
            <a:endParaRPr lang="en-US" sz="1400" dirty="0"/>
          </a:p>
        </p:txBody>
      </p:sp>
      <p:sp>
        <p:nvSpPr>
          <p:cNvPr id="8" name="src-1"/>
          <p:cNvSpPr/>
          <p:nvPr/>
        </p:nvSpPr>
        <p:spPr>
          <a:xfrm>
            <a:off x="457200" y="265176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65176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Data warehouse (BigQuery)</a:t>
            </a:r>
            <a:endParaRPr lang="en-US" sz="1400" dirty="0"/>
          </a:p>
        </p:txBody>
      </p:sp>
      <p:sp>
        <p:nvSpPr>
          <p:cNvPr id="10" name="src-2"/>
          <p:cNvSpPr/>
          <p:nvPr/>
        </p:nvSpPr>
        <p:spPr>
          <a:xfrm>
            <a:off x="457200" y="374904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Acquirer file (MCB)</a:t>
            </a:r>
            <a:endParaRPr lang="en-US" sz="1400" dirty="0"/>
          </a:p>
        </p:txBody>
      </p:sp>
      <p:sp>
        <p:nvSpPr>
          <p:cNvPr id="12" name="src-3"/>
          <p:cNvSpPr/>
          <p:nvPr/>
        </p:nvSpPr>
        <p:spPr>
          <a:xfrm>
            <a:off x="457200" y="484632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84632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Applicants (portal)</a:t>
            </a:r>
            <a:endParaRPr lang="en-US" sz="1400" dirty="0"/>
          </a:p>
        </p:txBody>
      </p:sp>
      <p:sp>
        <p:nvSpPr>
          <p:cNvPr id="14" name="mod-0"/>
          <p:cNvSpPr/>
          <p:nvPr/>
        </p:nvSpPr>
        <p:spPr>
          <a:xfrm>
            <a:off x="297180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4495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Monthly reporting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Fixed data rules, trends</a:t>
            </a:r>
            <a:endParaRPr lang="en-US" sz="1200" dirty="0"/>
          </a:p>
        </p:txBody>
      </p:sp>
      <p:sp>
        <p:nvSpPr>
          <p:cNvPr id="17" name="mod-1"/>
          <p:cNvSpPr/>
          <p:nvPr/>
        </p:nvSpPr>
        <p:spPr>
          <a:xfrm>
            <a:off x="507492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4807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Billing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Fee rules, invoices</a:t>
            </a:r>
            <a:endParaRPr lang="en-US" sz="1200" dirty="0"/>
          </a:p>
        </p:txBody>
      </p:sp>
      <p:sp>
        <p:nvSpPr>
          <p:cNvPr id="20" name="mod-2"/>
          <p:cNvSpPr/>
          <p:nvPr/>
        </p:nvSpPr>
        <p:spPr>
          <a:xfrm>
            <a:off x="717804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119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Acquirer reconciliation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Gaps explained to zero</a:t>
            </a:r>
            <a:endParaRPr lang="en-US" sz="1200" dirty="0"/>
          </a:p>
        </p:txBody>
      </p:sp>
      <p:sp>
        <p:nvSpPr>
          <p:cNvPr id="23" name="mod-3"/>
          <p:cNvSpPr/>
          <p:nvPr/>
        </p:nvSpPr>
        <p:spPr>
          <a:xfrm>
            <a:off x="297180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4495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Merchant records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04495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Identity, MIDs, contracts</a:t>
            </a:r>
            <a:endParaRPr lang="en-US" sz="1200" dirty="0"/>
          </a:p>
        </p:txBody>
      </p:sp>
      <p:sp>
        <p:nvSpPr>
          <p:cNvPr id="26" name="mod-4"/>
          <p:cNvSpPr/>
          <p:nvPr/>
        </p:nvSpPr>
        <p:spPr>
          <a:xfrm>
            <a:off x="507492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4807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Onboarding &amp; KYC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Documents, four-eyes</a:t>
            </a:r>
            <a:endParaRPr lang="en-US" sz="1200" dirty="0"/>
          </a:p>
        </p:txBody>
      </p:sp>
      <p:sp>
        <p:nvSpPr>
          <p:cNvPr id="29" name="mod-5"/>
          <p:cNvSpPr/>
          <p:nvPr/>
        </p:nvSpPr>
        <p:spPr>
          <a:xfrm>
            <a:off x="717804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119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Merchant portal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5119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Account, terms, documents</a:t>
            </a:r>
            <a:endParaRPr lang="en-US" sz="1200" dirty="0"/>
          </a:p>
        </p:txBody>
      </p:sp>
      <p:sp>
        <p:nvSpPr>
          <p:cNvPr id="32" name="mod-6"/>
          <p:cNvSpPr/>
          <p:nvPr/>
        </p:nvSpPr>
        <p:spPr>
          <a:xfrm>
            <a:off x="297180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User administration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Roles, two-factor</a:t>
            </a:r>
            <a:endParaRPr lang="en-US" sz="1200" dirty="0"/>
          </a:p>
        </p:txBody>
      </p:sp>
      <p:sp>
        <p:nvSpPr>
          <p:cNvPr id="35" name="mod-7"/>
          <p:cNvSpPr/>
          <p:nvPr/>
        </p:nvSpPr>
        <p:spPr>
          <a:xfrm>
            <a:off x="507492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4807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Audit trail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14807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Append-only</a:t>
            </a:r>
            <a:endParaRPr lang="en-US" sz="1200" dirty="0"/>
          </a:p>
        </p:txBody>
      </p:sp>
      <p:sp>
        <p:nvSpPr>
          <p:cNvPr id="38" name="mod-8"/>
          <p:cNvSpPr/>
          <p:nvPr/>
        </p:nvSpPr>
        <p:spPr>
          <a:xfrm>
            <a:off x="717804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5119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Portal terms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25119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Versions, acceptances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Blue: MIPS staff (admin, finance) · ochre: merchants and applicants</a:t>
            </a:r>
            <a:endParaRPr lang="en-US" sz="1200" dirty="0"/>
          </a:p>
        </p:txBody>
      </p:sp>
      <p:sp>
        <p:nvSpPr>
          <p:cNvPr id="42" name="out-0"/>
          <p:cNvSpPr/>
          <p:nvPr/>
        </p:nvSpPr>
        <p:spPr>
          <a:xfrm>
            <a:off x="9692640" y="1554480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38360" y="1554480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Monthly report, Excel</a:t>
            </a:r>
            <a:endParaRPr lang="en-US" sz="1300" dirty="0"/>
          </a:p>
        </p:txBody>
      </p:sp>
      <p:sp>
        <p:nvSpPr>
          <p:cNvPr id="44" name="out-1"/>
          <p:cNvSpPr/>
          <p:nvPr/>
        </p:nvSpPr>
        <p:spPr>
          <a:xfrm>
            <a:off x="9692640" y="2432304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38360" y="2432304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Invoices (VAT 15%)</a:t>
            </a:r>
            <a:endParaRPr lang="en-US" sz="1300" dirty="0"/>
          </a:p>
        </p:txBody>
      </p:sp>
      <p:sp>
        <p:nvSpPr>
          <p:cNvPr id="46" name="out-2"/>
          <p:cNvSpPr/>
          <p:nvPr/>
        </p:nvSpPr>
        <p:spPr>
          <a:xfrm>
            <a:off x="9692640" y="3310128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38360" y="3310128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Acquirer claims</a:t>
            </a:r>
            <a:endParaRPr lang="en-US" sz="1300" dirty="0"/>
          </a:p>
        </p:txBody>
      </p:sp>
      <p:sp>
        <p:nvSpPr>
          <p:cNvPr id="48" name="out-3"/>
          <p:cNvSpPr/>
          <p:nvPr/>
        </p:nvSpPr>
        <p:spPr>
          <a:xfrm>
            <a:off x="9692640" y="4187952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738360" y="4187952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Approved merchant</a:t>
            </a:r>
            <a:endParaRPr lang="en-US" sz="1300" dirty="0"/>
          </a:p>
        </p:txBody>
      </p:sp>
      <p:sp>
        <p:nvSpPr>
          <p:cNvPr id="50" name="out-4"/>
          <p:cNvSpPr/>
          <p:nvPr/>
        </p:nvSpPr>
        <p:spPr>
          <a:xfrm>
            <a:off x="9692640" y="5065776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38360" y="5065776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Audit evidence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56032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28116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Merchant onboarding: nine steps, three hard gates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457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Account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email verified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87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743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34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Two-factor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mandatory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73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029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Terms of use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current version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15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Pre-qualification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company, volumes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45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01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92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Acceptance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opens the KYC case</a:t>
            </a:r>
            <a:endParaRPr lang="en-US" sz="1200" dirty="0"/>
          </a:p>
        </p:txBody>
      </p:sp>
      <p:sp>
        <p:nvSpPr>
          <p:cNvPr id="27" name="step-5"/>
          <p:cNvSpPr/>
          <p:nvPr/>
        </p:nvSpPr>
        <p:spPr>
          <a:xfrm>
            <a:off x="457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People &amp; documents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directors, UBOs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87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2" name="step-6"/>
          <p:cNvSpPr/>
          <p:nvPr/>
        </p:nvSpPr>
        <p:spPr>
          <a:xfrm>
            <a:off x="2743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834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2834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Document review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834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the uploader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73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tep-7"/>
          <p:cNvSpPr/>
          <p:nvPr/>
        </p:nvSpPr>
        <p:spPr>
          <a:xfrm>
            <a:off x="5029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5120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File submitted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nothing missing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059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step-8"/>
          <p:cNvSpPr/>
          <p:nvPr/>
        </p:nvSpPr>
        <p:spPr>
          <a:xfrm>
            <a:off x="7315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06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7406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Approval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approver never involved</a:t>
            </a:r>
            <a:endParaRPr lang="en-US" sz="1200" dirty="0"/>
          </a:p>
        </p:txBody>
      </p:sp>
      <p:sp>
        <p:nvSpPr>
          <p:cNvPr id="46" name="leg-0"/>
          <p:cNvSpPr/>
          <p:nvPr/>
        </p:nvSpPr>
        <p:spPr>
          <a:xfrm>
            <a:off x="694944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Merchant</a:t>
            </a:r>
            <a:endParaRPr lang="en-US" sz="1100" dirty="0"/>
          </a:p>
        </p:txBody>
      </p:sp>
      <p:sp>
        <p:nvSpPr>
          <p:cNvPr id="48" name="leg-1"/>
          <p:cNvSpPr/>
          <p:nvPr/>
        </p:nvSpPr>
        <p:spPr>
          <a:xfrm>
            <a:off x="868680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5256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MIPS staff</a:t>
            </a:r>
            <a:endParaRPr lang="en-US" sz="1100" dirty="0"/>
          </a:p>
        </p:txBody>
      </p:sp>
      <p:sp>
        <p:nvSpPr>
          <p:cNvPr id="50" name="leg-2"/>
          <p:cNvSpPr/>
          <p:nvPr/>
        </p:nvSpPr>
        <p:spPr>
          <a:xfrm>
            <a:off x="1042416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8992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Gate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56235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 submitted file is never shown to the merchant as approved.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Controls built into the platform</a:t>
            </a:r>
            <a:endParaRPr lang="en-US" sz="3000" dirty="0"/>
          </a:p>
        </p:txBody>
      </p:sp>
      <p:sp>
        <p:nvSpPr>
          <p:cNvPr id="3" name="ctrl-0"/>
          <p:cNvSpPr/>
          <p:nvPr/>
        </p:nvSpPr>
        <p:spPr>
          <a:xfrm>
            <a:off x="45720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dot-0"/>
          <p:cNvSpPr/>
          <p:nvPr/>
        </p:nvSpPr>
        <p:spPr>
          <a:xfrm>
            <a:off x="685800" y="16002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Four-eyes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document is accepted by someone other than its uploader. A case is decided by an approver who never handled it: not its creator, nor any past or present analyst.</a:t>
            </a:r>
            <a:endParaRPr lang="en-US" sz="1300" dirty="0"/>
          </a:p>
        </p:txBody>
      </p:sp>
      <p:sp>
        <p:nvSpPr>
          <p:cNvPr id="7" name="ctrl-1"/>
          <p:cNvSpPr/>
          <p:nvPr/>
        </p:nvSpPr>
        <p:spPr>
          <a:xfrm>
            <a:off x="425196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cdot-1"/>
          <p:cNvSpPr/>
          <p:nvPr/>
        </p:nvSpPr>
        <p:spPr>
          <a:xfrm>
            <a:off x="4480560" y="16002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Approval blockers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10312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Approval is refused by the server while documents, owners, screening or risk rating are missing.</a:t>
            </a:r>
            <a:endParaRPr lang="en-US" sz="1300" dirty="0"/>
          </a:p>
        </p:txBody>
      </p:sp>
      <p:sp>
        <p:nvSpPr>
          <p:cNvPr id="11" name="ctrl-2"/>
          <p:cNvSpPr/>
          <p:nvPr/>
        </p:nvSpPr>
        <p:spPr>
          <a:xfrm>
            <a:off x="804672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cdot-2"/>
          <p:cNvSpPr/>
          <p:nvPr/>
        </p:nvSpPr>
        <p:spPr>
          <a:xfrm>
            <a:off x="8275320" y="16002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Strong authentication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10312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Two-factor authentication mandatory for finance, admin and merchants. Account locked after 5 failed sign-ins; other sessions end on a password change.</a:t>
            </a:r>
            <a:endParaRPr lang="en-US" sz="1300" dirty="0"/>
          </a:p>
        </p:txBody>
      </p:sp>
      <p:sp>
        <p:nvSpPr>
          <p:cNvPr id="15" name="ctrl-3"/>
          <p:cNvSpPr/>
          <p:nvPr/>
        </p:nvSpPr>
        <p:spPr>
          <a:xfrm>
            <a:off x="45720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cdot-3"/>
          <p:cNvSpPr/>
          <p:nvPr/>
        </p:nvSpPr>
        <p:spPr>
          <a:xfrm>
            <a:off x="685800" y="384048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Segregated access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34340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Staff and merchants use separate accounts and sessions; a merchant only reaches its own case.</a:t>
            </a:r>
            <a:endParaRPr lang="en-US" sz="1300" dirty="0"/>
          </a:p>
        </p:txBody>
      </p:sp>
      <p:sp>
        <p:nvSpPr>
          <p:cNvPr id="19" name="ctrl-4"/>
          <p:cNvSpPr/>
          <p:nvPr/>
        </p:nvSpPr>
        <p:spPr>
          <a:xfrm>
            <a:off x="425196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cdot-4"/>
          <p:cNvSpPr/>
          <p:nvPr/>
        </p:nvSpPr>
        <p:spPr>
          <a:xfrm>
            <a:off x="4480560" y="384048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Consent record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34340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Each acceptance of the terms stores the version, date, IP address and a fingerprint of the exact text.</a:t>
            </a:r>
            <a:endParaRPr lang="en-US" sz="1300" dirty="0"/>
          </a:p>
        </p:txBody>
      </p:sp>
      <p:sp>
        <p:nvSpPr>
          <p:cNvPr id="23" name="ctrl-5"/>
          <p:cNvSpPr/>
          <p:nvPr/>
        </p:nvSpPr>
        <p:spPr>
          <a:xfrm>
            <a:off x="804672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cdot-5"/>
          <p:cNvSpPr/>
          <p:nvPr/>
        </p:nvSpPr>
        <p:spPr>
          <a:xfrm>
            <a:off x="8275320" y="384048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Audit trail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34340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Append-only log of every action, including document fingerprints and decisions with their notes.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Sanctions and PEP screening is recorded manually per person; no screening provider is connected yet.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Transaction data: reporting, billing, acquirer reconciliation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and billing</a:t>
            </a:r>
            <a:endParaRPr lang="en-US" sz="2000" dirty="0"/>
          </a:p>
        </p:txBody>
      </p:sp>
      <p:sp>
        <p:nvSpPr>
          <p:cNvPr id="4" name="Reporting and billing0"/>
          <p:cNvSpPr/>
          <p:nvPr/>
        </p:nvSpPr>
        <p:spPr>
          <a:xfrm>
            <a:off x="45720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Transaction export or data warehouse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9923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Reporting and billing1"/>
          <p:cNvSpPr/>
          <p:nvPr/>
        </p:nvSpPr>
        <p:spPr>
          <a:xfrm>
            <a:off x="333756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Successful, non-test transactions only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7959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Reporting and billing2"/>
          <p:cNvSpPr/>
          <p:nvPr/>
        </p:nvSpPr>
        <p:spPr>
          <a:xfrm>
            <a:off x="621792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Monthly report and trends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5995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eporting and billing3"/>
          <p:cNvSpPr/>
          <p:nvPr/>
        </p:nvSpPr>
        <p:spPr>
          <a:xfrm>
            <a:off x="909828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7143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Fee invoices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month that has issued invoices cannot be re-imported.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Acquirer reconciliation</a:t>
            </a:r>
            <a:endParaRPr lang="en-US" sz="2000" dirty="0"/>
          </a:p>
        </p:txBody>
      </p:sp>
      <p:sp>
        <p:nvSpPr>
          <p:cNvPr id="17" name="Acquirer reconciliation0"/>
          <p:cNvSpPr/>
          <p:nvPr/>
        </p:nvSpPr>
        <p:spPr>
          <a:xfrm>
            <a:off x="45720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Acquirer file + platform extract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Acquirer reconciliation1"/>
          <p:cNvSpPr/>
          <p:nvPr/>
        </p:nvSpPr>
        <p:spPr>
          <a:xfrm>
            <a:off x="333756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071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Scope checks, MID mapping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7959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Acquirer reconciliation2"/>
          <p:cNvSpPr/>
          <p:nvPr/>
        </p:nvSpPr>
        <p:spPr>
          <a:xfrm>
            <a:off x="621792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Gap split into 6 categories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5995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Acquirer reconciliation3"/>
          <p:cNvSpPr/>
          <p:nvPr/>
        </p:nvSpPr>
        <p:spPr>
          <a:xfrm>
            <a:off x="909828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7143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Unexplained = 0, claims list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This compares transaction volumes. It is not a reconciliation of funds or of a trust account.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Fund flow model</a:t>
            </a:r>
            <a:endParaRPr lang="en-US" sz="3000" dirty="0"/>
          </a:p>
        </p:txBody>
      </p:sp>
      <p:sp>
        <p:nvSpPr>
          <p:cNvPr id="3" name="draft-tag"/>
          <p:cNvSpPr/>
          <p:nvPr/>
        </p:nvSpPr>
        <p:spPr>
          <a:xfrm>
            <a:off x="6675120" y="411480"/>
            <a:ext cx="5029200" cy="548640"/>
          </a:xfrm>
          <a:prstGeom prst="roundRect">
            <a:avLst>
              <a:gd name="adj" fmla="val 13333"/>
            </a:avLst>
          </a:prstGeom>
          <a:solidFill>
            <a:schemeClr val="accent6">
              <a:alpha val="15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675120" y="411480"/>
            <a:ext cx="50292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DRAFT — keep only the model chosen before submission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A · Gateway: merchants are paid by the acquirer</a:t>
            </a:r>
            <a:endParaRPr lang="en-US" sz="1600" dirty="0"/>
          </a:p>
        </p:txBody>
      </p:sp>
      <p:sp>
        <p:nvSpPr>
          <p:cNvPr id="6" name="a1"/>
          <p:cNvSpPr/>
          <p:nvPr/>
        </p:nvSpPr>
        <p:spPr>
          <a:xfrm>
            <a:off x="4572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Payer</a:t>
            </a:r>
            <a:endParaRPr lang="en-US" sz="1300" dirty="0"/>
          </a:p>
        </p:txBody>
      </p:sp>
      <p:sp>
        <p:nvSpPr>
          <p:cNvPr id="8" name="a2"/>
          <p:cNvSpPr/>
          <p:nvPr/>
        </p:nvSpPr>
        <p:spPr>
          <a:xfrm>
            <a:off x="246888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6888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Acquirer</a:t>
            </a:r>
            <a:endParaRPr lang="en-US" sz="1300" dirty="0"/>
          </a:p>
        </p:txBody>
      </p:sp>
      <p:sp>
        <p:nvSpPr>
          <p:cNvPr id="10" name="a3"/>
          <p:cNvSpPr/>
          <p:nvPr/>
        </p:nvSpPr>
        <p:spPr>
          <a:xfrm>
            <a:off x="44805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Merchant</a:t>
            </a:r>
            <a:endParaRPr lang="en-US" sz="1300" dirty="0"/>
          </a:p>
        </p:txBody>
      </p:sp>
      <p:sp>
        <p:nvSpPr>
          <p:cNvPr id="12" name="a4"/>
          <p:cNvSpPr/>
          <p:nvPr/>
        </p:nvSpPr>
        <p:spPr>
          <a:xfrm>
            <a:off x="246888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688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gateway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12140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13308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2918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3375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technical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flipV="1">
            <a:off x="4133088" y="2487168"/>
            <a:ext cx="1170432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48056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monthly invoice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069080"/>
            <a:ext cx="54864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merchant funds held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acquirer agreement per merchant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Fees invoiced monthly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B · Collection on behalf of merchants</a:t>
            </a:r>
            <a:endParaRPr lang="en-US" sz="1600" dirty="0"/>
          </a:p>
        </p:txBody>
      </p:sp>
      <p:sp>
        <p:nvSpPr>
          <p:cNvPr id="22" name="b1"/>
          <p:cNvSpPr/>
          <p:nvPr/>
        </p:nvSpPr>
        <p:spPr>
          <a:xfrm>
            <a:off x="63093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093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Acquirer</a:t>
            </a:r>
            <a:endParaRPr lang="en-US" sz="1300" dirty="0"/>
          </a:p>
        </p:txBody>
      </p:sp>
      <p:sp>
        <p:nvSpPr>
          <p:cNvPr id="24" name="b2"/>
          <p:cNvSpPr/>
          <p:nvPr/>
        </p:nvSpPr>
        <p:spPr>
          <a:xfrm>
            <a:off x="82296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5">
              <a:alpha val="20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Trust account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MUR</a:t>
            </a:r>
            <a:endParaRPr lang="en-US" sz="1300" dirty="0"/>
          </a:p>
        </p:txBody>
      </p:sp>
      <p:sp>
        <p:nvSpPr>
          <p:cNvPr id="26" name="b3"/>
          <p:cNvSpPr/>
          <p:nvPr/>
        </p:nvSpPr>
        <p:spPr>
          <a:xfrm>
            <a:off x="1014984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4984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Merchants</a:t>
            </a:r>
            <a:endParaRPr lang="en-US" sz="1300" dirty="0"/>
          </a:p>
        </p:txBody>
      </p:sp>
      <p:sp>
        <p:nvSpPr>
          <p:cNvPr id="28" name="b4"/>
          <p:cNvSpPr/>
          <p:nvPr/>
        </p:nvSpPr>
        <p:spPr>
          <a:xfrm>
            <a:off x="822960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Operating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account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97356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758952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gross, D+1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9380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950976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net, D+1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7782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7680960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 flipV="1">
            <a:off x="932688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9372600" y="2697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shortfall cover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309360" y="4069080"/>
            <a:ext cx="54864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Merchant funds held in a segregated trust account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Daily safeguarding reconciliation, four-eyes sign-off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Requires aggregation agreements with acquirers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080760" y="1234440"/>
            <a:ext cx="0" cy="438912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Evidence map: requested views and their status</a:t>
            </a:r>
            <a:endParaRPr lang="en-US" sz="3000" dirty="0"/>
          </a:p>
        </p:txBody>
      </p:sp>
      <p:graphicFrame>
        <p:nvGraphicFramePr>
          <p:cNvPr id="9" name="evidenc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371600"/>
                <a:gridCol w="14630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View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Status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Screenshots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Main limitation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 Sign-in and terms acceptance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S01a–f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Terms text is a placeholder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 Onboarding roadmap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Final decision not shown on the merchant side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 Pre-qualification form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S03a–b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Risk indicators pending compliance validation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 KYB document collection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Antivirus active on the demo only (S04d)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 Merchant portal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S05, S05b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 only, no active-merchant area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 Merchant dashboard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Substitute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Internal volume report, not funds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 Settlement tracking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Acquirer reconciliation, not trust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Controls (roles, audit, four-eyes, terms)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C01–C05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Three staff roles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All screenshots: development prototype, fictitious data, red DEMONSTRATION ENVIRONMENT banner.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How the controls are tested</a:t>
            </a:r>
            <a:endParaRPr lang="en-US" sz="3000" dirty="0"/>
          </a:p>
        </p:txBody>
      </p:sp>
      <p:graphicFrame>
        <p:nvGraphicFramePr>
          <p:cNvPr id="10" name="test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6751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Area tested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Checks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Merchant portal: accounts, 2FA, terms, segregation between merchants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Staff document review and four-eyes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Case approval: each blocker, approver role, four-eyes decision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Monthly reporting: cleaning rules, report lines, exports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Billing: fee rules, VAT, invoice lifecycle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Acquirer reconciliation: gap categories to the cent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Direct data import (simulated source)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Merchant records: contacts, identifiers, contracts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Upload antivirus with the ClamAV engine (test signature)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Mandatory two-factor authentication for staff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Staff accounts, roles, 2FA, audit log, sign-in lockout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344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tests show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691640"/>
            <a:ext cx="42062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control is exercised through the application interface, as a user would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Refusals are checked as well as successes: wrong role, other merchant's case, own document, missing approval blockers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Expected figures are computed by hand from fictitious data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3977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do not show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4434840"/>
            <a:ext cx="42062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Behaviour of a production system or on real 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That business rules (amount units, VAT treatment) are confirmed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Antivirus detection rate: a test signature is used, not the official database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Development prototype. Tests run on a disposable database; they do not replace testing of the production system.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Not yet in place</a:t>
            </a:r>
            <a:endParaRPr lang="en-US" sz="3000" dirty="0"/>
          </a:p>
        </p:txBody>
      </p:sp>
      <p:sp>
        <p:nvSpPr>
          <p:cNvPr id="3" name="gap-0"/>
          <p:cNvSpPr/>
          <p:nvPr/>
        </p:nvSpPr>
        <p:spPr>
          <a:xfrm>
            <a:off x="457200" y="128016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gdot-0"/>
          <p:cNvSpPr/>
          <p:nvPr/>
        </p:nvSpPr>
        <p:spPr>
          <a:xfrm>
            <a:off x="685800" y="155448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44475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Safeguarding reconciliation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92024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Daily bank-to-ledger-to-merchant-funds reconciliation, needed only if merchant funds are collected (model B).</a:t>
            </a:r>
            <a:endParaRPr lang="en-US" sz="1300" dirty="0"/>
          </a:p>
        </p:txBody>
      </p:sp>
      <p:sp>
        <p:nvSpPr>
          <p:cNvPr id="7" name="gap-1"/>
          <p:cNvSpPr/>
          <p:nvPr/>
        </p:nvSpPr>
        <p:spPr>
          <a:xfrm>
            <a:off x="6126480" y="128016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gdot-1"/>
          <p:cNvSpPr/>
          <p:nvPr/>
        </p:nvSpPr>
        <p:spPr>
          <a:xfrm>
            <a:off x="6355080" y="155448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66560" y="144475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Transaction monitoring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92024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Rules, alerts and case investigation for AML and fraud.</a:t>
            </a:r>
            <a:endParaRPr lang="en-US" sz="1300" dirty="0"/>
          </a:p>
        </p:txBody>
      </p:sp>
      <p:sp>
        <p:nvSpPr>
          <p:cNvPr id="11" name="gap-2"/>
          <p:cNvSpPr/>
          <p:nvPr/>
        </p:nvSpPr>
        <p:spPr>
          <a:xfrm>
            <a:off x="457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gdot-2"/>
          <p:cNvSpPr/>
          <p:nvPr/>
        </p:nvSpPr>
        <p:spPr>
          <a:xfrm>
            <a:off x="685800" y="310896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99923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Refunds, chargebacks, disputes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47472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Registers, statuses and deadlines.</a:t>
            </a:r>
            <a:endParaRPr lang="en-US" sz="1300" dirty="0"/>
          </a:p>
        </p:txBody>
      </p:sp>
      <p:sp>
        <p:nvSpPr>
          <p:cNvPr id="15" name="gap-3"/>
          <p:cNvSpPr/>
          <p:nvPr/>
        </p:nvSpPr>
        <p:spPr>
          <a:xfrm>
            <a:off x="612648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gdot-3"/>
          <p:cNvSpPr/>
          <p:nvPr/>
        </p:nvSpPr>
        <p:spPr>
          <a:xfrm>
            <a:off x="6355080" y="310896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299923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Complaints handling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47472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Register, response times, escalation.</a:t>
            </a:r>
            <a:endParaRPr lang="en-US" sz="1300" dirty="0"/>
          </a:p>
        </p:txBody>
      </p:sp>
      <p:sp>
        <p:nvSpPr>
          <p:cNvPr id="19" name="gap-4"/>
          <p:cNvSpPr/>
          <p:nvPr/>
        </p:nvSpPr>
        <p:spPr>
          <a:xfrm>
            <a:off x="457200" y="438912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gdot-4"/>
          <p:cNvSpPr/>
          <p:nvPr/>
        </p:nvSpPr>
        <p:spPr>
          <a:xfrm>
            <a:off x="685800" y="466344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455371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Automated sanctions / PEP screening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02920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Provider integration, adverse media, ongoing re-screening.</a:t>
            </a:r>
            <a:endParaRPr lang="en-US" sz="1300" dirty="0"/>
          </a:p>
        </p:txBody>
      </p:sp>
      <p:sp>
        <p:nvSpPr>
          <p:cNvPr id="23" name="gap-5"/>
          <p:cNvSpPr/>
          <p:nvPr/>
        </p:nvSpPr>
        <p:spPr>
          <a:xfrm>
            <a:off x="6126480" y="438912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gdot-5"/>
          <p:cNvSpPr/>
          <p:nvPr/>
        </p:nvSpPr>
        <p:spPr>
          <a:xfrm>
            <a:off x="6355080" y="466344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55371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Production antivirus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502920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ClamAV integration tested and shown on the demo with official signatures (S04d); to install on the production platform, mandatory before go-live.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Specified or identified, not built (antivirus: built and shown on the demo, not in production). No timeline committed.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chant Platform">
  <a:themeElements>
    <a:clrScheme name="Merchant Platform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erchant Platfor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Merchant platform — development prototype</dc:title>
  <dc:subject>PptxGenJS Presentation</dc:subject>
  <dc:creator>MIPS</dc:creator>
  <cp:lastModifiedBy>MIPS</cp:lastModifiedBy>
  <cp:revision>1</cp:revision>
  <dcterms:created xsi:type="dcterms:W3CDTF">2026-10-30T15:26:44Z</dcterms:created>
  <dcterms:modified xsi:type="dcterms:W3CDTF">2026-10-30T15:26:44Z</dcterms:modified>
</cp:coreProperties>
</file>