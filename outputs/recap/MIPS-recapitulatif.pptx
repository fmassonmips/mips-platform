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8ca1a958-2a30-71af-e8af-f1cf0a3460de}">
          <p14:sldIdLst>
            <p14:sldId id="256"/>
            <p14:sldId id="257"/>
          </p14:sldIdLst>
        </p14:section>
        <p14:section name="La plateforme" id="{b58ac09c-fd87-80d7-17fd-ab9c546c57d5}">
          <p14:sldIdLst>
            <p14:sldId id="258"/>
            <p14:sldId id="259"/>
            <p14:sldId id="260"/>
          </p14:sldIdLst>
        </p14:section>
        <p14:section name="Fonds et BoM" id="{fee9734f-04f3-3393-5a7e-b9836a10be29}">
          <p14:sldIdLst>
            <p14:sldId id="261"/>
            <p14:sldId id="262"/>
          </p14:sldIdLst>
        </p14:section>
        <p14:section name="Qualité" id="{beeeb231-bb91-252d-282a-74014514e358}">
          <p14:sldIdLst>
            <p14:sldId id="263"/>
          </p14:sldIdLst>
        </p14:section>
        <p14:section name="Suite" id="{36d3e346-e237-6a5b-b5d9-cf03372eb8d8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Récapitulatif de cinq jours de travail : un prototype de plateforme back-office et portail marchand, les captures pour le dossier BoM, et six specs pour le développeur de my.mips.mu. Rien n'est en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messages : ce qui est construit, ce que ça prouve pour la BoM, et les deux décisions qui bloquent. Les 590 vérifications couvrent les neuf modules, sur des données fictives uniquement.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Bleu : modules utilisés par le personnel MIPS (admin, finance). Ocre : le portail, utilisé par les marchands. Le reporting reproduit exactement analyze.py sur les mêmes fichiers.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gardes : sans double authentification, puis sans conditions acceptées, le marchand ne peut rien faire. L'approbation finale exige zéro blocage et un approbateur qui n'a jamais eu la main sur le dossier : ni créateur, ni analyste, ni auteur d'une réassignation.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Catégories du rapprochement : vérifications de carte, décalage de clearing, MID surveillés, présent seulement côté MIPS, présent seulement côté MCB, écart réel.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Indices du modèle A : fiches commerciales MIPS (« pas de compte intermédiaire »), commission facturée, rapprochement MCB par Outlet de chaque marchand, banque de règlement par moyen de paiement (MCB pour 6 couples sur 9). Le site de la Banque de Maurice était indisponible : les exigences de cantonnement restent à lire dans le texte.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S04d a été recapturée le 30 octobre avec ClamAV et les signatures officielles : chaque pièce affiche « antivirus OK », ce qui veut dire « aucune signature connue détectée ». Les captures prouvent que les fonctions sont construites, pas qu'elles sont en service. S01f et C05 montrent un texte de conditions de remplissage.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tests tournent avec une seule commande : tests/run_tests.sh. Ils prouvent que le code applique les règles figées, pas que ces règles sont les bonnes pour MIPS. Les trois failles corrigées sont dans la PR #10.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spec décrit le comportement attendu indépendamment de la technologie de my.mips.mu, que je ne connais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Aussi côté IT : seuil de blocage par adresse IP (50 échecs, à confronter au trafic du bureau) ; la mise à jour du schéma déconnecte tous les utilisateurs une fois. Détails : checklist KYC (pièces, 25 % bénéficiaire effectif, revues 1/2/3 ans, règle PEP) ; reporting (unité de somme_totale, remboursements, TVA, émetteur) ; wallets MyT Money, Juice et BankXfer ; rapprochement MCB à valider sur un mois déjà réconcilié.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Modèle A retenu le 31 octobre : ne pas développer la réconciliation trust et ne pas la promettre au régulateur. Le modèle B ne sera envisagé que pour une raison commerciale claire, après accord des acquéreurs.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MIPS Platform — récapitulatif · prototype non déployé, données fictives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MIPS Platform — récapitulatif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Prototype, dossier SPIN DIGITAL / BoM, specs pour my.mips.mu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25 au 30 octobre 2026 · PR #10, branche ccr-a3522d3b-pyyp68 · non fusionnée, jamais déployée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L'essentiel : modèle A retenu, deux vérifications bloquent</a:t>
            </a:r>
            <a:endParaRPr lang="en-US" sz="3000" dirty="0"/>
          </a:p>
        </p:txBody>
      </p:sp>
      <p:sp>
        <p:nvSpPr>
          <p:cNvPr id="3" name="stat-0"/>
          <p:cNvSpPr/>
          <p:nvPr/>
        </p:nvSpPr>
        <p:spPr>
          <a:xfrm>
            <a:off x="45720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modules construits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29184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écrans capturés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12648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specs développeur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61120" y="13258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590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vérifications automatiques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sur 11 suites</a:t>
            </a:r>
            <a:endParaRPr lang="en-US" sz="1400" dirty="0"/>
          </a:p>
        </p:txBody>
      </p:sp>
      <p:sp>
        <p:nvSpPr>
          <p:cNvPr id="15" name="dot-0"/>
          <p:cNvSpPr/>
          <p:nvPr/>
        </p:nvSpPr>
        <p:spPr>
          <a:xfrm>
            <a:off x="502920" y="33558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Construit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46120"/>
            <a:ext cx="8046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Reporting, facturation, rapprochement MCB, marchands, onboarding KYC et portail marchand, sur un socle sécurisé (2FA, audit, sessions séparées).</a:t>
            </a:r>
            <a:endParaRPr lang="en-US" sz="1500" dirty="0"/>
          </a:p>
        </p:txBody>
      </p:sp>
      <p:sp>
        <p:nvSpPr>
          <p:cNvPr id="18" name="dot-1"/>
          <p:cNvSpPr/>
          <p:nvPr/>
        </p:nvSpPr>
        <p:spPr>
          <a:xfrm>
            <a:off x="502920" y="4361688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1560" y="4251960"/>
            <a:ext cx="27432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Prouvé pour la BoM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4251960"/>
            <a:ext cx="8046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S01 à S04 couverts par des captures de démonstration ; S05 à S07 partiels ; trust, surveillance des transactions et litiges absents.</a:t>
            </a:r>
            <a:endParaRPr lang="en-US" sz="1500" dirty="0"/>
          </a:p>
        </p:txBody>
      </p:sp>
      <p:sp>
        <p:nvSpPr>
          <p:cNvPr id="21" name="dot-2"/>
          <p:cNvSpPr/>
          <p:nvPr/>
        </p:nvSpPr>
        <p:spPr>
          <a:xfrm>
            <a:off x="502920" y="5367528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51560" y="5257800"/>
            <a:ext cx="27432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À vérifier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5257800"/>
            <a:ext cx="80467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Modèle A (passerelle) retenu le 31 octobre. Bloquant : la licence ne doit pas exiger de détenir les fonds, et aucun flux (wallets, virement) ne doit passer par un compte MIPS.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modules entre les sources de données et les sorties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SOURCES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971800" y="1188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MODULES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SORTIES</a:t>
            </a:r>
            <a:endParaRPr lang="en-US" sz="1100" dirty="0"/>
          </a:p>
        </p:txBody>
      </p:sp>
      <p:sp>
        <p:nvSpPr>
          <p:cNvPr id="6" name="src-0"/>
          <p:cNvSpPr/>
          <p:nvPr/>
        </p:nvSpPr>
        <p:spPr>
          <a:xfrm>
            <a:off x="457200" y="155448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55448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Export Commission_Data</a:t>
            </a:r>
            <a:endParaRPr lang="en-US" sz="1400" dirty="0"/>
          </a:p>
        </p:txBody>
      </p:sp>
      <p:sp>
        <p:nvSpPr>
          <p:cNvPr id="8" name="src-1"/>
          <p:cNvSpPr/>
          <p:nvPr/>
        </p:nvSpPr>
        <p:spPr>
          <a:xfrm>
            <a:off x="457200" y="265176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65176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BigQuery</a:t>
            </a:r>
            <a:endParaRPr lang="en-US" sz="1400" dirty="0"/>
          </a:p>
        </p:txBody>
      </p:sp>
      <p:sp>
        <p:nvSpPr>
          <p:cNvPr id="10" name="src-2"/>
          <p:cNvSpPr/>
          <p:nvPr/>
        </p:nvSpPr>
        <p:spPr>
          <a:xfrm>
            <a:off x="457200" y="374904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Fichier MCB</a:t>
            </a:r>
            <a:endParaRPr lang="en-US" sz="1400" dirty="0"/>
          </a:p>
        </p:txBody>
      </p:sp>
      <p:sp>
        <p:nvSpPr>
          <p:cNvPr id="12" name="src-3"/>
          <p:cNvSpPr/>
          <p:nvPr/>
        </p:nvSpPr>
        <p:spPr>
          <a:xfrm>
            <a:off x="457200" y="484632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484632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Prospects (portail)</a:t>
            </a:r>
            <a:endParaRPr lang="en-US" sz="1400" dirty="0"/>
          </a:p>
        </p:txBody>
      </p:sp>
      <p:sp>
        <p:nvSpPr>
          <p:cNvPr id="14" name="mod-0"/>
          <p:cNvSpPr/>
          <p:nvPr/>
        </p:nvSpPr>
        <p:spPr>
          <a:xfrm>
            <a:off x="297180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4495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Reporting mensuel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04495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 figé, tendances, Excel</a:t>
            </a:r>
            <a:endParaRPr lang="en-US" sz="1200" dirty="0"/>
          </a:p>
        </p:txBody>
      </p:sp>
      <p:sp>
        <p:nvSpPr>
          <p:cNvPr id="17" name="mod-1"/>
          <p:cNvSpPr/>
          <p:nvPr/>
        </p:nvSpPr>
        <p:spPr>
          <a:xfrm>
            <a:off x="507492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4807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Facturation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14807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Commissions, factures</a:t>
            </a:r>
            <a:endParaRPr lang="en-US" sz="1200" dirty="0"/>
          </a:p>
        </p:txBody>
      </p:sp>
      <p:sp>
        <p:nvSpPr>
          <p:cNvPr id="20" name="mod-2"/>
          <p:cNvSpPr/>
          <p:nvPr/>
        </p:nvSpPr>
        <p:spPr>
          <a:xfrm>
            <a:off x="717804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5119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Rapprochement MCB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Écarts bouclés à zéro</a:t>
            </a:r>
            <a:endParaRPr lang="en-US" sz="1200" dirty="0"/>
          </a:p>
        </p:txBody>
      </p:sp>
      <p:sp>
        <p:nvSpPr>
          <p:cNvPr id="23" name="mod-3"/>
          <p:cNvSpPr/>
          <p:nvPr/>
        </p:nvSpPr>
        <p:spPr>
          <a:xfrm>
            <a:off x="297180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4495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Marchands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04495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Fiche, MID, contrats</a:t>
            </a:r>
            <a:endParaRPr lang="en-US" sz="1200" dirty="0"/>
          </a:p>
        </p:txBody>
      </p:sp>
      <p:sp>
        <p:nvSpPr>
          <p:cNvPr id="26" name="mod-4"/>
          <p:cNvSpPr/>
          <p:nvPr/>
        </p:nvSpPr>
        <p:spPr>
          <a:xfrm>
            <a:off x="507492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4807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Onboarding KYC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Pièces, double regard</a:t>
            </a:r>
            <a:endParaRPr lang="en-US" sz="1200" dirty="0"/>
          </a:p>
        </p:txBody>
      </p:sp>
      <p:sp>
        <p:nvSpPr>
          <p:cNvPr id="29" name="mod-5"/>
          <p:cNvSpPr/>
          <p:nvPr/>
        </p:nvSpPr>
        <p:spPr>
          <a:xfrm>
            <a:off x="717804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5119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Portail marchand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5119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Compte, CGU, pièces</a:t>
            </a:r>
            <a:endParaRPr lang="en-US" sz="1200" dirty="0"/>
          </a:p>
        </p:txBody>
      </p:sp>
      <p:sp>
        <p:nvSpPr>
          <p:cNvPr id="32" name="mod-6"/>
          <p:cNvSpPr/>
          <p:nvPr/>
        </p:nvSpPr>
        <p:spPr>
          <a:xfrm>
            <a:off x="297180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04495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Utilisateurs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304495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Rôles, 2FA</a:t>
            </a:r>
            <a:endParaRPr lang="en-US" sz="1200" dirty="0"/>
          </a:p>
        </p:txBody>
      </p:sp>
      <p:sp>
        <p:nvSpPr>
          <p:cNvPr id="35" name="mod-7"/>
          <p:cNvSpPr/>
          <p:nvPr/>
        </p:nvSpPr>
        <p:spPr>
          <a:xfrm>
            <a:off x="507492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4807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Journal d'audit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514807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Ajout seul</a:t>
            </a:r>
            <a:endParaRPr lang="en-US" sz="1200" dirty="0"/>
          </a:p>
        </p:txBody>
      </p:sp>
      <p:sp>
        <p:nvSpPr>
          <p:cNvPr id="38" name="mod-8"/>
          <p:cNvSpPr/>
          <p:nvPr/>
        </p:nvSpPr>
        <p:spPr>
          <a:xfrm>
            <a:off x="717804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5119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Conditions du portail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725119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Versions, acceptations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5897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Socle : 2FA TOTP · CSRF · CSP stricte · sessions séparées · pièces hors web avec sha256</a:t>
            </a:r>
            <a:endParaRPr lang="en-US" sz="1200" dirty="0"/>
          </a:p>
        </p:txBody>
      </p:sp>
      <p:sp>
        <p:nvSpPr>
          <p:cNvPr id="42" name="out-0"/>
          <p:cNvSpPr/>
          <p:nvPr/>
        </p:nvSpPr>
        <p:spPr>
          <a:xfrm>
            <a:off x="9692640" y="1554480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38360" y="1554480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Rapport mensuel, Excel</a:t>
            </a:r>
            <a:endParaRPr lang="en-US" sz="1300" dirty="0"/>
          </a:p>
        </p:txBody>
      </p:sp>
      <p:sp>
        <p:nvSpPr>
          <p:cNvPr id="44" name="out-1"/>
          <p:cNvSpPr/>
          <p:nvPr/>
        </p:nvSpPr>
        <p:spPr>
          <a:xfrm>
            <a:off x="9692640" y="2432304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38360" y="2432304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Factures (TVA 15 %)</a:t>
            </a:r>
            <a:endParaRPr lang="en-US" sz="1300" dirty="0"/>
          </a:p>
        </p:txBody>
      </p:sp>
      <p:sp>
        <p:nvSpPr>
          <p:cNvPr id="46" name="out-2"/>
          <p:cNvSpPr/>
          <p:nvPr/>
        </p:nvSpPr>
        <p:spPr>
          <a:xfrm>
            <a:off x="9692640" y="3310128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738360" y="3310128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Réclamations MCB</a:t>
            </a:r>
            <a:endParaRPr lang="en-US" sz="1300" dirty="0"/>
          </a:p>
        </p:txBody>
      </p:sp>
      <p:sp>
        <p:nvSpPr>
          <p:cNvPr id="48" name="out-3"/>
          <p:cNvSpPr/>
          <p:nvPr/>
        </p:nvSpPr>
        <p:spPr>
          <a:xfrm>
            <a:off x="9692640" y="4187952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738360" y="4187952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 approuvé</a:t>
            </a:r>
            <a:endParaRPr lang="en-US" sz="1300" dirty="0"/>
          </a:p>
        </p:txBody>
      </p:sp>
      <p:sp>
        <p:nvSpPr>
          <p:cNvPr id="50" name="out-4"/>
          <p:cNvSpPr/>
          <p:nvPr/>
        </p:nvSpPr>
        <p:spPr>
          <a:xfrm>
            <a:off x="9692640" y="5065776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738360" y="5065776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Preuves d'audit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56032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928116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parcours marchand : neuf étapes, trois gardes</a:t>
            </a:r>
            <a:endParaRPr lang="en-US" sz="3000" dirty="0"/>
          </a:p>
        </p:txBody>
      </p:sp>
      <p:sp>
        <p:nvSpPr>
          <p:cNvPr id="3" name="step-0"/>
          <p:cNvSpPr/>
          <p:nvPr/>
        </p:nvSpPr>
        <p:spPr>
          <a:xfrm>
            <a:off x="457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email confirmé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87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743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34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Double authentification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obligatoire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73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029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Conditions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version courante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59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15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06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Préqualification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société, volumes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345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01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92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Acceptation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crée le dossier</a:t>
            </a:r>
            <a:endParaRPr lang="en-US" sz="1200" dirty="0"/>
          </a:p>
        </p:txBody>
      </p:sp>
      <p:sp>
        <p:nvSpPr>
          <p:cNvPr id="27" name="step-5"/>
          <p:cNvSpPr/>
          <p:nvPr/>
        </p:nvSpPr>
        <p:spPr>
          <a:xfrm>
            <a:off x="457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Personnes et pièces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dirigeants, UBO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487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2" name="step-6"/>
          <p:cNvSpPr/>
          <p:nvPr/>
        </p:nvSpPr>
        <p:spPr>
          <a:xfrm>
            <a:off x="2743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834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2834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Vérification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834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autre que le déposant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773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7" name="step-7"/>
          <p:cNvSpPr/>
          <p:nvPr/>
        </p:nvSpPr>
        <p:spPr>
          <a:xfrm>
            <a:off x="5029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120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5120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Dossier envoyé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120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rien ne manque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059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2" name="step-8"/>
          <p:cNvSpPr/>
          <p:nvPr/>
        </p:nvSpPr>
        <p:spPr>
          <a:xfrm>
            <a:off x="7315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06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4" name="Text 42"/>
          <p:cNvSpPr txBox="1"/>
          <p:nvPr/>
        </p:nvSpPr>
        <p:spPr>
          <a:xfrm>
            <a:off x="7406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Approbation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406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approbateur jamais intervenu</a:t>
            </a:r>
            <a:endParaRPr lang="en-US" sz="1200" dirty="0"/>
          </a:p>
        </p:txBody>
      </p:sp>
      <p:sp>
        <p:nvSpPr>
          <p:cNvPr id="46" name="leg-0"/>
          <p:cNvSpPr/>
          <p:nvPr/>
        </p:nvSpPr>
        <p:spPr>
          <a:xfrm>
            <a:off x="694944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31520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Fait par le marchand</a:t>
            </a:r>
            <a:endParaRPr lang="en-US" sz="1100" dirty="0"/>
          </a:p>
        </p:txBody>
      </p:sp>
      <p:sp>
        <p:nvSpPr>
          <p:cNvPr id="48" name="leg-1"/>
          <p:cNvSpPr/>
          <p:nvPr/>
        </p:nvSpPr>
        <p:spPr>
          <a:xfrm>
            <a:off x="868680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05256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Fait par MIPS</a:t>
            </a:r>
            <a:endParaRPr lang="en-US" sz="1100" dirty="0"/>
          </a:p>
        </p:txBody>
      </p:sp>
      <p:sp>
        <p:nvSpPr>
          <p:cNvPr id="50" name="leg-2"/>
          <p:cNvSpPr/>
          <p:nvPr/>
        </p:nvSpPr>
        <p:spPr>
          <a:xfrm>
            <a:off x="1042416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78992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Garde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562356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« Envoyé à MIPS » n'est jamais présenté comme « approuvé 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chaînes de données : facturer, puis contrôler la banque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 et facturation</a:t>
            </a:r>
            <a:endParaRPr lang="en-US" sz="2000" dirty="0"/>
          </a:p>
        </p:txBody>
      </p:sp>
      <p:sp>
        <p:nvSpPr>
          <p:cNvPr id="4" name="Reporting et facturation0"/>
          <p:cNvSpPr/>
          <p:nvPr/>
        </p:nvSpPr>
        <p:spPr>
          <a:xfrm>
            <a:off x="45720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Commission_Data ou BigQuery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9923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Reporting et facturation1"/>
          <p:cNvSpPr/>
          <p:nvPr/>
        </p:nvSpPr>
        <p:spPr>
          <a:xfrm>
            <a:off x="333756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Import : SUCCESS seul, tests exclus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7959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Reporting et facturation2"/>
          <p:cNvSpPr/>
          <p:nvPr/>
        </p:nvSpPr>
        <p:spPr>
          <a:xfrm>
            <a:off x="621792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Rapport, tendances, Excel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5995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eporting et facturation3"/>
          <p:cNvSpPr/>
          <p:nvPr/>
        </p:nvSpPr>
        <p:spPr>
          <a:xfrm>
            <a:off x="909828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7143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Factures de commission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926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Un mois facturé ne se réimporte plus. Unité de somme_totale supposée en MUR, non confirmée.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Rapprochement MCB / MIPS</a:t>
            </a:r>
            <a:endParaRPr lang="en-US" sz="2000" dirty="0"/>
          </a:p>
        </p:txBody>
      </p:sp>
      <p:sp>
        <p:nvSpPr>
          <p:cNvPr id="17" name="Rapprochement MCB / MIPS0"/>
          <p:cNvSpPr/>
          <p:nvPr/>
        </p:nvSpPr>
        <p:spPr>
          <a:xfrm>
            <a:off x="45720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Fichier MCB + extraction MIPS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99923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Rapprochement MCB / MIPS1"/>
          <p:cNvSpPr/>
          <p:nvPr/>
        </p:nvSpPr>
        <p:spPr>
          <a:xfrm>
            <a:off x="333756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1071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Contrôles de périmètre, remaps MID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87959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Rapprochement MCB / MIPS2"/>
          <p:cNvSpPr/>
          <p:nvPr/>
        </p:nvSpPr>
        <p:spPr>
          <a:xfrm>
            <a:off x="621792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9107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Écart ventilé en 6 catégories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75995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Rapprochement MCB / MIPS3"/>
          <p:cNvSpPr/>
          <p:nvPr/>
        </p:nvSpPr>
        <p:spPr>
          <a:xfrm>
            <a:off x="909828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7143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Inexpliqué = 0, réclamations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Compare des volumes, pas des fonds : ce n'est pas une réconciliation du trust.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Où va l'argent : modèle A retenu, B écarté pour l'instant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 · Passerelle — retenu le 31 octobre</a:t>
            </a:r>
            <a:endParaRPr lang="en-US" sz="1600" dirty="0"/>
          </a:p>
        </p:txBody>
      </p:sp>
      <p:sp>
        <p:nvSpPr>
          <p:cNvPr id="4" name="a1"/>
          <p:cNvSpPr/>
          <p:nvPr/>
        </p:nvSpPr>
        <p:spPr>
          <a:xfrm>
            <a:off x="4572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Payeur</a:t>
            </a:r>
            <a:endParaRPr lang="en-US" sz="1300" dirty="0"/>
          </a:p>
        </p:txBody>
      </p:sp>
      <p:sp>
        <p:nvSpPr>
          <p:cNvPr id="6" name="a2"/>
          <p:cNvSpPr/>
          <p:nvPr/>
        </p:nvSpPr>
        <p:spPr>
          <a:xfrm>
            <a:off x="246888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6888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Acquéreur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MCB · SBM · ABSA</a:t>
            </a:r>
            <a:endParaRPr lang="en-US" sz="1300" dirty="0"/>
          </a:p>
        </p:txBody>
      </p:sp>
      <p:sp>
        <p:nvSpPr>
          <p:cNvPr id="8" name="a3"/>
          <p:cNvSpPr/>
          <p:nvPr/>
        </p:nvSpPr>
        <p:spPr>
          <a:xfrm>
            <a:off x="44805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</a:t>
            </a:r>
            <a:endParaRPr lang="en-US" sz="1300" dirty="0"/>
          </a:p>
        </p:txBody>
      </p:sp>
      <p:sp>
        <p:nvSpPr>
          <p:cNvPr id="10" name="a4"/>
          <p:cNvSpPr/>
          <p:nvPr/>
        </p:nvSpPr>
        <p:spPr>
          <a:xfrm>
            <a:off x="246888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6888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MIPS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passerelle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12140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13308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2918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333756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technique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flipV="1">
            <a:off x="4133088" y="2487168"/>
            <a:ext cx="1170432" cy="100584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480560" y="3154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facture mensuelle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069080"/>
            <a:ext cx="54864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Commission facturée, pas retenue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 contrat acquéreur par marchand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Aucun fonds détenu : pas de trust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À confirmer : wallets et virement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B · Encaissement pour compte — non retenu</a:t>
            </a:r>
            <a:endParaRPr lang="en-US" sz="1600" dirty="0"/>
          </a:p>
        </p:txBody>
      </p:sp>
      <p:sp>
        <p:nvSpPr>
          <p:cNvPr id="20" name="b1"/>
          <p:cNvSpPr/>
          <p:nvPr/>
        </p:nvSpPr>
        <p:spPr>
          <a:xfrm>
            <a:off x="63093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093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Acquéreur</a:t>
            </a:r>
            <a:endParaRPr lang="en-US" sz="1300" dirty="0"/>
          </a:p>
        </p:txBody>
      </p:sp>
      <p:sp>
        <p:nvSpPr>
          <p:cNvPr id="22" name="b2"/>
          <p:cNvSpPr/>
          <p:nvPr/>
        </p:nvSpPr>
        <p:spPr>
          <a:xfrm>
            <a:off x="82296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5">
              <a:alpha val="2000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Compte trust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MUR</a:t>
            </a:r>
            <a:endParaRPr lang="en-US" sz="1300" dirty="0"/>
          </a:p>
        </p:txBody>
      </p:sp>
      <p:sp>
        <p:nvSpPr>
          <p:cNvPr id="24" name="b3"/>
          <p:cNvSpPr/>
          <p:nvPr/>
        </p:nvSpPr>
        <p:spPr>
          <a:xfrm>
            <a:off x="1014984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14984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Marchands</a:t>
            </a:r>
            <a:endParaRPr lang="en-US" sz="1300" dirty="0"/>
          </a:p>
        </p:txBody>
      </p:sp>
      <p:sp>
        <p:nvSpPr>
          <p:cNvPr id="26" name="b4"/>
          <p:cNvSpPr/>
          <p:nvPr/>
        </p:nvSpPr>
        <p:spPr>
          <a:xfrm>
            <a:off x="822960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d'exploitation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973568" y="2121408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8952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brut J+1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893808" y="2121408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950976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net J+1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7782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7680960" y="26974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commission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 flipV="1">
            <a:off x="932688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937260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couverture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09360" y="4069080"/>
            <a:ext cx="54864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Contrats acquéreurs à renégocier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Rapprochement quotidien, double regard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Déficit = alerte immédiate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Exigences BoM non lues à la source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080760" y="1234440"/>
            <a:ext cx="0" cy="457200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Dossier BoM : l'onboarding est couvert, pas les fonds</a:t>
            </a:r>
            <a:endParaRPr lang="en-US" sz="3000" dirty="0"/>
          </a:p>
        </p:txBody>
      </p:sp>
      <p:graphicFrame>
        <p:nvGraphicFramePr>
          <p:cNvPr id="8" name="bom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1463040"/>
                <a:gridCol w="51206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Vue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Statut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Captures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Limite principale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 Connexion + conditions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S01a–f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Texte des conditions = remplissage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 Parcours d'onboarding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Décision finale non montrée côté marchand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 Préqualification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S03a–b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Signaux à valider par la conformité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 Pièces KYB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Antivirus actif sur la démo seulement (S04d)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 Portail général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Partiel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S05, S05b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Onboarding seulement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 Dashboard marchand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Substitut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Volumes internes, pas de fonds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 Règlement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Partiel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Acquéreur, pas de trust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Contrôles (rôles, audit, CGU)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Présent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C01–C05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Rôles grossiers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Trust, surveillance, litiges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</a:rPr>
                        <a:t>Absent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Trust sans objet (modèle A) ; le reste non construit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7150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Captures de démonstration : prototype non déployé, données fictives, bandeau DEMO. B01 et G01 non modifiés.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590 vérifications automatiques ont déjà corrigé trois failles</a:t>
            </a:r>
            <a:endParaRPr lang="en-US" sz="3000" dirty="0"/>
          </a:p>
        </p:txBody>
      </p:sp>
      <p:graphicFrame>
        <p:nvGraphicFramePr>
          <p:cNvPr id="9" name="test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4206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Suite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Vérifications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Onboarding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Approbation KYC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Reporting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Facturation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Rapprochement MCB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BigQuery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Fiches marchands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Antivirus (ClamAV)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2FA obligatoire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Administration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4406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Données fictives, montants attendus calculés à la main. Quatorze erreurs volontaires dans le code : toutes détectées.</a:t>
            </a:r>
            <a:endParaRPr lang="en-US" sz="1200" dirty="0"/>
          </a:p>
        </p:txBody>
      </p:sp>
      <p:sp>
        <p:nvSpPr>
          <p:cNvPr id="5" name="fix-0"/>
          <p:cNvSpPr/>
          <p:nvPr/>
        </p:nvSpPr>
        <p:spPr>
          <a:xfrm>
            <a:off x="5120640" y="1234440"/>
            <a:ext cx="65836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6" name="fixdot-0"/>
          <p:cNvSpPr/>
          <p:nvPr/>
        </p:nvSpPr>
        <p:spPr>
          <a:xfrm>
            <a:off x="5303520" y="1417320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715000" y="132588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Blocage des connexions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170992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Cinq échecs depuis une adresse bloquaient tout le bureau. Désormais par compte ; une adresse seulement au-delà de 50 échecs.</a:t>
            </a:r>
            <a:endParaRPr lang="en-US" sz="1200" dirty="0"/>
          </a:p>
        </p:txBody>
      </p:sp>
      <p:sp>
        <p:nvSpPr>
          <p:cNvPr id="9" name="fix-1"/>
          <p:cNvSpPr/>
          <p:nvPr/>
        </p:nvSpPr>
        <p:spPr>
          <a:xfrm>
            <a:off x="5120640" y="2423160"/>
            <a:ext cx="65836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fixdot-1"/>
          <p:cNvSpPr/>
          <p:nvPr/>
        </p:nvSpPr>
        <p:spPr>
          <a:xfrm>
            <a:off x="5303520" y="2606040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251460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Sessions après changement de mot de passe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289864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Deux changements dans la même seconde laissaient une session ouverte. Heure enregistrée à la microseconde.</a:t>
            </a:r>
            <a:endParaRPr lang="en-US" sz="1200" dirty="0"/>
          </a:p>
        </p:txBody>
      </p:sp>
      <p:sp>
        <p:nvSpPr>
          <p:cNvPr id="13" name="fix-2"/>
          <p:cNvSpPr/>
          <p:nvPr/>
        </p:nvSpPr>
        <p:spPr>
          <a:xfrm>
            <a:off x="5120640" y="3611880"/>
            <a:ext cx="65836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fixdot-2"/>
          <p:cNvSpPr/>
          <p:nvPr/>
        </p:nvSpPr>
        <p:spPr>
          <a:xfrm>
            <a:off x="5303520" y="3794760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715000" y="370332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Double regard sur l'approbation KYC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408736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 analyste approbateur pouvait réassigner le dossier puis le trancher. Désormais exclu, comme toute personne qui a eu la main sur le dossier.</a:t>
            </a:r>
            <a:endParaRPr lang="en-US" sz="1200" dirty="0"/>
          </a:p>
        </p:txBody>
      </p:sp>
      <p:sp>
        <p:nvSpPr>
          <p:cNvPr id="17" name="fix-3"/>
          <p:cNvSpPr/>
          <p:nvPr/>
        </p:nvSpPr>
        <p:spPr>
          <a:xfrm>
            <a:off x="5120640" y="4800600"/>
            <a:ext cx="6583680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8" name="fixdot-3"/>
          <p:cNvSpPr/>
          <p:nvPr/>
        </p:nvSpPr>
        <p:spPr>
          <a:xfrm>
            <a:off x="5303520" y="4983480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715000" y="489204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 prouve pas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527608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Les règles métier (unité, remboursements, TVA), le vrai BigQuery, un vrai mois MCB, le taux de détection de l'antivirus (signature de test), les écrans.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Six specs prêtes pour le développeur de my.mips.mu</a:t>
            </a:r>
            <a:endParaRPr lang="en-US" sz="3000" dirty="0"/>
          </a:p>
        </p:txBody>
      </p:sp>
      <p:sp>
        <p:nvSpPr>
          <p:cNvPr id="3" name="spec-0"/>
          <p:cNvSpPr/>
          <p:nvPr/>
        </p:nvSpPr>
        <p:spPr>
          <a:xfrm>
            <a:off x="45720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specdot-0"/>
          <p:cNvSpPr/>
          <p:nvPr/>
        </p:nvSpPr>
        <p:spPr>
          <a:xfrm>
            <a:off x="685800" y="160020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50876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Export Excel du rapport mensuel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37744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Code de référence et tests</a:t>
            </a:r>
            <a:endParaRPr lang="en-US" sz="1300" dirty="0"/>
          </a:p>
        </p:txBody>
      </p:sp>
      <p:sp>
        <p:nvSpPr>
          <p:cNvPr id="7" name="spec-1"/>
          <p:cNvSpPr/>
          <p:nvPr/>
        </p:nvSpPr>
        <p:spPr>
          <a:xfrm>
            <a:off x="425196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specdot-1"/>
          <p:cNvSpPr/>
          <p:nvPr/>
        </p:nvSpPr>
        <p:spPr>
          <a:xfrm>
            <a:off x="4480560" y="160020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50876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Lecture BigQuery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37744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Testée sur émulateur, pas sur la vraie table</a:t>
            </a:r>
            <a:endParaRPr lang="en-US" sz="1300" dirty="0"/>
          </a:p>
        </p:txBody>
      </p:sp>
      <p:sp>
        <p:nvSpPr>
          <p:cNvPr id="11" name="spec-2"/>
          <p:cNvSpPr/>
          <p:nvPr/>
        </p:nvSpPr>
        <p:spPr>
          <a:xfrm>
            <a:off x="8046720" y="132588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specdot-2"/>
          <p:cNvSpPr/>
          <p:nvPr/>
        </p:nvSpPr>
        <p:spPr>
          <a:xfrm>
            <a:off x="8275320" y="160020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150876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Rapprochement MCB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0" y="237744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Testé sur fichiers synthétiques</a:t>
            </a:r>
            <a:endParaRPr lang="en-US" sz="1300" dirty="0"/>
          </a:p>
        </p:txBody>
      </p:sp>
      <p:sp>
        <p:nvSpPr>
          <p:cNvPr id="15" name="spec-3"/>
          <p:cNvSpPr/>
          <p:nvPr/>
        </p:nvSpPr>
        <p:spPr>
          <a:xfrm>
            <a:off x="457200" y="347472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specdot-3"/>
          <p:cNvSpPr/>
          <p:nvPr/>
        </p:nvSpPr>
        <p:spPr>
          <a:xfrm>
            <a:off x="685800" y="37490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365760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Onboarding KYC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52628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18 tests de recette</a:t>
            </a:r>
            <a:endParaRPr lang="en-US" sz="1300" dirty="0"/>
          </a:p>
        </p:txBody>
      </p:sp>
      <p:sp>
        <p:nvSpPr>
          <p:cNvPr id="19" name="spec-4"/>
          <p:cNvSpPr/>
          <p:nvPr/>
        </p:nvSpPr>
        <p:spPr>
          <a:xfrm>
            <a:off x="4251960" y="347472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specdot-4"/>
          <p:cNvSpPr/>
          <p:nvPr/>
        </p:nvSpPr>
        <p:spPr>
          <a:xfrm>
            <a:off x="4480560" y="3749040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365760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Portail marchand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2628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29 tests de recette, 113 vérifications</a:t>
            </a:r>
            <a:endParaRPr lang="en-US" sz="1300" dirty="0"/>
          </a:p>
        </p:txBody>
      </p:sp>
      <p:sp>
        <p:nvSpPr>
          <p:cNvPr id="23" name="spec-5"/>
          <p:cNvSpPr/>
          <p:nvPr/>
        </p:nvSpPr>
        <p:spPr>
          <a:xfrm>
            <a:off x="8046720" y="3474720"/>
            <a:ext cx="356616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specdot-5"/>
          <p:cNvSpPr/>
          <p:nvPr/>
        </p:nvSpPr>
        <p:spPr>
          <a:xfrm>
            <a:off x="8275320" y="3749040"/>
            <a:ext cx="292608" cy="29260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0" y="3657600"/>
            <a:ext cx="278892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Réconciliation trust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0" y="4526280"/>
            <a:ext cx="2788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Ne pas développer : modèle A retenu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Dans outputs/dev-handover/ du dépôt. Vert : prête · ambre : à valider sur données réelles · rouge : en attente d'une décision.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décisions et vérifications en attente</a:t>
            </a:r>
            <a:endParaRPr lang="en-US" sz="3000" dirty="0"/>
          </a:p>
        </p:txBody>
      </p:sp>
      <p:sp>
        <p:nvSpPr>
          <p:cNvPr id="3" name="dec-0"/>
          <p:cNvSpPr/>
          <p:nvPr/>
        </p:nvSpPr>
        <p:spPr>
          <a:xfrm>
            <a:off x="45720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CONFORMITÉ · BLOQUANT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Licence compatible avec le modèle A</a:t>
            </a:r>
            <a:endParaRPr lang="en-US" sz="1600" dirty="0"/>
          </a:p>
        </p:txBody>
      </p:sp>
      <p:sp>
        <p:nvSpPr>
          <p:cNvPr id="6" name="dec-1"/>
          <p:cNvSpPr/>
          <p:nvPr/>
        </p:nvSpPr>
        <p:spPr>
          <a:xfrm>
            <a:off x="425196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CONFORMITÉ · BLOQUANT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Textes BoM sur le cantonnement</a:t>
            </a:r>
            <a:endParaRPr lang="en-US" sz="1600" dirty="0"/>
          </a:p>
        </p:txBody>
      </p:sp>
      <p:sp>
        <p:nvSpPr>
          <p:cNvPr id="9" name="dec-2"/>
          <p:cNvSpPr/>
          <p:nvPr/>
        </p:nvSpPr>
        <p:spPr>
          <a:xfrm>
            <a:off x="804672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CONFORMITÉ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Checklist KYC et seuils</a:t>
            </a:r>
            <a:endParaRPr lang="en-US" sz="1600" dirty="0"/>
          </a:p>
        </p:txBody>
      </p:sp>
      <p:sp>
        <p:nvSpPr>
          <p:cNvPr id="12" name="dec-3"/>
          <p:cNvSpPr/>
          <p:nvPr/>
        </p:nvSpPr>
        <p:spPr>
          <a:xfrm>
            <a:off x="45720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JURIDIQUE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Texte des conditions du portail</a:t>
            </a:r>
            <a:endParaRPr lang="en-US" sz="1600" dirty="0"/>
          </a:p>
        </p:txBody>
      </p:sp>
      <p:sp>
        <p:nvSpPr>
          <p:cNvPr id="15" name="dec-4"/>
          <p:cNvSpPr/>
          <p:nvPr/>
        </p:nvSpPr>
        <p:spPr>
          <a:xfrm>
            <a:off x="425196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Points ouverts du reporting</a:t>
            </a:r>
            <a:endParaRPr lang="en-US" sz="1600" dirty="0"/>
          </a:p>
        </p:txBody>
      </p:sp>
      <p:sp>
        <p:nvSpPr>
          <p:cNvPr id="18" name="dec-5"/>
          <p:cNvSpPr/>
          <p:nvPr/>
        </p:nvSpPr>
        <p:spPr>
          <a:xfrm>
            <a:off x="804672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FINANCE · BLOQUANT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Flux des wallets et virements</a:t>
            </a:r>
            <a:endParaRPr lang="en-US" sz="1600" dirty="0"/>
          </a:p>
        </p:txBody>
      </p:sp>
      <p:sp>
        <p:nvSpPr>
          <p:cNvPr id="21" name="dec-6"/>
          <p:cNvSpPr/>
          <p:nvPr/>
        </p:nvSpPr>
        <p:spPr>
          <a:xfrm>
            <a:off x="45720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Antivirus des pièces</a:t>
            </a:r>
            <a:endParaRPr lang="en-US" sz="1600" dirty="0"/>
          </a:p>
        </p:txBody>
      </p:sp>
      <p:sp>
        <p:nvSpPr>
          <p:cNvPr id="24" name="dec-7"/>
          <p:cNvSpPr/>
          <p:nvPr/>
        </p:nvSpPr>
        <p:spPr>
          <a:xfrm>
            <a:off x="425196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8912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CEO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8912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Références MIPS INTERNATIONAL / FSC</a:t>
            </a:r>
            <a:endParaRPr lang="en-US" sz="1600" dirty="0"/>
          </a:p>
        </p:txBody>
      </p:sp>
      <p:sp>
        <p:nvSpPr>
          <p:cNvPr id="27" name="dec-8"/>
          <p:cNvSpPr/>
          <p:nvPr/>
        </p:nvSpPr>
        <p:spPr>
          <a:xfrm>
            <a:off x="804672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8388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Validation sur données réelles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En rouge : les vérifications dont dépendent le modèle A retenu et ce qui est promis à la Banque de Maurice.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Prochaines étapes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chemeClr val="bg1"/>
                </a:solidFill>
              </a:rPr>
              <a:t>1. Vérifier que la licence n'exige pas de détenir les fonds (modèle A retenu)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chemeClr val="bg1"/>
                </a:solidFill>
              </a:rPr>
              <a:t>2. Faire lire les textes BoM sur le cantonnement par la conformité</a:t>
            </a:r>
            <a:endParaRPr lang="en-US" sz="2000" dirty="0"/>
          </a:p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3. Transmettre les specs validées au développeur de my.mips.mu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PS Recap">
  <a:themeElements>
    <a:clrScheme name="MIPS Recap">
      <a:dk1>
        <a:srgbClr val="12233A"/>
      </a:dk1>
      <a:lt1>
        <a:srgbClr val="FFFFFF"/>
      </a:lt1>
      <a:dk2>
        <a:srgbClr val="5A6B80"/>
      </a:dk2>
      <a:lt2>
        <a:srgbClr val="F1F4F7"/>
      </a:lt2>
      <a:accent1>
        <a:srgbClr val="0F7C8C"/>
      </a:accent1>
      <a:accent2>
        <a:srgbClr val="2F5FA7"/>
      </a:accent2>
      <a:accent3>
        <a:srgbClr val="9A5B13"/>
      </a:accent3>
      <a:accent4>
        <a:srgbClr val="1D7A46"/>
      </a:accent4>
      <a:accent5>
        <a:srgbClr val="B07D00"/>
      </a:accent5>
      <a:accent6>
        <a:srgbClr val="B3261E"/>
      </a:accent6>
      <a:hlink>
        <a:srgbClr val="0F7C8C"/>
      </a:hlink>
      <a:folHlink>
        <a:srgbClr val="5A6B80"/>
      </a:folHlink>
    </a:clrScheme>
    <a:fontScheme name="MIPS Recap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MIPS Platform — récapitulatif</dc:title>
  <dc:subject>PptxGenJS Presentation</dc:subject>
  <dc:creator>MIPS</dc:creator>
  <cp:lastModifiedBy>MIPS</cp:lastModifiedBy>
  <cp:revision>1</cp:revision>
  <dcterms:created xsi:type="dcterms:W3CDTF">2026-10-31T07:25:16Z</dcterms:created>
  <dcterms:modified xsi:type="dcterms:W3CDTF">2026-10-31T07:25:16Z</dcterms:modified>
</cp:coreProperties>
</file>