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" id="{e2f01589-7984-ac72-dbc7-31d09842a99a}">
          <p14:sldIdLst>
            <p14:sldId id="256"/>
            <p14:sldId id="257"/>
          </p14:sldIdLst>
        </p14:section>
        <p14:section name="Architecture" id="{10190852-a49c-09ce-98f3-17411f24427f}">
          <p14:sldIdLst>
            <p14:sldId id="258"/>
            <p14:sldId id="259"/>
            <p14:sldId id="260"/>
            <p14:sldId id="261"/>
          </p14:sldIdLst>
        </p14:section>
        <p14:section name="Parcours et données" id="{d38d4a7b-050e-8717-00b4-b861efbf95dd}">
          <p14:sldIdLst>
            <p14:sldId id="262"/>
            <p14:sldId id="263"/>
          </p14:sldIdLst>
        </p14:section>
        <p14:section name="Tests et sécurité" id="{e739e27a-27e0-b2f9-af9d-7dd8131af343}">
          <p14:sldIdLst>
            <p14:sldId id="264"/>
            <p14:sldId id="265"/>
            <p14:sldId id="266"/>
          </p14:sldIdLst>
        </p14:section>
        <p14:section name="Feuille de route" id="{20ef6c49-3dbf-92c8-4d2d-b3f135feb0ce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prototype sert de spécification exécutable. On ne le déploie pas tel quel : on reprend ses règles, ses tests et son modèle de données dans my.mips.mu.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portail sur un sous-domaine dédié isole les cookies. Le module trust n'est construit que si SPIN DIGITAL encaisse pour le compte des marchands (modèle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reporting de référence reproduit exactement analyze.py sur les mêmes fichiers : c'est le test de non-régression à reprendre.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prouvent que le code applique les règles figées, pas que ces règles sont les bonnes : unité de somme_totale, remboursements et TVA restent à confirmer par la finance. staff_2fa_required_test.py active la règle « 2FA obligatoire pour admin et finance » le temps de la suite (désactivée ailleurs pour que les autres suites se connectent par mot de passe).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deux corrections sont dans la PR #10, avec leurs tests dans admin_test.py. Le compteur de version est une recommandation pour my.mips.mu ; la référence garde l'horodatage pour ne pas changer son schéma.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 dans la PR #10 (Kyc::hasHandled, onboarding_case_handlers). Sur une base existante, la table est remplie avec le créateur et l'analyste actuel de chaque dossier ; les réassignations passées ne peuvent pas être reconstituées.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dix suites du prototype (579 vérifications, tests/ dans le dépôt) servent de base : chaque palier reprend les scénarios et les montants attendus de ses suites.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my.mips.mu — vision technique pour l'équipe de développement MIPS · usage interne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my.mips.mu — vision technique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Du prototype de référence à la plateforme en production, pour l'équipe de développement MIPS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Référence : dépôt fmassonmips/mips-platform, PR #10 · octobre 2026 · usage interne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cap : reprendre les règles du prototype, pas son code</a:t>
            </a:r>
            <a:endParaRPr lang="en-US" sz="3000" dirty="0"/>
          </a:p>
        </p:txBody>
      </p:sp>
      <p:sp>
        <p:nvSpPr>
          <p:cNvPr id="3" name="c1"/>
          <p:cNvSpPr/>
          <p:nvPr/>
        </p:nvSpPr>
        <p:spPr>
          <a:xfrm>
            <a:off x="457200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1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que le prototype apporte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 règles métier figées et testées, un modèle de données, des écrans validés et six specs détaillées.</a:t>
            </a:r>
            <a:endParaRPr lang="en-US" sz="1300" dirty="0"/>
          </a:p>
        </p:txBody>
      </p:sp>
      <p:sp>
        <p:nvSpPr>
          <p:cNvPr id="7" name="c2"/>
          <p:cNvSpPr/>
          <p:nvPr/>
        </p:nvSpPr>
        <p:spPr>
          <a:xfrm>
            <a:off x="4288536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2-dot"/>
          <p:cNvSpPr/>
          <p:nvPr/>
        </p:nvSpPr>
        <p:spPr>
          <a:xfrm>
            <a:off x="4489704" y="1545336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82896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qu'il n'est pas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71416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système déployable : PHP sans framework, testé sur données fictives, jamais en production.</a:t>
            </a:r>
            <a:endParaRPr lang="en-US" sz="1300" dirty="0"/>
          </a:p>
        </p:txBody>
      </p:sp>
      <p:sp>
        <p:nvSpPr>
          <p:cNvPr id="11" name="c3"/>
          <p:cNvSpPr/>
          <p:nvPr/>
        </p:nvSpPr>
        <p:spPr>
          <a:xfrm>
            <a:off x="8119872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3-dot"/>
          <p:cNvSpPr/>
          <p:nvPr/>
        </p:nvSpPr>
        <p:spPr>
          <a:xfrm>
            <a:off x="8321040" y="1545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4232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qu'on attend de vous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Implémenter dans la stack de my.mips.mu, avec les mêmes règles et les mêmes tests de recette.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règles pour toute l'équipe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1124712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 serveur décide : aucune règle de contrôle ne vit seulement dans l'interface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règle métier = une configuration ou un test, jamais une valeur codée en dur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fonctionnalité est terminée quand ses tests de recette passent sur des données réelles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 cible : deux interfaces, un socle commun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UTILISATEURS</a:t>
            </a:r>
            <a:endParaRPr lang="en-US" sz="1100" dirty="0"/>
          </a:p>
        </p:txBody>
      </p:sp>
      <p:sp>
        <p:nvSpPr>
          <p:cNvPr id="4" name="UTILISATEURS0"/>
          <p:cNvSpPr/>
          <p:nvPr/>
        </p:nvSpPr>
        <p:spPr>
          <a:xfrm>
            <a:off x="457200" y="155448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5448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Personnel MIPS (admin, finance)</a:t>
            </a:r>
            <a:endParaRPr lang="en-US" sz="1300" dirty="0"/>
          </a:p>
        </p:txBody>
      </p:sp>
      <p:sp>
        <p:nvSpPr>
          <p:cNvPr id="6" name="UTILISATEURS1"/>
          <p:cNvSpPr/>
          <p:nvPr/>
        </p:nvSpPr>
        <p:spPr>
          <a:xfrm>
            <a:off x="457200" y="242316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42316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et prospects</a:t>
            </a:r>
            <a:endParaRPr lang="en-US" sz="1300" dirty="0"/>
          </a:p>
        </p:txBody>
      </p:sp>
      <p:sp>
        <p:nvSpPr>
          <p:cNvPr id="8" name="UTILISATEURS2"/>
          <p:cNvSpPr/>
          <p:nvPr/>
        </p:nvSpPr>
        <p:spPr>
          <a:xfrm>
            <a:off x="457200" y="329184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29184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Tâches planifiées (relances, imports)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INTERFACES</a:t>
            </a:r>
            <a:endParaRPr lang="en-US" sz="1100" dirty="0"/>
          </a:p>
        </p:txBody>
      </p:sp>
      <p:sp>
        <p:nvSpPr>
          <p:cNvPr id="11" name="INTERFACES0"/>
          <p:cNvSpPr/>
          <p:nvPr/>
        </p:nvSpPr>
        <p:spPr>
          <a:xfrm>
            <a:off x="320040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4612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Back-office (session personnel)</a:t>
            </a:r>
            <a:endParaRPr lang="en-US" sz="1300" dirty="0"/>
          </a:p>
        </p:txBody>
      </p:sp>
      <p:sp>
        <p:nvSpPr>
          <p:cNvPr id="13" name="INTERFACES1"/>
          <p:cNvSpPr/>
          <p:nvPr/>
        </p:nvSpPr>
        <p:spPr>
          <a:xfrm>
            <a:off x="320040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Portail marchand (session séparée, sous-domaine dédié)</a:t>
            </a:r>
            <a:endParaRPr lang="en-US" sz="1300" dirty="0"/>
          </a:p>
        </p:txBody>
      </p:sp>
      <p:sp>
        <p:nvSpPr>
          <p:cNvPr id="15" name="INTERFACES2"/>
          <p:cNvSpPr/>
          <p:nvPr/>
        </p:nvSpPr>
        <p:spPr>
          <a:xfrm>
            <a:off x="320040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Commandes en ligne de commande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 MÉTIER</a:t>
            </a:r>
            <a:endParaRPr lang="en-US" sz="1100" dirty="0"/>
          </a:p>
        </p:txBody>
      </p:sp>
      <p:sp>
        <p:nvSpPr>
          <p:cNvPr id="18" name="MODULES MÉTIER0"/>
          <p:cNvSpPr/>
          <p:nvPr/>
        </p:nvSpPr>
        <p:spPr>
          <a:xfrm>
            <a:off x="621792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Reporting · Facturation</a:t>
            </a:r>
            <a:endParaRPr lang="en-US" sz="1300" dirty="0"/>
          </a:p>
        </p:txBody>
      </p:sp>
      <p:sp>
        <p:nvSpPr>
          <p:cNvPr id="20" name="MODULES MÉTIER1"/>
          <p:cNvSpPr/>
          <p:nvPr/>
        </p:nvSpPr>
        <p:spPr>
          <a:xfrm>
            <a:off x="621792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· Onboarding KYC</a:t>
            </a:r>
            <a:endParaRPr lang="en-US" sz="1300" dirty="0"/>
          </a:p>
        </p:txBody>
      </p:sp>
      <p:sp>
        <p:nvSpPr>
          <p:cNvPr id="22" name="MODULES MÉTIER2"/>
          <p:cNvSpPr/>
          <p:nvPr/>
        </p:nvSpPr>
        <p:spPr>
          <a:xfrm>
            <a:off x="621792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Rapprochement acquéreur</a:t>
            </a:r>
            <a:endParaRPr lang="en-US" sz="1300" dirty="0"/>
          </a:p>
        </p:txBody>
      </p:sp>
      <p:sp>
        <p:nvSpPr>
          <p:cNvPr id="24" name="MODULES MÉTIER3"/>
          <p:cNvSpPr/>
          <p:nvPr/>
        </p:nvSpPr>
        <p:spPr>
          <a:xfrm>
            <a:off x="6217920" y="416052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416052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Trust (seulement en modèle B)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SOCLE ET SERVICES</a:t>
            </a:r>
            <a:endParaRPr lang="en-US" sz="1100" dirty="0"/>
          </a:p>
        </p:txBody>
      </p:sp>
      <p:sp>
        <p:nvSpPr>
          <p:cNvPr id="27" name="SOCLE ET SERVICES0"/>
          <p:cNvSpPr/>
          <p:nvPr/>
        </p:nvSpPr>
        <p:spPr>
          <a:xfrm>
            <a:off x="9235440" y="155448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81160" y="155448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Auth + 2FA, rôles</a:t>
            </a:r>
            <a:endParaRPr lang="en-US" sz="1300" dirty="0"/>
          </a:p>
        </p:txBody>
      </p:sp>
      <p:sp>
        <p:nvSpPr>
          <p:cNvPr id="29" name="SOCLE ET SERVICES1"/>
          <p:cNvSpPr/>
          <p:nvPr/>
        </p:nvSpPr>
        <p:spPr>
          <a:xfrm>
            <a:off x="9235440" y="242316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81160" y="242316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Journal d'audit</a:t>
            </a:r>
            <a:endParaRPr lang="en-US" sz="1300" dirty="0"/>
          </a:p>
        </p:txBody>
      </p:sp>
      <p:sp>
        <p:nvSpPr>
          <p:cNvPr id="31" name="SOCLE ET SERVICES2"/>
          <p:cNvSpPr/>
          <p:nvPr/>
        </p:nvSpPr>
        <p:spPr>
          <a:xfrm>
            <a:off x="9235440" y="329184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329184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Stockage des pièces + antivirus</a:t>
            </a:r>
            <a:endParaRPr lang="en-US" sz="1300" dirty="0"/>
          </a:p>
        </p:txBody>
      </p:sp>
      <p:sp>
        <p:nvSpPr>
          <p:cNvPr id="33" name="SOCLE ET SERVICES3"/>
          <p:cNvSpPr/>
          <p:nvPr/>
        </p:nvSpPr>
        <p:spPr>
          <a:xfrm>
            <a:off x="9235440" y="416052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81160" y="416052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(SMTP)</a:t>
            </a:r>
            <a:endParaRPr lang="en-US" sz="1300" dirty="0"/>
          </a:p>
        </p:txBody>
      </p:sp>
      <p:sp>
        <p:nvSpPr>
          <p:cNvPr id="35" name="SOCLE ET SERVICES4"/>
          <p:cNvSpPr/>
          <p:nvPr/>
        </p:nvSpPr>
        <p:spPr>
          <a:xfrm>
            <a:off x="9235440" y="502920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1160" y="502920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BigQuery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292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7044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88796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Une base de données relationnelle unique ; montants en centimes entiers ; fuseau Indian/Mauritius ; secrets hors du code.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: où en est la référence</a:t>
            </a:r>
            <a:endParaRPr lang="en-US" sz="3000" dirty="0"/>
          </a:p>
        </p:txBody>
      </p:sp>
      <p:graphicFrame>
        <p:nvGraphicFramePr>
          <p:cNvPr id="5" name="modul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210312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Module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Code de référence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Spec dédiée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Avant la production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Socle : auth, 2FA, rôles, audit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src/Auth.php, TwoFactor.php, Audit.php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Reporting mensuel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src/Reporting/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Excel,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la vraie table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src/Billing/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TVA et émetteur à confirmer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Marchands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src/Controllers/Merchants/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src/Onboarding/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Seuils à valider (conformité)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src/Portal/, public/portal/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CGU réelles, antivirus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src/Recon/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un mois réel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Conditions du portail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src/Portal/Terms.php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 (aucun code)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Bloqué : modèle A ou 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Specs dans outputs/dev-handover/ · schéma complet dans sql/schema.sql · paramètres dans config/config.php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Règles d'ingénierie non négociables</a:t>
            </a:r>
            <a:endParaRPr lang="en-US" sz="3000" dirty="0"/>
          </a:p>
        </p:txBody>
      </p:sp>
      <p:sp>
        <p:nvSpPr>
          <p:cNvPr id="3" name="rule0"/>
          <p:cNvSpPr/>
          <p:nvPr/>
        </p:nvSpPr>
        <p:spPr>
          <a:xfrm>
            <a:off x="45720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ule0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Contrôle côté serveur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Droits, double regard, blocages d'approbation : vérifiés par le serveur, testés par l'API.</a:t>
            </a:r>
            <a:endParaRPr lang="en-US" sz="1300" dirty="0"/>
          </a:p>
        </p:txBody>
      </p:sp>
      <p:sp>
        <p:nvSpPr>
          <p:cNvPr id="7" name="rule1"/>
          <p:cNvSpPr/>
          <p:nvPr/>
        </p:nvSpPr>
        <p:spPr>
          <a:xfrm>
            <a:off x="329184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ule1-dot"/>
          <p:cNvSpPr/>
          <p:nvPr/>
        </p:nvSpPr>
        <p:spPr>
          <a:xfrm>
            <a:off x="349300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8620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à l'objet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marchand n'atteint que son dossier ; l'identifiant du dossier ne vient jamais de la requête.</a:t>
            </a:r>
            <a:endParaRPr lang="en-US" sz="1300" dirty="0"/>
          </a:p>
        </p:txBody>
      </p:sp>
      <p:sp>
        <p:nvSpPr>
          <p:cNvPr id="11" name="rule2"/>
          <p:cNvSpPr/>
          <p:nvPr/>
        </p:nvSpPr>
        <p:spPr>
          <a:xfrm>
            <a:off x="612648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ule2-dot"/>
          <p:cNvSpPr/>
          <p:nvPr/>
        </p:nvSpPr>
        <p:spPr>
          <a:xfrm>
            <a:off x="632764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en ajout seul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Toute action est tracée ; une correction est une nouvelle écriture, jamais une modification.</a:t>
            </a:r>
            <a:endParaRPr lang="en-US" sz="1300" dirty="0"/>
          </a:p>
        </p:txBody>
      </p:sp>
      <p:sp>
        <p:nvSpPr>
          <p:cNvPr id="15" name="rule3"/>
          <p:cNvSpPr/>
          <p:nvPr/>
        </p:nvSpPr>
        <p:spPr>
          <a:xfrm>
            <a:off x="896112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ule3-dot"/>
          <p:cNvSpPr/>
          <p:nvPr/>
        </p:nvSpPr>
        <p:spPr>
          <a:xfrm>
            <a:off x="916228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5548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Argent en centimes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Entiers, jamais de flottants ; une devise par calcul, aucune conversion implicite.</a:t>
            </a:r>
            <a:endParaRPr lang="en-US" sz="1300" dirty="0"/>
          </a:p>
        </p:txBody>
      </p:sp>
      <p:sp>
        <p:nvSpPr>
          <p:cNvPr id="19" name="rule4"/>
          <p:cNvSpPr/>
          <p:nvPr/>
        </p:nvSpPr>
        <p:spPr>
          <a:xfrm>
            <a:off x="45720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rule4-dot"/>
          <p:cNvSpPr/>
          <p:nvPr/>
        </p:nvSpPr>
        <p:spPr>
          <a:xfrm>
            <a:off x="65836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Imports idempotents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Empreinte sha256 de chaque fichier ; un mois facturé ne se réimporte pas.</a:t>
            </a:r>
            <a:endParaRPr lang="en-US" sz="1300" dirty="0"/>
          </a:p>
        </p:txBody>
      </p:sp>
      <p:sp>
        <p:nvSpPr>
          <p:cNvPr id="23" name="rule5"/>
          <p:cNvSpPr/>
          <p:nvPr/>
        </p:nvSpPr>
        <p:spPr>
          <a:xfrm>
            <a:off x="329184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rule5-dot"/>
          <p:cNvSpPr/>
          <p:nvPr/>
        </p:nvSpPr>
        <p:spPr>
          <a:xfrm>
            <a:off x="349300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8620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Configuration, pas code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Seuils, listes de pièces, rôles, délais : en configuration, validés par la conformité.</a:t>
            </a:r>
            <a:endParaRPr lang="en-US" sz="1300" dirty="0"/>
          </a:p>
        </p:txBody>
      </p:sp>
      <p:sp>
        <p:nvSpPr>
          <p:cNvPr id="27" name="rule6"/>
          <p:cNvSpPr/>
          <p:nvPr/>
        </p:nvSpPr>
        <p:spPr>
          <a:xfrm>
            <a:off x="612648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rule6-dot"/>
          <p:cNvSpPr/>
          <p:nvPr/>
        </p:nvSpPr>
        <p:spPr>
          <a:xfrm>
            <a:off x="632764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084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sensibles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0936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N° d'identité et secrets 2FA chiffrés ; jamais dans les logs ni le journal ; pièces hors web.</a:t>
            </a:r>
            <a:endParaRPr lang="en-US" sz="1300" dirty="0"/>
          </a:p>
        </p:txBody>
      </p:sp>
      <p:sp>
        <p:nvSpPr>
          <p:cNvPr id="31" name="rule7"/>
          <p:cNvSpPr/>
          <p:nvPr/>
        </p:nvSpPr>
        <p:spPr>
          <a:xfrm>
            <a:off x="896112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rule7-dot"/>
          <p:cNvSpPr/>
          <p:nvPr/>
        </p:nvSpPr>
        <p:spPr>
          <a:xfrm>
            <a:off x="916228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5548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Sécurité web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CSP stricte sans script en ligne, CSRF, sessions liées au navigateur, blocage des tentatives par compte.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modèle de données en un coup d'œil</a:t>
            </a:r>
            <a:endParaRPr lang="en-US" sz="3000" dirty="0"/>
          </a:p>
        </p:txBody>
      </p:sp>
      <p:sp>
        <p:nvSpPr>
          <p:cNvPr id="3" name="grp0"/>
          <p:cNvSpPr/>
          <p:nvPr/>
        </p:nvSpPr>
        <p:spPr>
          <a:xfrm>
            <a:off x="45720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Identité et sécurité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recovery_codes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login_attempts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audit_log</a:t>
            </a:r>
            <a:endParaRPr lang="en-US" sz="1200" dirty="0"/>
          </a:p>
        </p:txBody>
      </p:sp>
      <p:sp>
        <p:nvSpPr>
          <p:cNvPr id="6" name="grp1"/>
          <p:cNvSpPr/>
          <p:nvPr/>
        </p:nvSpPr>
        <p:spPr>
          <a:xfrm>
            <a:off x="425196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Marchands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merchant_contacts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merchant_identifiers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9" name="grp2"/>
          <p:cNvSpPr/>
          <p:nvPr/>
        </p:nvSpPr>
        <p:spPr>
          <a:xfrm>
            <a:off x="804672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 KYC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onboarding_cases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kyc_parties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kyc_documents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kyc_reminders</a:t>
            </a:r>
            <a:endParaRPr lang="en-US" sz="1200" dirty="0"/>
          </a:p>
        </p:txBody>
      </p:sp>
      <p:sp>
        <p:nvSpPr>
          <p:cNvPr id="12" name="grp3"/>
          <p:cNvSpPr/>
          <p:nvPr/>
        </p:nvSpPr>
        <p:spPr>
          <a:xfrm>
            <a:off x="45720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Portail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portal_tokens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terms_versions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terms_acceptances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prequalifications</a:t>
            </a:r>
            <a:endParaRPr lang="en-US" sz="1200" dirty="0"/>
          </a:p>
        </p:txBody>
      </p:sp>
      <p:sp>
        <p:nvSpPr>
          <p:cNvPr id="15" name="grp4"/>
          <p:cNvSpPr/>
          <p:nvPr/>
        </p:nvSpPr>
        <p:spPr>
          <a:xfrm>
            <a:off x="425196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Transactions et factures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import_periods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fee_rules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invoice_lines</a:t>
            </a:r>
            <a:endParaRPr lang="en-US" sz="1200" dirty="0"/>
          </a:p>
        </p:txBody>
      </p:sp>
      <p:sp>
        <p:nvSpPr>
          <p:cNvPr id="18" name="grp5"/>
          <p:cNvSpPr/>
          <p:nvPr/>
        </p:nvSpPr>
        <p:spPr>
          <a:xfrm>
            <a:off x="804672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recon_runs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recon_lines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recon_daily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recon_claim_items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recon_mid_remaps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Liens clés : merchant → onboarding_cases → kyc_parties / kyc_documents ; prequalifications.case_id relie le portail au dossier.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Cycle de vie d'un dossier d'onboarding</a:t>
            </a:r>
            <a:endParaRPr lang="en-US" sz="3000" dirty="0"/>
          </a:p>
        </p:txBody>
      </p:sp>
      <p:sp>
        <p:nvSpPr>
          <p:cNvPr id="3" name="collecting"/>
          <p:cNvSpPr/>
          <p:nvPr/>
        </p:nvSpPr>
        <p:spPr>
          <a:xfrm>
            <a:off x="91440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5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collecte des pièces</a:t>
            </a:r>
            <a:endParaRPr lang="en-US" sz="1200" dirty="0"/>
          </a:p>
        </p:txBody>
      </p:sp>
      <p:sp>
        <p:nvSpPr>
          <p:cNvPr id="6" name="under_review"/>
          <p:cNvSpPr/>
          <p:nvPr/>
        </p:nvSpPr>
        <p:spPr>
          <a:xfrm>
            <a:off x="420624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2">
              <a:alpha val="15000"/>
            </a:schemeClr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0624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under_review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revue MIPS</a:t>
            </a:r>
            <a:endParaRPr lang="en-US" sz="1200" dirty="0"/>
          </a:p>
        </p:txBody>
      </p:sp>
      <p:sp>
        <p:nvSpPr>
          <p:cNvPr id="9" name="approved"/>
          <p:cNvSpPr/>
          <p:nvPr/>
        </p:nvSpPr>
        <p:spPr>
          <a:xfrm>
            <a:off x="7680960" y="13716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4">
              <a:alpha val="15000"/>
            </a:schemeClr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18288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2" name="rejected"/>
          <p:cNvSpPr/>
          <p:nvPr/>
        </p:nvSpPr>
        <p:spPr>
          <a:xfrm>
            <a:off x="7680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5" name="on_hold"/>
          <p:cNvSpPr/>
          <p:nvPr/>
        </p:nvSpPr>
        <p:spPr>
          <a:xfrm>
            <a:off x="4206240" y="393192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5">
              <a:alpha val="1500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06240" y="397764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on_hold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438912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attente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10128" y="23774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3310128" y="26060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7432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soumettre / renvoyer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6601968" y="1828800"/>
            <a:ext cx="106070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76072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approbateur ≠ analyste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01968" y="2697480"/>
            <a:ext cx="1060704" cy="45720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394960" y="2944368"/>
            <a:ext cx="0" cy="96926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103120" y="2944368"/>
            <a:ext cx="2084832" cy="12618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6601968" y="3383280"/>
            <a:ext cx="1060704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49440" y="4069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refus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Approbation refusée tant qu'un blocage existe (8 contrôles) ; on_hold peut revenir en collecte ou en revue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merchant_submitted_at : le marchand déclare son dossier complet ; remis à vide au retour en collecte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approved et rejected sont définitifs ; une revue périodique ouvre un nouveau dossier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Données transactionnelles : règles figées à respecter</a:t>
            </a:r>
            <a:endParaRPr lang="en-US" sz="3000" dirty="0"/>
          </a:p>
        </p:txBody>
      </p:sp>
      <p:sp>
        <p:nvSpPr>
          <p:cNvPr id="3" name="r1"/>
          <p:cNvSpPr/>
          <p:nvPr/>
        </p:nvSpPr>
        <p:spPr>
          <a:xfrm>
            <a:off x="45720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1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 Commission_Data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Statut SUCCESS seul · tests exclus · remboursements comptés, jamais déduits · TPE via is_for_till_id · rails CARD / QR / PUSH / OTHER · volumes en MUR seulement.</a:t>
            </a:r>
            <a:endParaRPr lang="en-US" sz="1300" dirty="0"/>
          </a:p>
        </p:txBody>
      </p:sp>
      <p:sp>
        <p:nvSpPr>
          <p:cNvPr id="7" name="r2"/>
          <p:cNvSpPr/>
          <p:nvPr/>
        </p:nvSpPr>
        <p:spPr>
          <a:xfrm>
            <a:off x="621792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2-dot"/>
          <p:cNvSpPr/>
          <p:nvPr/>
        </p:nvSpPr>
        <p:spPr>
          <a:xfrm>
            <a:off x="641908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 la plus spécifique gagne · brouillon → émise → payée / annulée · numéro attribué à l'émission, sans trou · mois facturé verrouillé.</a:t>
            </a:r>
            <a:endParaRPr lang="en-US" sz="1300" dirty="0"/>
          </a:p>
        </p:txBody>
      </p:sp>
      <p:sp>
        <p:nvSpPr>
          <p:cNvPr id="11" name="r3"/>
          <p:cNvSpPr/>
          <p:nvPr/>
        </p:nvSpPr>
        <p:spPr>
          <a:xfrm>
            <a:off x="45720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3-dot"/>
          <p:cNvSpPr/>
          <p:nvPr/>
        </p:nvSpPr>
        <p:spPr>
          <a:xfrm>
            <a:off x="658368" y="40142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 acquéreur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Montants en centimes · écart ventilé en 6 catégories jusqu'à zéro · contrôles de périmètre avant tout calcul.</a:t>
            </a:r>
            <a:endParaRPr lang="en-US" sz="1300" dirty="0"/>
          </a:p>
        </p:txBody>
      </p:sp>
      <p:sp>
        <p:nvSpPr>
          <p:cNvPr id="15" name="r4"/>
          <p:cNvSpPr/>
          <p:nvPr/>
        </p:nvSpPr>
        <p:spPr>
          <a:xfrm>
            <a:off x="621792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4-dot"/>
          <p:cNvSpPr/>
          <p:nvPr/>
        </p:nvSpPr>
        <p:spPr>
          <a:xfrm>
            <a:off x="6419088" y="401421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Unité de somme_totale (MUR ou cents) · sémantique des remboursements · TVA sur commissions · fuseau de l'export Excel.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579 vérifications de référence à reprendre</a:t>
            </a:r>
            <a:endParaRPr lang="en-US" sz="3000" dirty="0"/>
          </a:p>
        </p:txBody>
      </p:sp>
      <p:graphicFrame>
        <p:nvGraphicFramePr>
          <p:cNvPr id="10" name="suit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760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731520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Périmètre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Portail marchand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staff_onboarding_test.py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(personnel)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onboarding_approval_test.py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Approbation KYC, double regard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Rapprochement MCB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 (émulateur)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merchants_test.py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Fiches marchands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staff_2fa_required_test.py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2FA obligatoire du personnel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Comptes, 2FA, audit, blocage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how"/>
          <p:cNvSpPr/>
          <p:nvPr/>
        </p:nvSpPr>
        <p:spPr>
          <a:xfrm>
            <a:off x="6492240" y="1234440"/>
            <a:ext cx="52120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how-dot"/>
          <p:cNvSpPr/>
          <p:nvPr/>
        </p:nvSpPr>
        <p:spPr>
          <a:xfrm>
            <a:off x="6693408" y="145389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86600" y="13441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Comment elles tournent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1874520"/>
            <a:ext cx="48920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tests/run_tests.sh : base jetable, SMTP et BigQuery simulés, serveur PHP local. Elles pilotent l'API comme un navigateur.</a:t>
            </a:r>
            <a:endParaRPr lang="en-US" sz="1300" dirty="0"/>
          </a:p>
        </p:txBody>
      </p:sp>
      <p:sp>
        <p:nvSpPr>
          <p:cNvPr id="8" name="keep"/>
          <p:cNvSpPr/>
          <p:nvPr/>
        </p:nvSpPr>
        <p:spPr>
          <a:xfrm>
            <a:off x="6492240" y="2834640"/>
            <a:ext cx="521208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keep-dot"/>
          <p:cNvSpPr/>
          <p:nvPr/>
        </p:nvSpPr>
        <p:spPr>
          <a:xfrm>
            <a:off x="6693408" y="305409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6600" y="29443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se reprend tel quel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3474720"/>
            <a:ext cx="48920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jeux de données fictifs (tests/fixtures/) et les résultats attendus calculés à la main : indépendants de la stack.</a:t>
            </a:r>
            <a:endParaRPr lang="en-US" sz="1300" dirty="0"/>
          </a:p>
        </p:txBody>
      </p:sp>
      <p:sp>
        <p:nvSpPr>
          <p:cNvPr id="12" name="adapt"/>
          <p:cNvSpPr/>
          <p:nvPr/>
        </p:nvSpPr>
        <p:spPr>
          <a:xfrm>
            <a:off x="6492240" y="4572000"/>
            <a:ext cx="5212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adapt-dot"/>
          <p:cNvSpPr/>
          <p:nvPr/>
        </p:nvSpPr>
        <p:spPr>
          <a:xfrm>
            <a:off x="6693408" y="479145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86600" y="468172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s'adapte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5212080"/>
            <a:ext cx="489204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appels HTTP, si l'API de my.mips.mu diffère. Les scénarios et les montants ne changent pas.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5532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Treize erreurs volontaires dans le code ont toutes été détectées. Données uniquement fictives.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pièges trouvés par les tests, à ne pas reproduire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Blocage des connexions par adresse IP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Avant : 5 échecs depuis une IP bloquaient tous les comptes derrière elle, donc tout le bureau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Une connexion réussie effaçait les compteurs de l'IP : un compte valide permettait d'attaquer les autres sans limite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Mot de passe oublié et inscriptions comptaient comme des échecs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Règle à implémenter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794760"/>
            <a:ext cx="54864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 échecs par compte, toutes adresses confondues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 échecs par IP, tous comptes confondus (réglable)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Succès = remise à zéro de ce compte seulement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Quotas séparés pour les emails et les inscriptions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0" cy="475488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188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Sessions après changement de mot de passe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9164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Les sessions sont fermées en comparant l'heure du dernier changement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Stockée à la seconde : deux changements dans la même seconde laissaient survivre une session ouverte entre les deux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Corrigé dans la référence : heure à la microseconde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383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Recommandé pour my.mips.mu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794760"/>
            <a:ext cx="53035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compteur de version de session, incrémenté à chaque changement de mot de passe, de rôle ou de 2FA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Aucune dépendance à l'horloge, plus simple à tester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Troisième piège : un double regard qu'on pouvait contourner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 contrôle comparait l'approbateur à l'analyste du moment seulement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analyste ayant le rôle d'approbateur réassignait le dossier à un collègue, puis l'approuvait ou le rejetait lui-même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Trouvé par onboarding_approval_test.py, pas par la relecture du code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Règle à implémenter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023360"/>
            <a:ext cx="548640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 peut pas trancher : le créateur du dossier, tout analyste qui en a été chargé, quiconque a changé l'attribution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Ces personnes sont enregistrées au fil de l'eau (table onboarding_case_handlers), jamais déduites de l'état courant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Même règle pour l'approbation et pour le rejet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0" cy="475488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188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Leçon pour tous les contrôles à quatre yeux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9164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double regard se vérifie sur l'historique des intervenants, pas sur un seul champ modifiable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Tester le contournement, pas seulement le cas nominal : réassigner, créer, puis décider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appliquer aux futurs contrôles : facturation, rapprochement, reversements du trust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Conséquence d'organisation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023360"/>
            <a:ext cx="53035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 faut au moins un approbateur qui n'instruit pas le dossier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Sans lui, personne ne peut trancher le dossier : c'est voulu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Feuille de route proposée, par paliers</a:t>
            </a:r>
            <a:endParaRPr lang="en-US" sz="3000" dirty="0"/>
          </a:p>
        </p:txBody>
      </p:sp>
      <p:sp>
        <p:nvSpPr>
          <p:cNvPr id="3" name="ph0"/>
          <p:cNvSpPr/>
          <p:nvPr/>
        </p:nvSpPr>
        <p:spPr>
          <a:xfrm>
            <a:off x="45720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6">
              <a:alpha val="1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Décisions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Modèle A ou B · textes BoM · seuils KYC · texte des CGU</a:t>
            </a:r>
            <a:endParaRPr lang="en-US" sz="1200" dirty="0"/>
          </a:p>
        </p:txBody>
      </p:sp>
      <p:sp>
        <p:nvSpPr>
          <p:cNvPr id="7" name="ph1"/>
          <p:cNvSpPr/>
          <p:nvPr/>
        </p:nvSpPr>
        <p:spPr>
          <a:xfrm>
            <a:off x="207568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216712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Socle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6712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Auth, 2FA, rôles, audit, sessions séparées</a:t>
            </a:r>
            <a:endParaRPr lang="en-US" sz="1200" dirty="0"/>
          </a:p>
        </p:txBody>
      </p:sp>
      <p:sp>
        <p:nvSpPr>
          <p:cNvPr id="11" name="ph2"/>
          <p:cNvSpPr/>
          <p:nvPr/>
        </p:nvSpPr>
        <p:spPr>
          <a:xfrm>
            <a:off x="3694176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85616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et facturation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Import, rapport, Excel, BigQuery, factures</a:t>
            </a:r>
            <a:endParaRPr lang="en-US" sz="1200" dirty="0"/>
          </a:p>
        </p:txBody>
      </p:sp>
      <p:sp>
        <p:nvSpPr>
          <p:cNvPr id="15" name="ph3"/>
          <p:cNvSpPr/>
          <p:nvPr/>
        </p:nvSpPr>
        <p:spPr>
          <a:xfrm>
            <a:off x="5312664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04104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404104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 et KYC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04104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Fiche marchand, dossier KYC, double regard, relances</a:t>
            </a:r>
            <a:endParaRPr lang="en-US" sz="1200" dirty="0"/>
          </a:p>
        </p:txBody>
      </p:sp>
      <p:sp>
        <p:nvSpPr>
          <p:cNvPr id="19" name="ph4"/>
          <p:cNvSpPr/>
          <p:nvPr/>
        </p:nvSpPr>
        <p:spPr>
          <a:xfrm>
            <a:off x="6931152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2592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Compte, CGU, préqualification, pièces, antivirus</a:t>
            </a:r>
            <a:endParaRPr lang="en-US" sz="1200" dirty="0"/>
          </a:p>
        </p:txBody>
      </p:sp>
      <p:sp>
        <p:nvSpPr>
          <p:cNvPr id="23" name="ph5"/>
          <p:cNvSpPr/>
          <p:nvPr/>
        </p:nvSpPr>
        <p:spPr>
          <a:xfrm>
            <a:off x="854964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4108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Validé sur un mois déjà réconcilié</a:t>
            </a:r>
            <a:endParaRPr lang="en-US" sz="1200" dirty="0"/>
          </a:p>
        </p:txBody>
      </p:sp>
      <p:sp>
        <p:nvSpPr>
          <p:cNvPr id="27" name="ph6"/>
          <p:cNvSpPr/>
          <p:nvPr/>
        </p:nvSpPr>
        <p:spPr>
          <a:xfrm>
            <a:off x="1016812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5">
              <a:alpha val="12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5956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1025956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Trust (si modèle B)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5956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Grand livre, rapprochement quotidien, reversements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Chaque palier se termine quand ses tests de recette passent sur données réelles. Pas de dates tant que le palier 0 n'est pas tranché.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Définition de « terminé »</a:t>
            </a:r>
            <a:endParaRPr lang="en-US" sz="3000" dirty="0"/>
          </a:p>
        </p:txBody>
      </p:sp>
      <p:sp>
        <p:nvSpPr>
          <p:cNvPr id="3" name="dod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d0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Tests de recette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tests de la spec et les scénarios des suites de référence passent, automatisés.</a:t>
            </a:r>
            <a:endParaRPr lang="en-US" sz="1300" dirty="0"/>
          </a:p>
        </p:txBody>
      </p:sp>
      <p:sp>
        <p:nvSpPr>
          <p:cNvPr id="7" name="dod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d1-dot"/>
          <p:cNvSpPr/>
          <p:nvPr/>
        </p:nvSpPr>
        <p:spPr>
          <a:xfrm>
            <a:off x="445312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réelles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Résultat comparé au processus actuel sur au moins un mois.</a:t>
            </a:r>
            <a:endParaRPr lang="en-US" sz="1300" dirty="0"/>
          </a:p>
        </p:txBody>
      </p:sp>
      <p:sp>
        <p:nvSpPr>
          <p:cNvPr id="11" name="dod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d2-dot"/>
          <p:cNvSpPr/>
          <p:nvPr/>
        </p:nvSpPr>
        <p:spPr>
          <a:xfrm>
            <a:off x="824788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Revue de sécurité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Accès, double regard, données sensibles, fichiers : vérifiés par un pair.</a:t>
            </a:r>
            <a:endParaRPr lang="en-US" sz="1300" dirty="0"/>
          </a:p>
        </p:txBody>
      </p:sp>
      <p:sp>
        <p:nvSpPr>
          <p:cNvPr id="15" name="dod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d3-dot"/>
          <p:cNvSpPr/>
          <p:nvPr/>
        </p:nvSpPr>
        <p:spPr>
          <a:xfrm>
            <a:off x="65836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 validée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 et listes signés par la conformité ou la finance.</a:t>
            </a:r>
            <a:endParaRPr lang="en-US" sz="1300" dirty="0"/>
          </a:p>
        </p:txBody>
      </p:sp>
      <p:sp>
        <p:nvSpPr>
          <p:cNvPr id="19" name="dod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d4-dot"/>
          <p:cNvSpPr/>
          <p:nvPr/>
        </p:nvSpPr>
        <p:spPr>
          <a:xfrm>
            <a:off x="445312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complet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Chaque action du module apparaît dans le journal d'audit.</a:t>
            </a:r>
            <a:endParaRPr lang="en-US" sz="1300" dirty="0"/>
          </a:p>
        </p:txBody>
      </p:sp>
      <p:sp>
        <p:nvSpPr>
          <p:cNvPr id="23" name="dod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d5-dot"/>
          <p:cNvSpPr/>
          <p:nvPr/>
        </p:nvSpPr>
        <p:spPr>
          <a:xfrm>
            <a:off x="824788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4108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Documentation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Spec à jour, paramètres décrits, procédure d'exploitation.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 dont l'équipe dépend</a:t>
            </a:r>
            <a:endParaRPr lang="en-US" sz="3000" dirty="0"/>
          </a:p>
        </p:txBody>
      </p:sp>
      <p:sp>
        <p:nvSpPr>
          <p:cNvPr id="3" name="dep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DIRECTION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de flux de fonds A ou B</a:t>
            </a:r>
            <a:endParaRPr lang="en-US" sz="1600" dirty="0"/>
          </a:p>
        </p:txBody>
      </p:sp>
      <p:sp>
        <p:nvSpPr>
          <p:cNvPr id="6" name="dep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Exigences BoM de cantonnement</a:t>
            </a:r>
            <a:endParaRPr lang="en-US" sz="1600" dirty="0"/>
          </a:p>
        </p:txBody>
      </p:sp>
      <p:sp>
        <p:nvSpPr>
          <p:cNvPr id="9" name="dep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KYC, seuils, formulation PEP</a:t>
            </a:r>
            <a:endParaRPr lang="en-US" sz="1600" dirty="0"/>
          </a:p>
        </p:txBody>
      </p:sp>
      <p:sp>
        <p:nvSpPr>
          <p:cNvPr id="12" name="dep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p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Unité des montants, remboursements, TVA</a:t>
            </a:r>
            <a:endParaRPr lang="en-US" sz="1600" dirty="0"/>
          </a:p>
        </p:txBody>
      </p:sp>
      <p:sp>
        <p:nvSpPr>
          <p:cNvPr id="18" name="dep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p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OPS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Antivirus, SMTP, sauvegardes, HTTPS</a:t>
            </a:r>
            <a:endParaRPr lang="en-US" sz="1600" dirty="0"/>
          </a:p>
        </p:txBody>
      </p:sp>
      <p:sp>
        <p:nvSpPr>
          <p:cNvPr id="24" name="dep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DATA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BigQuery de production</a:t>
            </a:r>
            <a:endParaRPr lang="en-US" sz="1600" dirty="0"/>
          </a:p>
        </p:txBody>
      </p:sp>
      <p:sp>
        <p:nvSpPr>
          <p:cNvPr id="27" name="dep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 mois MCB déjà réconcilié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paliers 1 à 3 peuvent démarrer sans attendre ces réponses ; le palier 6 en dépend entièrement.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Dev Vision">
  <a:themeElements>
    <a:clrScheme name="MIPS Dev Vision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Dev Vis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my.mips.mu — vision technique</dc:title>
  <dc:subject>PptxGenJS Presentation</dc:subject>
  <dc:creator>MIPS</dc:creator>
  <cp:lastModifiedBy>MIPS</cp:lastModifiedBy>
  <cp:revision>1</cp:revision>
  <dcterms:created xsi:type="dcterms:W3CDTF">2026-10-30T14:15:29Z</dcterms:created>
  <dcterms:modified xsi:type="dcterms:W3CDTF">2026-10-30T14:15:29Z</dcterms:modified>
</cp:coreProperties>
</file>