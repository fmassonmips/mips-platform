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" id="{5ce0aebd-660b-b7bd-1d5b-910a5781330a}">
          <p14:sldIdLst>
            <p14:sldId id="256"/>
            <p14:sldId id="257"/>
          </p14:sldIdLst>
        </p14:section>
        <p14:section name="Architecture" id="{23a56049-eacc-d4da-de76-09fb838b3c37}">
          <p14:sldIdLst>
            <p14:sldId id="258"/>
            <p14:sldId id="259"/>
            <p14:sldId id="260"/>
            <p14:sldId id="261"/>
          </p14:sldIdLst>
        </p14:section>
        <p14:section name="Parcours et données" id="{e1ef4a2a-04a5-2568-9522-9f1697515b59}">
          <p14:sldIdLst>
            <p14:sldId id="262"/>
            <p14:sldId id="263"/>
          </p14:sldIdLst>
        </p14:section>
        <p14:section name="Tests et sécurité" id="{57103887-53ed-d5bf-52fd-5625dec412cc}">
          <p14:sldIdLst>
            <p14:sldId id="264"/>
            <p14:sldId id="265"/>
            <p14:sldId id="266"/>
            <p14:sldId id="267"/>
          </p14:sldIdLst>
        </p14:section>
        <p14:section name="Feuille de route" id="{bf463683-0764-8924-1598-8b81de92aa3b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prototype sert de spécification exécutable. On ne le déploie pas tel quel : on reprend ses règles, ses tests et son modèle de données dans my.mips.mu.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portail sur un sous-domaine dédié isole les cookies. Le module trust n'est pas prévu : le modèle A (passerelle, aucun fonds détenu) a été retenu le 31 octobre ; il ne serait construit que si SPIN encaissait un jour pour le compte des marchands (modèle 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reporting de référence reproduit exactement analyze.py sur les mêmes fichiers : c'est le test de non-régression à reprendre.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tests prouvent que le code applique les règles figées, pas que ces règles sont les bonnes : unité de somme_totale, remboursements et TVA restent à confirmer par la finance. staff_2fa_required_test.py active la règle « 2FA obligatoire pour admin et finance » le temps de la suite (désactivée ailleurs pour que les autres suites se connectent par mot de passe). antivirus_clamav_test.py fait tourner le vrai moteur ClamAV avec sa propre signature de test (EICAR) : voir la diapositive Antivirus pour la raison et la configuration de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corrections sont dans la PR #10, avec leurs tests dans admin_test.py. Le compteur de version est une recommandation pour my.mips.mu ; la référence garde l'horodatage pour ne pas changer son schéma.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dans la PR #10 (Kyc::hasHandled, onboarding_case_handlers). Sur une base existante, la table est remplie avec le créateur et l'analyste actuel de chaque dossier ; les réassignations passées ne peuvent pas être reconstituées.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S04d (dossier BoM) a été recapturée avec cette configuration et les signatures officielles : chaque pièce affiche « antivirus OK », soit « aucune signature connue détectée ». Le refus d'une pièce infectée est prouvé par antivirus_clamav_test.py, pas montré à l'écran.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onze suites du prototype (590 vérifications, tests/ dans le dépôt) servent de base : chaque palier reprend les scénarios et les montants attendus de ses suites.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my.mips.mu — vision technique pour l'équipe de développement MIPS · usage interne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my.mips.mu — vision technique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Du prototype de référence à la plateforme en production, pour l'équipe de développement MIPS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Référence : dépôt fmassonmips/mips-platform, PR #10 · octobre 2026 · usage interne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cap : reprendre les règles du prototype, pas son code</a:t>
            </a:r>
            <a:endParaRPr lang="en-US" sz="3000" dirty="0"/>
          </a:p>
        </p:txBody>
      </p:sp>
      <p:sp>
        <p:nvSpPr>
          <p:cNvPr id="3" name="c1"/>
          <p:cNvSpPr/>
          <p:nvPr/>
        </p:nvSpPr>
        <p:spPr>
          <a:xfrm>
            <a:off x="457200" y="132588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c1-dot"/>
          <p:cNvSpPr/>
          <p:nvPr/>
        </p:nvSpPr>
        <p:spPr>
          <a:xfrm>
            <a:off x="658368" y="1545336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435608"/>
            <a:ext cx="28803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 que le prototype apporte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329184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 règles métier figées et testées, un modèle de données, des écrans validés et six specs détaillées.</a:t>
            </a:r>
            <a:endParaRPr lang="en-US" sz="1300" dirty="0"/>
          </a:p>
        </p:txBody>
      </p:sp>
      <p:sp>
        <p:nvSpPr>
          <p:cNvPr id="7" name="c2"/>
          <p:cNvSpPr/>
          <p:nvPr/>
        </p:nvSpPr>
        <p:spPr>
          <a:xfrm>
            <a:off x="4288536" y="132588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c2-dot"/>
          <p:cNvSpPr/>
          <p:nvPr/>
        </p:nvSpPr>
        <p:spPr>
          <a:xfrm>
            <a:off x="4489704" y="1545336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82896" y="1435608"/>
            <a:ext cx="28803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 qu'il n'est pas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71416" y="1965960"/>
            <a:ext cx="329184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système déployable : PHP sans framework, testé sur données fictives, jamais en production.</a:t>
            </a:r>
            <a:endParaRPr lang="en-US" sz="1300" dirty="0"/>
          </a:p>
        </p:txBody>
      </p:sp>
      <p:sp>
        <p:nvSpPr>
          <p:cNvPr id="11" name="c3"/>
          <p:cNvSpPr/>
          <p:nvPr/>
        </p:nvSpPr>
        <p:spPr>
          <a:xfrm>
            <a:off x="8119872" y="132588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c3-dot"/>
          <p:cNvSpPr/>
          <p:nvPr/>
        </p:nvSpPr>
        <p:spPr>
          <a:xfrm>
            <a:off x="8321040" y="154533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14232" y="1435608"/>
            <a:ext cx="28803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 qu'on attend de vous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1965960"/>
            <a:ext cx="329184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Implémenter dans la stack de my.mips.mu, avec les mêmes règles et les mêmes tests de recette.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règles pour toute l'équipe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43400"/>
            <a:ext cx="112471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serveur décide : aucune règle de contrôle ne vit seulement dans l'interface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Une règle métier = une configuration ou un test, jamais une valeur codée en dur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Une fonctionnalité est terminée quand ses tests de recette passent sur des données réelles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 cible : deux interfaces, un socle commun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UTILISATEURS</a:t>
            </a:r>
            <a:endParaRPr lang="en-US" sz="1100" dirty="0"/>
          </a:p>
        </p:txBody>
      </p:sp>
      <p:sp>
        <p:nvSpPr>
          <p:cNvPr id="4" name="UTILISATEURS0"/>
          <p:cNvSpPr/>
          <p:nvPr/>
        </p:nvSpPr>
        <p:spPr>
          <a:xfrm>
            <a:off x="457200" y="1554480"/>
            <a:ext cx="23774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54480"/>
            <a:ext cx="228600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Personnel MIPS (admin, finance)</a:t>
            </a:r>
            <a:endParaRPr lang="en-US" sz="1300" dirty="0"/>
          </a:p>
        </p:txBody>
      </p:sp>
      <p:sp>
        <p:nvSpPr>
          <p:cNvPr id="6" name="UTILISATEURS1"/>
          <p:cNvSpPr/>
          <p:nvPr/>
        </p:nvSpPr>
        <p:spPr>
          <a:xfrm>
            <a:off x="457200" y="2423160"/>
            <a:ext cx="23774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423160"/>
            <a:ext cx="228600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Marchands et prospects</a:t>
            </a:r>
            <a:endParaRPr lang="en-US" sz="1300" dirty="0"/>
          </a:p>
        </p:txBody>
      </p:sp>
      <p:sp>
        <p:nvSpPr>
          <p:cNvPr id="8" name="UTILISATEURS2"/>
          <p:cNvSpPr/>
          <p:nvPr/>
        </p:nvSpPr>
        <p:spPr>
          <a:xfrm>
            <a:off x="457200" y="3291840"/>
            <a:ext cx="23774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3291840"/>
            <a:ext cx="228600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Tâches planifiées (relances, imports)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INTERFACES</a:t>
            </a:r>
            <a:endParaRPr lang="en-US" sz="1100" dirty="0"/>
          </a:p>
        </p:txBody>
      </p:sp>
      <p:sp>
        <p:nvSpPr>
          <p:cNvPr id="11" name="INTERFACES0"/>
          <p:cNvSpPr/>
          <p:nvPr/>
        </p:nvSpPr>
        <p:spPr>
          <a:xfrm>
            <a:off x="3200400" y="155448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1554480"/>
            <a:ext cx="256032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Back-office (session personnel)</a:t>
            </a:r>
            <a:endParaRPr lang="en-US" sz="1300" dirty="0"/>
          </a:p>
        </p:txBody>
      </p:sp>
      <p:sp>
        <p:nvSpPr>
          <p:cNvPr id="13" name="INTERFACES1"/>
          <p:cNvSpPr/>
          <p:nvPr/>
        </p:nvSpPr>
        <p:spPr>
          <a:xfrm>
            <a:off x="3200400" y="242316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46120" y="2423160"/>
            <a:ext cx="256032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Portail marchand (session séparée, sous-domaine dédié)</a:t>
            </a:r>
            <a:endParaRPr lang="en-US" sz="1300" dirty="0"/>
          </a:p>
        </p:txBody>
      </p:sp>
      <p:sp>
        <p:nvSpPr>
          <p:cNvPr id="15" name="INTERFACES2"/>
          <p:cNvSpPr/>
          <p:nvPr/>
        </p:nvSpPr>
        <p:spPr>
          <a:xfrm>
            <a:off x="3200400" y="329184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3291840"/>
            <a:ext cx="256032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Commandes en ligne de commande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MODULES MÉTIER</a:t>
            </a:r>
            <a:endParaRPr lang="en-US" sz="1100" dirty="0"/>
          </a:p>
        </p:txBody>
      </p:sp>
      <p:sp>
        <p:nvSpPr>
          <p:cNvPr id="18" name="MODULES MÉTIER0"/>
          <p:cNvSpPr/>
          <p:nvPr/>
        </p:nvSpPr>
        <p:spPr>
          <a:xfrm>
            <a:off x="6217920" y="155448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1554480"/>
            <a:ext cx="256032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Reporting · Facturation</a:t>
            </a:r>
            <a:endParaRPr lang="en-US" sz="1300" dirty="0"/>
          </a:p>
        </p:txBody>
      </p:sp>
      <p:sp>
        <p:nvSpPr>
          <p:cNvPr id="20" name="MODULES MÉTIER1"/>
          <p:cNvSpPr/>
          <p:nvPr/>
        </p:nvSpPr>
        <p:spPr>
          <a:xfrm>
            <a:off x="6217920" y="242316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2423160"/>
            <a:ext cx="256032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Marchands · Onboarding KYC</a:t>
            </a:r>
            <a:endParaRPr lang="en-US" sz="1300" dirty="0"/>
          </a:p>
        </p:txBody>
      </p:sp>
      <p:sp>
        <p:nvSpPr>
          <p:cNvPr id="22" name="MODULES MÉTIER2"/>
          <p:cNvSpPr/>
          <p:nvPr/>
        </p:nvSpPr>
        <p:spPr>
          <a:xfrm>
            <a:off x="6217920" y="329184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3291840"/>
            <a:ext cx="256032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Rapprochement acquéreur</a:t>
            </a:r>
            <a:endParaRPr lang="en-US" sz="1300" dirty="0"/>
          </a:p>
        </p:txBody>
      </p:sp>
      <p:sp>
        <p:nvSpPr>
          <p:cNvPr id="24" name="MODULES MÉTIER3"/>
          <p:cNvSpPr/>
          <p:nvPr/>
        </p:nvSpPr>
        <p:spPr>
          <a:xfrm>
            <a:off x="6217920" y="416052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4160520"/>
            <a:ext cx="256032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Trust (seulement en modèle B)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SOCLE ET SERVICES</a:t>
            </a:r>
            <a:endParaRPr lang="en-US" sz="1100" dirty="0"/>
          </a:p>
        </p:txBody>
      </p:sp>
      <p:sp>
        <p:nvSpPr>
          <p:cNvPr id="27" name="SOCLE ET SERVICES0"/>
          <p:cNvSpPr/>
          <p:nvPr/>
        </p:nvSpPr>
        <p:spPr>
          <a:xfrm>
            <a:off x="9235440" y="1554480"/>
            <a:ext cx="2468880" cy="713232"/>
          </a:xfrm>
          <a:prstGeom prst="roundRect">
            <a:avLst>
              <a:gd name="adj" fmla="val 10256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81160" y="1554480"/>
            <a:ext cx="23774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Auth + 2FA, rôles</a:t>
            </a:r>
            <a:endParaRPr lang="en-US" sz="1300" dirty="0"/>
          </a:p>
        </p:txBody>
      </p:sp>
      <p:sp>
        <p:nvSpPr>
          <p:cNvPr id="29" name="SOCLE ET SERVICES1"/>
          <p:cNvSpPr/>
          <p:nvPr/>
        </p:nvSpPr>
        <p:spPr>
          <a:xfrm>
            <a:off x="9235440" y="2423160"/>
            <a:ext cx="2468880" cy="713232"/>
          </a:xfrm>
          <a:prstGeom prst="roundRect">
            <a:avLst>
              <a:gd name="adj" fmla="val 10256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81160" y="2423160"/>
            <a:ext cx="23774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Journal d'audit</a:t>
            </a:r>
            <a:endParaRPr lang="en-US" sz="1300" dirty="0"/>
          </a:p>
        </p:txBody>
      </p:sp>
      <p:sp>
        <p:nvSpPr>
          <p:cNvPr id="31" name="SOCLE ET SERVICES2"/>
          <p:cNvSpPr/>
          <p:nvPr/>
        </p:nvSpPr>
        <p:spPr>
          <a:xfrm>
            <a:off x="9235440" y="3291840"/>
            <a:ext cx="2468880" cy="713232"/>
          </a:xfrm>
          <a:prstGeom prst="roundRect">
            <a:avLst>
              <a:gd name="adj" fmla="val 10256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81160" y="3291840"/>
            <a:ext cx="23774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Stockage des pièces + antivirus</a:t>
            </a:r>
            <a:endParaRPr lang="en-US" sz="1300" dirty="0"/>
          </a:p>
        </p:txBody>
      </p:sp>
      <p:sp>
        <p:nvSpPr>
          <p:cNvPr id="33" name="SOCLE ET SERVICES3"/>
          <p:cNvSpPr/>
          <p:nvPr/>
        </p:nvSpPr>
        <p:spPr>
          <a:xfrm>
            <a:off x="9235440" y="4160520"/>
            <a:ext cx="2468880" cy="713232"/>
          </a:xfrm>
          <a:prstGeom prst="roundRect">
            <a:avLst>
              <a:gd name="adj" fmla="val 10256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81160" y="4160520"/>
            <a:ext cx="23774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Email (SMTP)</a:t>
            </a:r>
            <a:endParaRPr lang="en-US" sz="1300" dirty="0"/>
          </a:p>
        </p:txBody>
      </p:sp>
      <p:sp>
        <p:nvSpPr>
          <p:cNvPr id="35" name="SOCLE ET SERVICES4"/>
          <p:cNvSpPr/>
          <p:nvPr/>
        </p:nvSpPr>
        <p:spPr>
          <a:xfrm>
            <a:off x="9235440" y="5029200"/>
            <a:ext cx="2468880" cy="713232"/>
          </a:xfrm>
          <a:prstGeom prst="roundRect">
            <a:avLst>
              <a:gd name="adj" fmla="val 10256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81160" y="5029200"/>
            <a:ext cx="237744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BigQuery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852928" y="1920240"/>
            <a:ext cx="32918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870448" y="1920240"/>
            <a:ext cx="32918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887968" y="1920240"/>
            <a:ext cx="32918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Une base de données relationnelle unique ; montants en centimes entiers ; fuseau Indian/Mauritius ; secrets hors du code.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Neuf modules : où en est la référence</a:t>
            </a:r>
            <a:endParaRPr lang="en-US" sz="3000" dirty="0"/>
          </a:p>
        </p:txBody>
      </p:sp>
      <p:graphicFrame>
        <p:nvGraphicFramePr>
          <p:cNvPr id="5" name="modu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210312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Module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Code de référence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Spec dédiée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Avant la production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Socle : auth, 2FA, rôles, audit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src/Auth.php, TwoFactor.php, Audit.php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Prêt à reprendre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Reporting mensuel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src/Reporting/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Excel, BigQuery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Valider sur la vraie table BigQuery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Facturation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src/Billing/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TVA et émetteur à confirmer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Marchands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src/Controllers/Merchants/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Prêt à reprendre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Onboarding KYC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src/Onboarding/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Onboarding KYC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Seuils à valider (conformité)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Portail marchand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src/Portal/, public/portal/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Portail marchand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CGU réelles, antivirus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Rapprochement MCB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src/Recon/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Rapprochement MCB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Valider sur un mois réel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Conditions du portail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src/Portal/Terms.php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Portail marchand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Prêt à reprendre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Réconciliation trust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 (aucun code)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Réconciliation trust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Bloqué : ne pas développer (modèle A retenu)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Specs dans outputs/dev-handover/ · schéma complet dans sql/schema.sql · paramètres dans config/config.php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Règles d'ingénierie non négociables</a:t>
            </a:r>
            <a:endParaRPr lang="en-US" sz="3000" dirty="0"/>
          </a:p>
        </p:txBody>
      </p:sp>
      <p:sp>
        <p:nvSpPr>
          <p:cNvPr id="3" name="rule0"/>
          <p:cNvSpPr/>
          <p:nvPr/>
        </p:nvSpPr>
        <p:spPr>
          <a:xfrm>
            <a:off x="45720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rule0-dot"/>
          <p:cNvSpPr/>
          <p:nvPr/>
        </p:nvSpPr>
        <p:spPr>
          <a:xfrm>
            <a:off x="658368" y="149961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Contrôle côté serveur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3317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Droits, double regard, blocages d'approbation : vérifiés par le serveur, testés par l'API.</a:t>
            </a:r>
            <a:endParaRPr lang="en-US" sz="1300" dirty="0"/>
          </a:p>
        </p:txBody>
      </p:sp>
      <p:sp>
        <p:nvSpPr>
          <p:cNvPr id="7" name="rule1"/>
          <p:cNvSpPr/>
          <p:nvPr/>
        </p:nvSpPr>
        <p:spPr>
          <a:xfrm>
            <a:off x="329184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rule1-dot"/>
          <p:cNvSpPr/>
          <p:nvPr/>
        </p:nvSpPr>
        <p:spPr>
          <a:xfrm>
            <a:off x="3493008" y="149961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Accès à l'objet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3317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marchand n'atteint que son dossier ; l'identifiant du dossier ne vient jamais de la requête.</a:t>
            </a:r>
            <a:endParaRPr lang="en-US" sz="1300" dirty="0"/>
          </a:p>
        </p:txBody>
      </p:sp>
      <p:sp>
        <p:nvSpPr>
          <p:cNvPr id="11" name="rule2"/>
          <p:cNvSpPr/>
          <p:nvPr/>
        </p:nvSpPr>
        <p:spPr>
          <a:xfrm>
            <a:off x="612648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rule2-dot"/>
          <p:cNvSpPr/>
          <p:nvPr/>
        </p:nvSpPr>
        <p:spPr>
          <a:xfrm>
            <a:off x="6327648" y="149961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Journal en ajout seul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920240"/>
            <a:ext cx="23317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Toute action est tracée ; une correction est une nouvelle écriture, jamais une modification.</a:t>
            </a:r>
            <a:endParaRPr lang="en-US" sz="1300" dirty="0"/>
          </a:p>
        </p:txBody>
      </p:sp>
      <p:sp>
        <p:nvSpPr>
          <p:cNvPr id="15" name="rule3"/>
          <p:cNvSpPr/>
          <p:nvPr/>
        </p:nvSpPr>
        <p:spPr>
          <a:xfrm>
            <a:off x="896112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rule3-dot"/>
          <p:cNvSpPr/>
          <p:nvPr/>
        </p:nvSpPr>
        <p:spPr>
          <a:xfrm>
            <a:off x="9162288" y="149961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5480" y="1389888"/>
            <a:ext cx="1920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Argent en centimes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1920240"/>
            <a:ext cx="23317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Entiers, jamais de flottants ; une devise par calcul, aucune conversion implicite.</a:t>
            </a:r>
            <a:endParaRPr lang="en-US" sz="1300" dirty="0"/>
          </a:p>
        </p:txBody>
      </p:sp>
      <p:sp>
        <p:nvSpPr>
          <p:cNvPr id="19" name="rule4"/>
          <p:cNvSpPr/>
          <p:nvPr/>
        </p:nvSpPr>
        <p:spPr>
          <a:xfrm>
            <a:off x="457200" y="361188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rule4-dot"/>
          <p:cNvSpPr/>
          <p:nvPr/>
        </p:nvSpPr>
        <p:spPr>
          <a:xfrm>
            <a:off x="658368" y="383133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3721608"/>
            <a:ext cx="1920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Imports idempotents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251960"/>
            <a:ext cx="23317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Empreinte sha256 de chaque fichier ; un mois facturé ne se réimporte pas.</a:t>
            </a:r>
            <a:endParaRPr lang="en-US" sz="1300" dirty="0"/>
          </a:p>
        </p:txBody>
      </p:sp>
      <p:sp>
        <p:nvSpPr>
          <p:cNvPr id="23" name="rule5"/>
          <p:cNvSpPr/>
          <p:nvPr/>
        </p:nvSpPr>
        <p:spPr>
          <a:xfrm>
            <a:off x="3291840" y="361188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rule5-dot"/>
          <p:cNvSpPr/>
          <p:nvPr/>
        </p:nvSpPr>
        <p:spPr>
          <a:xfrm>
            <a:off x="3493008" y="383133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86200" y="3721608"/>
            <a:ext cx="1920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Configuration, pas code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4251960"/>
            <a:ext cx="23317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Seuils, listes de pièces, rôles, délais : en configuration, validés par la conformité.</a:t>
            </a:r>
            <a:endParaRPr lang="en-US" sz="1300" dirty="0"/>
          </a:p>
        </p:txBody>
      </p:sp>
      <p:sp>
        <p:nvSpPr>
          <p:cNvPr id="27" name="rule6"/>
          <p:cNvSpPr/>
          <p:nvPr/>
        </p:nvSpPr>
        <p:spPr>
          <a:xfrm>
            <a:off x="6126480" y="361188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8" name="rule6-dot"/>
          <p:cNvSpPr/>
          <p:nvPr/>
        </p:nvSpPr>
        <p:spPr>
          <a:xfrm>
            <a:off x="6327648" y="383133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20840" y="3721608"/>
            <a:ext cx="1920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Données sensibles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4251960"/>
            <a:ext cx="23317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N° d'identité et secrets 2FA chiffrés ; jamais dans les logs ni le journal ; pièces hors web.</a:t>
            </a:r>
            <a:endParaRPr lang="en-US" sz="1300" dirty="0"/>
          </a:p>
        </p:txBody>
      </p:sp>
      <p:sp>
        <p:nvSpPr>
          <p:cNvPr id="31" name="rule7"/>
          <p:cNvSpPr/>
          <p:nvPr/>
        </p:nvSpPr>
        <p:spPr>
          <a:xfrm>
            <a:off x="8961120" y="361188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2" name="rule7-dot"/>
          <p:cNvSpPr/>
          <p:nvPr/>
        </p:nvSpPr>
        <p:spPr>
          <a:xfrm>
            <a:off x="9162288" y="383133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55480" y="3721608"/>
            <a:ext cx="1920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Sécurité web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0" y="4251960"/>
            <a:ext cx="23317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CSP stricte sans script en ligne, CSRF, sessions liées au navigateur, blocage des tentatives par compte.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modèle de données en un coup d'œil</a:t>
            </a:r>
            <a:endParaRPr lang="en-US" sz="3000" dirty="0"/>
          </a:p>
        </p:txBody>
      </p:sp>
      <p:sp>
        <p:nvSpPr>
          <p:cNvPr id="3" name="grp0"/>
          <p:cNvSpPr/>
          <p:nvPr/>
        </p:nvSpPr>
        <p:spPr>
          <a:xfrm>
            <a:off x="457200" y="128016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Identité et sécurité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329184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recovery_codes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password_resets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login_attempts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</a:t>
            </a:r>
            <a:endParaRPr lang="en-US" sz="1200" dirty="0"/>
          </a:p>
        </p:txBody>
      </p:sp>
      <p:sp>
        <p:nvSpPr>
          <p:cNvPr id="6" name="grp1"/>
          <p:cNvSpPr/>
          <p:nvPr/>
        </p:nvSpPr>
        <p:spPr>
          <a:xfrm>
            <a:off x="4251960" y="128016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Marchands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828800"/>
            <a:ext cx="329184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merchant_contacts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merchant_identifiers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</a:t>
            </a:r>
            <a:endParaRPr lang="en-US" sz="1200" dirty="0"/>
          </a:p>
        </p:txBody>
      </p:sp>
      <p:sp>
        <p:nvSpPr>
          <p:cNvPr id="9" name="grp2"/>
          <p:cNvSpPr/>
          <p:nvPr/>
        </p:nvSpPr>
        <p:spPr>
          <a:xfrm>
            <a:off x="8046720" y="128016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Onboarding KYC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1828800"/>
            <a:ext cx="329184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onboarding_cases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kyc_parties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kyc_documents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kyc_reminders</a:t>
            </a:r>
            <a:endParaRPr lang="en-US" sz="1200" dirty="0"/>
          </a:p>
        </p:txBody>
      </p:sp>
      <p:sp>
        <p:nvSpPr>
          <p:cNvPr id="12" name="grp3"/>
          <p:cNvSpPr/>
          <p:nvPr/>
        </p:nvSpPr>
        <p:spPr>
          <a:xfrm>
            <a:off x="457200" y="365760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749040"/>
            <a:ext cx="3291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Portail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206240"/>
            <a:ext cx="329184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portal_users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portal_tokens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terms_versions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terms_acceptances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prequalifications</a:t>
            </a:r>
            <a:endParaRPr lang="en-US" sz="1200" dirty="0"/>
          </a:p>
        </p:txBody>
      </p:sp>
      <p:sp>
        <p:nvSpPr>
          <p:cNvPr id="15" name="grp4"/>
          <p:cNvSpPr/>
          <p:nvPr/>
        </p:nvSpPr>
        <p:spPr>
          <a:xfrm>
            <a:off x="4251960" y="365760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3749040"/>
            <a:ext cx="3291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Transactions et factures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4206240"/>
            <a:ext cx="329184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import_periods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fee_rules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invoice_lines</a:t>
            </a:r>
            <a:endParaRPr lang="en-US" sz="1200" dirty="0"/>
          </a:p>
        </p:txBody>
      </p:sp>
      <p:sp>
        <p:nvSpPr>
          <p:cNvPr id="18" name="grp5"/>
          <p:cNvSpPr/>
          <p:nvPr/>
        </p:nvSpPr>
        <p:spPr>
          <a:xfrm>
            <a:off x="8046720" y="365760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3749040"/>
            <a:ext cx="3291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Rapprochement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4206240"/>
            <a:ext cx="329184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recon_runs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recon_lines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recon_daily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recon_claim_items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recon_mid_remaps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Liens clés : merchant → onboarding_cases → kyc_parties / kyc_documents ; prequalifications.case_id relie le portail au dossier.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Cycle de vie d'un dossier d'onboarding</a:t>
            </a:r>
            <a:endParaRPr lang="en-US" sz="3000" dirty="0"/>
          </a:p>
        </p:txBody>
      </p:sp>
      <p:sp>
        <p:nvSpPr>
          <p:cNvPr id="3" name="collecting"/>
          <p:cNvSpPr/>
          <p:nvPr/>
        </p:nvSpPr>
        <p:spPr>
          <a:xfrm>
            <a:off x="914400" y="201168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collecte des pièces</a:t>
            </a:r>
            <a:endParaRPr lang="en-US" sz="1200" dirty="0"/>
          </a:p>
        </p:txBody>
      </p:sp>
      <p:sp>
        <p:nvSpPr>
          <p:cNvPr id="6" name="under_review"/>
          <p:cNvSpPr/>
          <p:nvPr/>
        </p:nvSpPr>
        <p:spPr>
          <a:xfrm>
            <a:off x="4206240" y="201168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under_review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revue MIPS</a:t>
            </a:r>
            <a:endParaRPr lang="en-US" sz="1200" dirty="0"/>
          </a:p>
        </p:txBody>
      </p:sp>
      <p:sp>
        <p:nvSpPr>
          <p:cNvPr id="9" name="approved"/>
          <p:cNvSpPr/>
          <p:nvPr/>
        </p:nvSpPr>
        <p:spPr>
          <a:xfrm>
            <a:off x="7680960" y="137160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accent4">
              <a:alpha val="15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définitif</a:t>
            </a:r>
            <a:endParaRPr lang="en-US" sz="1200" dirty="0"/>
          </a:p>
        </p:txBody>
      </p:sp>
      <p:sp>
        <p:nvSpPr>
          <p:cNvPr id="12" name="rejected"/>
          <p:cNvSpPr/>
          <p:nvPr/>
        </p:nvSpPr>
        <p:spPr>
          <a:xfrm>
            <a:off x="7680960" y="274320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accent6">
              <a:alpha val="15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définitif</a:t>
            </a:r>
            <a:endParaRPr lang="en-US" sz="1200" dirty="0"/>
          </a:p>
        </p:txBody>
      </p:sp>
      <p:sp>
        <p:nvSpPr>
          <p:cNvPr id="15" name="on_hold"/>
          <p:cNvSpPr/>
          <p:nvPr/>
        </p:nvSpPr>
        <p:spPr>
          <a:xfrm>
            <a:off x="4206240" y="393192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accent5">
              <a:alpha val="15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on_hold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 attente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10128" y="2377440"/>
            <a:ext cx="87782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3310128" y="2606040"/>
            <a:ext cx="87782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74320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soumettre / renvoyer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V="1">
            <a:off x="6601968" y="1828800"/>
            <a:ext cx="1060704" cy="411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57784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approbateur jamais intervenu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01968" y="2697480"/>
            <a:ext cx="1060704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94960" y="2944368"/>
            <a:ext cx="0" cy="96926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103120" y="2944368"/>
            <a:ext cx="2084832" cy="126187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6601968" y="3383280"/>
            <a:ext cx="1060704" cy="10058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949440" y="4069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refus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Approbation refusée tant qu'un blocage existe (8 contrôles) ; approbation et rejet interdits à qui a créé, instruit ou réassigné le dossier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merchant_submitted_at : le marchand déclare son dossier complet ; remis à vide au retour en collecte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approved et rejected sont définitifs ; une revue périodique ouvre un nouveau dossier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Données transactionnelles : règles figées à respecter</a:t>
            </a:r>
            <a:endParaRPr lang="en-US" sz="3000" dirty="0"/>
          </a:p>
        </p:txBody>
      </p:sp>
      <p:sp>
        <p:nvSpPr>
          <p:cNvPr id="3" name="r1"/>
          <p:cNvSpPr/>
          <p:nvPr/>
        </p:nvSpPr>
        <p:spPr>
          <a:xfrm>
            <a:off x="457200" y="1280160"/>
            <a:ext cx="54864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r1-dot"/>
          <p:cNvSpPr/>
          <p:nvPr/>
        </p:nvSpPr>
        <p:spPr>
          <a:xfrm>
            <a:off x="658368" y="149961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389888"/>
            <a:ext cx="4754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Import Commission_Data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516636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Statut SUCCESS seul · tests exclus · remboursements comptés, jamais déduits · TPE via is_for_till_id · rails CARD / QR / PUSH / OTHER · volumes en MUR seulement.</a:t>
            </a:r>
            <a:endParaRPr lang="en-US" sz="1300" dirty="0"/>
          </a:p>
        </p:txBody>
      </p:sp>
      <p:sp>
        <p:nvSpPr>
          <p:cNvPr id="7" name="r2"/>
          <p:cNvSpPr/>
          <p:nvPr/>
        </p:nvSpPr>
        <p:spPr>
          <a:xfrm>
            <a:off x="6217920" y="1280160"/>
            <a:ext cx="54864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r2-dot"/>
          <p:cNvSpPr/>
          <p:nvPr/>
        </p:nvSpPr>
        <p:spPr>
          <a:xfrm>
            <a:off x="6419088" y="149961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389888"/>
            <a:ext cx="4754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Facturation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920240"/>
            <a:ext cx="516636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Règle la plus spécifique gagne · brouillon → émise → payée / annulée · numéro attribué à l'émission, sans trou · mois facturé verrouillé.</a:t>
            </a:r>
            <a:endParaRPr lang="en-US" sz="1300" dirty="0"/>
          </a:p>
        </p:txBody>
      </p:sp>
      <p:sp>
        <p:nvSpPr>
          <p:cNvPr id="11" name="r3"/>
          <p:cNvSpPr/>
          <p:nvPr/>
        </p:nvSpPr>
        <p:spPr>
          <a:xfrm>
            <a:off x="457200" y="3794760"/>
            <a:ext cx="54864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r3-dot"/>
          <p:cNvSpPr/>
          <p:nvPr/>
        </p:nvSpPr>
        <p:spPr>
          <a:xfrm>
            <a:off x="658368" y="401421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904488"/>
            <a:ext cx="4754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Rapprochement acquéreur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34840"/>
            <a:ext cx="5166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Montants en centimes · écart ventilé en 6 catégories jusqu'à zéro · contrôles de périmètre avant tout calcul.</a:t>
            </a:r>
            <a:endParaRPr lang="en-US" sz="1300" dirty="0"/>
          </a:p>
        </p:txBody>
      </p:sp>
      <p:sp>
        <p:nvSpPr>
          <p:cNvPr id="15" name="r4"/>
          <p:cNvSpPr/>
          <p:nvPr/>
        </p:nvSpPr>
        <p:spPr>
          <a:xfrm>
            <a:off x="6217920" y="3794760"/>
            <a:ext cx="54864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r4-dot"/>
          <p:cNvSpPr/>
          <p:nvPr/>
        </p:nvSpPr>
        <p:spPr>
          <a:xfrm>
            <a:off x="6419088" y="4014216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3904488"/>
            <a:ext cx="4754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Points ouverts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434840"/>
            <a:ext cx="5166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Unité de somme_totale (MUR ou cents) · sémantique des remboursements · TVA sur commissions · fuseau de l'export Excel.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590 vérifications de référence à reprendre</a:t>
            </a:r>
            <a:endParaRPr lang="en-US" sz="3000" dirty="0"/>
          </a:p>
        </p:txBody>
      </p:sp>
      <p:graphicFrame>
        <p:nvGraphicFramePr>
          <p:cNvPr id="10" name="suit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760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731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Périmètre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portal_test.py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Portail marchand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staff_onboarding_test.py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(personnel)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onboarding_approval_test.py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Approbation KYC, double regard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reporting_test.py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billing_test.py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recon_test.py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Rapprochement MCB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bigquery_test.py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BigQuery (émulateur)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merchants_test.py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Fiches marchands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antivirus_clamav_test.py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Antivirus ClamAV (clamscan, clamd)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staff_2fa_required_test.py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2FA obligatoire du personnel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admin_test.py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Comptes, 2FA, audit, blocage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how"/>
          <p:cNvSpPr/>
          <p:nvPr/>
        </p:nvSpPr>
        <p:spPr>
          <a:xfrm>
            <a:off x="6492240" y="1234440"/>
            <a:ext cx="52120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how-dot"/>
          <p:cNvSpPr/>
          <p:nvPr/>
        </p:nvSpPr>
        <p:spPr>
          <a:xfrm>
            <a:off x="6693408" y="145389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86600" y="1344168"/>
            <a:ext cx="4480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Comment elles tournent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874520"/>
            <a:ext cx="48920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tests/run_tests.sh : base jetable, SMTP et BigQuery simulés, serveur PHP local. Elles pilotent l'API comme un navigateur.</a:t>
            </a:r>
            <a:endParaRPr lang="en-US" sz="1300" dirty="0"/>
          </a:p>
        </p:txBody>
      </p:sp>
      <p:sp>
        <p:nvSpPr>
          <p:cNvPr id="8" name="keep"/>
          <p:cNvSpPr/>
          <p:nvPr/>
        </p:nvSpPr>
        <p:spPr>
          <a:xfrm>
            <a:off x="6492240" y="2834640"/>
            <a:ext cx="52120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keep-dot"/>
          <p:cNvSpPr/>
          <p:nvPr/>
        </p:nvSpPr>
        <p:spPr>
          <a:xfrm>
            <a:off x="6693408" y="3054096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86600" y="2944368"/>
            <a:ext cx="4480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 qui se reprend tel quel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474720"/>
            <a:ext cx="48920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jeux de données fictifs (tests/fixtures/) et les résultats attendus calculés à la main : indépendants de la stack.</a:t>
            </a:r>
            <a:endParaRPr lang="en-US" sz="1300" dirty="0"/>
          </a:p>
        </p:txBody>
      </p:sp>
      <p:sp>
        <p:nvSpPr>
          <p:cNvPr id="12" name="adapt"/>
          <p:cNvSpPr/>
          <p:nvPr/>
        </p:nvSpPr>
        <p:spPr>
          <a:xfrm>
            <a:off x="6492240" y="4572000"/>
            <a:ext cx="52120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adapt-dot"/>
          <p:cNvSpPr/>
          <p:nvPr/>
        </p:nvSpPr>
        <p:spPr>
          <a:xfrm>
            <a:off x="6693408" y="4791456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86600" y="4681728"/>
            <a:ext cx="4480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 qui s'adapte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5212080"/>
            <a:ext cx="4892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appels HTTP, si l'API de my.mips.mu diffère. Les scénarios et les montants ne changent pas.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5532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Quatorze erreurs volontaires dans le code ont toutes été détectées. Données uniquement fictives.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Deux pièges trouvés par les tests, à ne pas reproduire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Blocage des connexions par adresse IP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54864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Avant : 5 échecs depuis une IP bloquaient tous les comptes derrière elle, donc tout le bureau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Une connexion réussie effaçait les compteurs de l'IP : un compte valide permettait d'attaquer les autres sans limite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Mot de passe oublié et inscriptions comptaient comme des échecs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Règle à implémenter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94760"/>
            <a:ext cx="54864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 échecs par compte, toutes adresses confondues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50 échecs par IP, tous comptes confondus (réglable)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Succès = remise à zéro de ce compte seulement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Quotas séparés pour les emails et les inscriptions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234440"/>
            <a:ext cx="0" cy="4754880"/>
          </a:xfrm>
          <a:prstGeom prst="line">
            <a:avLst/>
          </a:prstGeom>
          <a:noFill/>
          <a:ln w="12700">
            <a:solidFill>
              <a:srgbClr val="D5DD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188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Sessions après changement de mot de passe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691640"/>
            <a:ext cx="53035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Les sessions sont fermées en comparant l'heure du dernier changement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Stockée à la seconde : deux changements dans la même seconde laissaient survivre une session ouverte entre les deux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Corrigé dans la référence : heure à la microseconde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Recommandé pour my.mips.mu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794760"/>
            <a:ext cx="53035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 compteur de version de session, incrémenté à chaque changement de mot de passe, de rôle ou de 2FA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Aucune dépendance à l'horloge, plus simple à tester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Troisième piège : un double regard qu'on pouvait contourner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54864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 contrôle comparait l'approbateur à l'analyste du moment seulement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 analyste ayant le rôle d'approbateur réassignait le dossier à un collègue, puis l'approuvait ou le rejetait lui-même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Trouvé par onboarding_approval_test.py, pas par la relecture du code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Règle à implémenter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23360"/>
            <a:ext cx="548640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 peut pas trancher : le créateur du dossier, tout analyste qui en a été chargé, quiconque a changé l'attribution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Ces personnes sont enregistrées au fil de l'eau (table onboarding_case_handlers), jamais déduites de l'état courant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Même règle pour l'approbation et pour le rejet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234440"/>
            <a:ext cx="0" cy="4754880"/>
          </a:xfrm>
          <a:prstGeom prst="line">
            <a:avLst/>
          </a:prstGeom>
          <a:noFill/>
          <a:ln w="12700">
            <a:solidFill>
              <a:srgbClr val="D5DD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188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Leçon pour tous les contrôles à quatre yeux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691640"/>
            <a:ext cx="53035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 double regard se vérifie sur l'historique des intervenants, pas sur un seul champ modifiable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Tester le contournement, pas seulement le cas nominal : réassigner, créer, puis décider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À appliquer aux futurs contrôles : facturation, rapprochement, reversements du trust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Conséquence d'organisation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4023360"/>
            <a:ext cx="53035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Il faut au moins un approbateur qui n'instruit pas le dossier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Sans lui, personne ne peut trancher le dossier : c'est voulu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Antivirus des pièces : ce que les essais avec ClamAV ont appris</a:t>
            </a:r>
            <a:endParaRPr lang="en-US" sz="3000" dirty="0"/>
          </a:p>
        </p:txBody>
      </p:sp>
      <p:sp>
        <p:nvSpPr>
          <p:cNvPr id="3" name="av1"/>
          <p:cNvSpPr/>
          <p:nvPr/>
        </p:nvSpPr>
        <p:spPr>
          <a:xfrm>
            <a:off x="457200" y="1280160"/>
            <a:ext cx="54864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av1-dot"/>
          <p:cNvSpPr/>
          <p:nvPr/>
        </p:nvSpPr>
        <p:spPr>
          <a:xfrm>
            <a:off x="658368" y="1499616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389888"/>
            <a:ext cx="4754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Configuration recommandée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5166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Démon clamd + clamdscan --fdpass --no-summary, antivirus rendu obligatoire. Codes de sortie : 0 sain, 1 infecté, autre = erreur, donc refus du dépôt (fail closed).</a:t>
            </a:r>
            <a:endParaRPr lang="en-US" sz="1300" dirty="0"/>
          </a:p>
        </p:txBody>
      </p:sp>
      <p:sp>
        <p:nvSpPr>
          <p:cNvPr id="7" name="av2"/>
          <p:cNvSpPr/>
          <p:nvPr/>
        </p:nvSpPr>
        <p:spPr>
          <a:xfrm>
            <a:off x="6217920" y="1280160"/>
            <a:ext cx="54864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av2-dot"/>
          <p:cNvSpPr/>
          <p:nvPr/>
        </p:nvSpPr>
        <p:spPr>
          <a:xfrm>
            <a:off x="6419088" y="149961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389888"/>
            <a:ext cx="4754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Temps mesurés (base officielle, 3,6 M signatures)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920240"/>
            <a:ext cx="5166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clamscan : environ 20 s par fichier, la base est rechargée à chaque fois. clamd : moins de 0,1 s, la base est chargée une fois au démarrage.</a:t>
            </a:r>
            <a:endParaRPr lang="en-US" sz="1300" dirty="0"/>
          </a:p>
        </p:txBody>
      </p:sp>
      <p:sp>
        <p:nvSpPr>
          <p:cNvPr id="11" name="av3"/>
          <p:cNvSpPr/>
          <p:nvPr/>
        </p:nvSpPr>
        <p:spPr>
          <a:xfrm>
            <a:off x="457200" y="3611880"/>
            <a:ext cx="54864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av3-dot"/>
          <p:cNvSpPr/>
          <p:nvPr/>
        </p:nvSpPr>
        <p:spPr>
          <a:xfrm>
            <a:off x="658368" y="3831336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721608"/>
            <a:ext cx="4754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Signatures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51960"/>
            <a:ext cx="516636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freshclam à superviser : sans signatures, tous les dépôts sont refusés (testé). Le serveur officiel a refusé l'environnement de test ; le miroir ClamAV de Microsoft (packages.microsoft.com/clamav) a servi, signatures vérifiées par sigtool.</a:t>
            </a:r>
            <a:endParaRPr lang="en-US" sz="1300" dirty="0"/>
          </a:p>
        </p:txBody>
      </p:sp>
      <p:sp>
        <p:nvSpPr>
          <p:cNvPr id="15" name="av4"/>
          <p:cNvSpPr/>
          <p:nvPr/>
        </p:nvSpPr>
        <p:spPr>
          <a:xfrm>
            <a:off x="6217920" y="3611880"/>
            <a:ext cx="54864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av4-dot"/>
          <p:cNvSpPr/>
          <p:nvPr/>
        </p:nvSpPr>
        <p:spPr>
          <a:xfrm>
            <a:off x="6419088" y="3831336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3721608"/>
            <a:ext cx="4754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Piège pour les tests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251960"/>
            <a:ext cx="516636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base officielle ne détecte pas la chaîne EICAR collée à un PDF (EICAR doit être en début de fichier), et un EICAR pur est refusé avant par le contrôle de format. D'où une signature de test dédiée dans la suite.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Feuille de route proposée, par paliers</a:t>
            </a:r>
            <a:endParaRPr lang="en-US" sz="3000" dirty="0"/>
          </a:p>
        </p:txBody>
      </p:sp>
      <p:sp>
        <p:nvSpPr>
          <p:cNvPr id="3" name="ph0"/>
          <p:cNvSpPr/>
          <p:nvPr/>
        </p:nvSpPr>
        <p:spPr>
          <a:xfrm>
            <a:off x="457200" y="1463040"/>
            <a:ext cx="1481328" cy="3566160"/>
          </a:xfrm>
          <a:prstGeom prst="roundRect">
            <a:avLst>
              <a:gd name="adj" fmla="val 4938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280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Décisions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132588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Modèle A retenu ; à vérifier : licence, wallets · seuils KYC · texte des CGU</a:t>
            </a:r>
            <a:endParaRPr lang="en-US" sz="1200" dirty="0"/>
          </a:p>
        </p:txBody>
      </p:sp>
      <p:sp>
        <p:nvSpPr>
          <p:cNvPr id="7" name="ph1"/>
          <p:cNvSpPr/>
          <p:nvPr/>
        </p:nvSpPr>
        <p:spPr>
          <a:xfrm>
            <a:off x="2075688" y="1463040"/>
            <a:ext cx="1481328" cy="3566160"/>
          </a:xfrm>
          <a:prstGeom prst="roundRect">
            <a:avLst>
              <a:gd name="adj" fmla="val 4938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67128" y="1554480"/>
            <a:ext cx="1280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167128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Socle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67128" y="3063240"/>
            <a:ext cx="132588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Auth, 2FA, rôles, audit, sessions séparées</a:t>
            </a:r>
            <a:endParaRPr lang="en-US" sz="1200" dirty="0"/>
          </a:p>
        </p:txBody>
      </p:sp>
      <p:sp>
        <p:nvSpPr>
          <p:cNvPr id="11" name="ph2"/>
          <p:cNvSpPr/>
          <p:nvPr/>
        </p:nvSpPr>
        <p:spPr>
          <a:xfrm>
            <a:off x="3694176" y="1463040"/>
            <a:ext cx="1481328" cy="3566160"/>
          </a:xfrm>
          <a:prstGeom prst="roundRect">
            <a:avLst>
              <a:gd name="adj" fmla="val 4938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85616" y="1554480"/>
            <a:ext cx="1280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785616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Reporting et facturation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85616" y="3063240"/>
            <a:ext cx="132588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Import, rapport, Excel, BigQuery, factures</a:t>
            </a:r>
            <a:endParaRPr lang="en-US" sz="1200" dirty="0"/>
          </a:p>
        </p:txBody>
      </p:sp>
      <p:sp>
        <p:nvSpPr>
          <p:cNvPr id="15" name="ph3"/>
          <p:cNvSpPr/>
          <p:nvPr/>
        </p:nvSpPr>
        <p:spPr>
          <a:xfrm>
            <a:off x="5312664" y="1463040"/>
            <a:ext cx="1481328" cy="3566160"/>
          </a:xfrm>
          <a:prstGeom prst="roundRect">
            <a:avLst>
              <a:gd name="adj" fmla="val 4938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04104" y="1554480"/>
            <a:ext cx="1280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5404104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Marchands et KYC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04104" y="3063240"/>
            <a:ext cx="132588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Fiche marchand, dossier KYC, double regard, relances</a:t>
            </a:r>
            <a:endParaRPr lang="en-US" sz="1200" dirty="0"/>
          </a:p>
        </p:txBody>
      </p:sp>
      <p:sp>
        <p:nvSpPr>
          <p:cNvPr id="19" name="ph4"/>
          <p:cNvSpPr/>
          <p:nvPr/>
        </p:nvSpPr>
        <p:spPr>
          <a:xfrm>
            <a:off x="6931152" y="1463040"/>
            <a:ext cx="1481328" cy="3566160"/>
          </a:xfrm>
          <a:prstGeom prst="roundRect">
            <a:avLst>
              <a:gd name="adj" fmla="val 4938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22592" y="1554480"/>
            <a:ext cx="1280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7022592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Portail marchand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3063240"/>
            <a:ext cx="132588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Compte, CGU, préqualification, pièces, antivirus</a:t>
            </a:r>
            <a:endParaRPr lang="en-US" sz="1200" dirty="0"/>
          </a:p>
        </p:txBody>
      </p:sp>
      <p:sp>
        <p:nvSpPr>
          <p:cNvPr id="23" name="ph5"/>
          <p:cNvSpPr/>
          <p:nvPr/>
        </p:nvSpPr>
        <p:spPr>
          <a:xfrm>
            <a:off x="8549640" y="1463040"/>
            <a:ext cx="1481328" cy="3566160"/>
          </a:xfrm>
          <a:prstGeom prst="roundRect">
            <a:avLst>
              <a:gd name="adj" fmla="val 4938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41080" y="1554480"/>
            <a:ext cx="1280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Rapprochement MCB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3063240"/>
            <a:ext cx="132588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Validé sur un mois déjà réconcilié</a:t>
            </a:r>
            <a:endParaRPr lang="en-US" sz="1200" dirty="0"/>
          </a:p>
        </p:txBody>
      </p:sp>
      <p:sp>
        <p:nvSpPr>
          <p:cNvPr id="27" name="ph6"/>
          <p:cNvSpPr/>
          <p:nvPr/>
        </p:nvSpPr>
        <p:spPr>
          <a:xfrm>
            <a:off x="10168128" y="1463040"/>
            <a:ext cx="1481328" cy="3566160"/>
          </a:xfrm>
          <a:prstGeom prst="roundRect">
            <a:avLst>
              <a:gd name="adj" fmla="val 4938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59568" y="1554480"/>
            <a:ext cx="1280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10259568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Trust (hors plan)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59568" y="3063240"/>
            <a:ext cx="132588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Seulement si le modèle B est un jour retenu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Chaque palier se termine quand ses tests de recette passent sur données réelles. Pas de dates tant que le palier 0 n'est pas tranché.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Définition de « terminé »</a:t>
            </a:r>
            <a:endParaRPr lang="en-US" sz="3000" dirty="0"/>
          </a:p>
        </p:txBody>
      </p:sp>
      <p:sp>
        <p:nvSpPr>
          <p:cNvPr id="3" name="dod0"/>
          <p:cNvSpPr/>
          <p:nvPr/>
        </p:nvSpPr>
        <p:spPr>
          <a:xfrm>
            <a:off x="457200" y="132588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dod0-dot"/>
          <p:cNvSpPr/>
          <p:nvPr/>
        </p:nvSpPr>
        <p:spPr>
          <a:xfrm>
            <a:off x="658368" y="1545336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435608"/>
            <a:ext cx="28346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Tests de recette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324612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tests de la spec et les scénarios des suites de référence passent, automatisés.</a:t>
            </a:r>
            <a:endParaRPr lang="en-US" sz="1300" dirty="0"/>
          </a:p>
        </p:txBody>
      </p:sp>
      <p:sp>
        <p:nvSpPr>
          <p:cNvPr id="7" name="dod1"/>
          <p:cNvSpPr/>
          <p:nvPr/>
        </p:nvSpPr>
        <p:spPr>
          <a:xfrm>
            <a:off x="4251960" y="132588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dod1-dot"/>
          <p:cNvSpPr/>
          <p:nvPr/>
        </p:nvSpPr>
        <p:spPr>
          <a:xfrm>
            <a:off x="4453128" y="1545336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435608"/>
            <a:ext cx="28346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Données réelles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965960"/>
            <a:ext cx="324612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Résultat comparé au processus actuel sur au moins un mois.</a:t>
            </a:r>
            <a:endParaRPr lang="en-US" sz="1300" dirty="0"/>
          </a:p>
        </p:txBody>
      </p:sp>
      <p:sp>
        <p:nvSpPr>
          <p:cNvPr id="11" name="dod2"/>
          <p:cNvSpPr/>
          <p:nvPr/>
        </p:nvSpPr>
        <p:spPr>
          <a:xfrm>
            <a:off x="8046720" y="132588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dod2-dot"/>
          <p:cNvSpPr/>
          <p:nvPr/>
        </p:nvSpPr>
        <p:spPr>
          <a:xfrm>
            <a:off x="8247888" y="1545336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41080" y="1435608"/>
            <a:ext cx="28346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Revue de sécurité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965960"/>
            <a:ext cx="324612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Accès, double regard, données sensibles, fichiers : vérifiés par un pair.</a:t>
            </a:r>
            <a:endParaRPr lang="en-US" sz="1300" dirty="0"/>
          </a:p>
        </p:txBody>
      </p:sp>
      <p:sp>
        <p:nvSpPr>
          <p:cNvPr id="15" name="dod3"/>
          <p:cNvSpPr/>
          <p:nvPr/>
        </p:nvSpPr>
        <p:spPr>
          <a:xfrm>
            <a:off x="457200" y="356616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dod3-dot"/>
          <p:cNvSpPr/>
          <p:nvPr/>
        </p:nvSpPr>
        <p:spPr>
          <a:xfrm>
            <a:off x="658368" y="3785616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675888"/>
            <a:ext cx="28346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Configuration validée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06240"/>
            <a:ext cx="324612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Seuils et listes signés par la conformité ou la finance.</a:t>
            </a:r>
            <a:endParaRPr lang="en-US" sz="1300" dirty="0"/>
          </a:p>
        </p:txBody>
      </p:sp>
      <p:sp>
        <p:nvSpPr>
          <p:cNvPr id="19" name="dod4"/>
          <p:cNvSpPr/>
          <p:nvPr/>
        </p:nvSpPr>
        <p:spPr>
          <a:xfrm>
            <a:off x="4251960" y="356616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dod4-dot"/>
          <p:cNvSpPr/>
          <p:nvPr/>
        </p:nvSpPr>
        <p:spPr>
          <a:xfrm>
            <a:off x="4453128" y="3785616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675888"/>
            <a:ext cx="28346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Journal complet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206240"/>
            <a:ext cx="324612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Chaque action du module apparaît dans le journal d'audit.</a:t>
            </a:r>
            <a:endParaRPr lang="en-US" sz="1300" dirty="0"/>
          </a:p>
        </p:txBody>
      </p:sp>
      <p:sp>
        <p:nvSpPr>
          <p:cNvPr id="23" name="dod5"/>
          <p:cNvSpPr/>
          <p:nvPr/>
        </p:nvSpPr>
        <p:spPr>
          <a:xfrm>
            <a:off x="8046720" y="356616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dod5-dot"/>
          <p:cNvSpPr/>
          <p:nvPr/>
        </p:nvSpPr>
        <p:spPr>
          <a:xfrm>
            <a:off x="8247888" y="3785616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41080" y="3675888"/>
            <a:ext cx="28346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Documentation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206240"/>
            <a:ext cx="324612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Spec à jour, paramètres décrits, procédure d'exploitation.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 dont l'équipe dépend</a:t>
            </a:r>
            <a:endParaRPr lang="en-US" sz="3000" dirty="0"/>
          </a:p>
        </p:txBody>
      </p:sp>
      <p:sp>
        <p:nvSpPr>
          <p:cNvPr id="3" name="dep0"/>
          <p:cNvSpPr/>
          <p:nvPr/>
        </p:nvSpPr>
        <p:spPr>
          <a:xfrm>
            <a:off x="457200" y="132588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35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CONFORMITÉ · BLOQUANT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Licence compatible avec le modèle A</a:t>
            </a:r>
            <a:endParaRPr lang="en-US" sz="1600" dirty="0"/>
          </a:p>
        </p:txBody>
      </p:sp>
      <p:sp>
        <p:nvSpPr>
          <p:cNvPr id="6" name="dep1"/>
          <p:cNvSpPr/>
          <p:nvPr/>
        </p:nvSpPr>
        <p:spPr>
          <a:xfrm>
            <a:off x="4251960" y="132588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0" y="1435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CONFORMITÉ · BLOQUANT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Exigences BoM de cantonnement</a:t>
            </a:r>
            <a:endParaRPr lang="en-US" sz="1600" dirty="0"/>
          </a:p>
        </p:txBody>
      </p:sp>
      <p:sp>
        <p:nvSpPr>
          <p:cNvPr id="9" name="dep2"/>
          <p:cNvSpPr/>
          <p:nvPr/>
        </p:nvSpPr>
        <p:spPr>
          <a:xfrm>
            <a:off x="8046720" y="132588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435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CONFORMITÉ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Checklist KYC, seuils, formulation PEP</a:t>
            </a:r>
            <a:endParaRPr lang="en-US" sz="1600" dirty="0"/>
          </a:p>
        </p:txBody>
      </p:sp>
      <p:sp>
        <p:nvSpPr>
          <p:cNvPr id="12" name="dep3"/>
          <p:cNvSpPr/>
          <p:nvPr/>
        </p:nvSpPr>
        <p:spPr>
          <a:xfrm>
            <a:off x="457200" y="278892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JURIDIQUE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46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Texte des conditions du portail</a:t>
            </a:r>
            <a:endParaRPr lang="en-US" sz="1600" dirty="0"/>
          </a:p>
        </p:txBody>
      </p:sp>
      <p:sp>
        <p:nvSpPr>
          <p:cNvPr id="15" name="dep4"/>
          <p:cNvSpPr/>
          <p:nvPr/>
        </p:nvSpPr>
        <p:spPr>
          <a:xfrm>
            <a:off x="4251960" y="278892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FINANCE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3246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Unité des montants, remboursements, TVA</a:t>
            </a:r>
            <a:endParaRPr lang="en-US" sz="1600" dirty="0"/>
          </a:p>
        </p:txBody>
      </p:sp>
      <p:sp>
        <p:nvSpPr>
          <p:cNvPr id="18" name="dep5"/>
          <p:cNvSpPr/>
          <p:nvPr/>
        </p:nvSpPr>
        <p:spPr>
          <a:xfrm>
            <a:off x="8046720" y="278892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FINANCE · BLOQUANT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3246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Flux des wallets et virements</a:t>
            </a:r>
            <a:endParaRPr lang="en-US" sz="1600" dirty="0"/>
          </a:p>
        </p:txBody>
      </p:sp>
      <p:sp>
        <p:nvSpPr>
          <p:cNvPr id="21" name="dep6"/>
          <p:cNvSpPr/>
          <p:nvPr/>
        </p:nvSpPr>
        <p:spPr>
          <a:xfrm>
            <a:off x="457200" y="425196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4361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IT / OPS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709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Antivirus, SMTP, sauvegardes, HTTPS</a:t>
            </a:r>
            <a:endParaRPr lang="en-US" sz="1600" dirty="0"/>
          </a:p>
        </p:txBody>
      </p:sp>
      <p:sp>
        <p:nvSpPr>
          <p:cNvPr id="24" name="dep7"/>
          <p:cNvSpPr/>
          <p:nvPr/>
        </p:nvSpPr>
        <p:spPr>
          <a:xfrm>
            <a:off x="4251960" y="425196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89120" y="4361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IT / DATA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709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Accès BigQuery de production</a:t>
            </a:r>
            <a:endParaRPr lang="en-US" sz="1600" dirty="0"/>
          </a:p>
        </p:txBody>
      </p:sp>
      <p:sp>
        <p:nvSpPr>
          <p:cNvPr id="27" name="dep8"/>
          <p:cNvSpPr/>
          <p:nvPr/>
        </p:nvSpPr>
        <p:spPr>
          <a:xfrm>
            <a:off x="8046720" y="4251960"/>
            <a:ext cx="3566160" cy="1234440"/>
          </a:xfrm>
          <a:prstGeom prst="roundRect">
            <a:avLst>
              <a:gd name="adj" fmla="val 592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83880" y="4361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FINANCE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709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mois MCB déjà réconcilié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Les paliers 1 à 5 peuvent démarrer sans attendre ces réponses ; le palier 6 est hors plan tant que le modèle A est retenu.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PS Dev Vision">
  <a:themeElements>
    <a:clrScheme name="MIPS Dev Vision">
      <a:dk1>
        <a:srgbClr val="12233A"/>
      </a:dk1>
      <a:lt1>
        <a:srgbClr val="FFFFFF"/>
      </a:lt1>
      <a:dk2>
        <a:srgbClr val="5A6B80"/>
      </a:dk2>
      <a:lt2>
        <a:srgbClr val="F1F4F7"/>
      </a:lt2>
      <a:accent1>
        <a:srgbClr val="0F7C8C"/>
      </a:accent1>
      <a:accent2>
        <a:srgbClr val="2F5FA7"/>
      </a:accent2>
      <a:accent3>
        <a:srgbClr val="9A5B13"/>
      </a:accent3>
      <a:accent4>
        <a:srgbClr val="1D7A46"/>
      </a:accent4>
      <a:accent5>
        <a:srgbClr val="B07D00"/>
      </a:accent5>
      <a:accent6>
        <a:srgbClr val="B3261E"/>
      </a:accent6>
      <a:hlink>
        <a:srgbClr val="0F7C8C"/>
      </a:hlink>
      <a:folHlink>
        <a:srgbClr val="5A6B80"/>
      </a:folHlink>
    </a:clrScheme>
    <a:fontScheme name="MIPS Dev Vi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my.mips.mu — vision technique</dc:title>
  <dc:subject>PptxGenJS Presentation</dc:subject>
  <dc:creator>MIPS</dc:creator>
  <cp:lastModifiedBy>MIPS</cp:lastModifiedBy>
  <cp:revision>1</cp:revision>
  <dcterms:created xsi:type="dcterms:W3CDTF">2026-10-31T07:25:16Z</dcterms:created>
  <dcterms:modified xsi:type="dcterms:W3CDTF">2026-10-31T07:25:16Z</dcterms:modified>
</cp:coreProperties>
</file>